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0691813" cy="7559675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6BA355-9BFE-4072-9100-47830F7F6DDD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246188" y="1143000"/>
            <a:ext cx="43656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1D38EB-BFB6-461D-B6FB-CC97FB2578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3714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封面按用户指定，只展示姓名、作品集身份、网站说明和真实超链接，不放具体作品图片。个人主页：</a:t>
            </a:r>
            <a:r>
              <a:rPr lang="en-US"/>
              <a:t>https://zhoushangli.github.io/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1D38EB-BFB6-461D-B6FB-CC97FB2578E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3251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章节与个人</a:t>
            </a:r>
            <a:r>
              <a:rPr lang="en-US" altLang="zh-CN"/>
              <a:t>/</a:t>
            </a:r>
            <a:r>
              <a:rPr lang="zh-CN" altLang="en-US"/>
              <a:t>团队顺序依据用户指定。项目顺序依据 </a:t>
            </a:r>
            <a:r>
              <a:rPr lang="en-US"/>
              <a:t>C:\Work\zhoushangli.github.io\src\data\projects.ts </a:t>
            </a:r>
            <a:r>
              <a:rPr lang="zh-CN" altLang="en-US"/>
              <a:t>及</a:t>
            </a:r>
            <a:r>
              <a:rPr lang="en-US"/>
              <a:t>src\pages\projects\index.astro</a:t>
            </a:r>
            <a:r>
              <a:rPr lang="zh-CN" altLang="en-US"/>
              <a:t>按</a:t>
            </a:r>
            <a:r>
              <a:rPr lang="en-US"/>
              <a:t>personal、team</a:t>
            </a:r>
            <a:r>
              <a:rPr lang="zh-CN" altLang="en-US"/>
              <a:t>分类后的原始顺序。各条目和页码设置内部跳转，完整版本目标为第</a:t>
            </a:r>
            <a:r>
              <a:rPr lang="en-US" altLang="zh-CN"/>
              <a:t>3</a:t>
            </a:r>
            <a:r>
              <a:rPr lang="zh-CN" altLang="en-US"/>
              <a:t>至</a:t>
            </a:r>
            <a:r>
              <a:rPr lang="en-US" altLang="zh-CN"/>
              <a:t>10</a:t>
            </a:r>
            <a:r>
              <a:rPr lang="zh-CN" altLang="en-US"/>
              <a:t>页。</a:t>
            </a:r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1D38EB-BFB6-461D-B6FB-CC97FB2578E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571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来源：</a:t>
            </a:r>
            <a:r>
              <a:rPr lang="en-US"/>
              <a:t>C:\Work\zhoushangli.github.io\src\pages\index.astro、src\components\ExperienceTimeline.astro。</a:t>
            </a:r>
            <a:r>
              <a:rPr lang="zh-CN" altLang="en-US"/>
              <a:t>保留预计</a:t>
            </a:r>
            <a:r>
              <a:rPr lang="en-US" altLang="zh-CN"/>
              <a:t>2027</a:t>
            </a:r>
            <a:r>
              <a:rPr lang="zh-CN" altLang="en-US"/>
              <a:t>年</a:t>
            </a:r>
            <a:r>
              <a:rPr lang="en-US" altLang="zh-CN"/>
              <a:t>5</a:t>
            </a:r>
            <a:r>
              <a:rPr lang="zh-CN" altLang="en-US"/>
              <a:t>月毕业表述，不推定已获得学位；实习职责按已发布内容整理。头像为网站原图。</a:t>
            </a:r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1D38EB-BFB6-461D-B6FB-CC97FB2578E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7167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事实与职责来源：</a:t>
            </a:r>
            <a:r>
              <a:rPr lang="en-US"/>
              <a:t>C:\Work\zhoushangli.github.io\src\data\projects.ts，ming-engine</a:t>
            </a:r>
            <a:r>
              <a:rPr lang="zh-CN" altLang="en-US"/>
              <a:t>条目。图片：</a:t>
            </a:r>
            <a:r>
              <a:rPr lang="en-US"/>
              <a:t>src\content\images\ming_engine.png，</a:t>
            </a:r>
            <a:r>
              <a:rPr lang="zh-CN" altLang="en-US"/>
              <a:t>较早开发阶段。</a:t>
            </a:r>
            <a:r>
              <a:rPr lang="en-US"/>
              <a:t>https://zhoushangli.github.io/projects/ming-engine/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1D38EB-BFB6-461D-B6FB-CC97FB2578E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7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来源：</a:t>
            </a:r>
            <a:r>
              <a:rPr lang="en-US"/>
              <a:t>C:\Work\zhoushangli.github.io\src\data\projects.ts，doomenstein</a:t>
            </a:r>
            <a:r>
              <a:rPr lang="zh-CN" altLang="en-US"/>
              <a:t>条目。原图</a:t>
            </a:r>
            <a:r>
              <a:rPr lang="en-US"/>
              <a:t>src\content\images\doomenstein_game.png，</a:t>
            </a:r>
            <a:r>
              <a:rPr lang="zh-CN" altLang="en-US"/>
              <a:t>仅去除系统窗口边框，不修改游戏内容。不将该项目的自研引擎未经证实地等同于</a:t>
            </a:r>
            <a:r>
              <a:rPr lang="en-US"/>
              <a:t>MingEngine。https://zhoushangli.github.io/projects/doomenstein/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1D38EB-BFB6-461D-B6FB-CC97FB2578E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2029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来源：</a:t>
            </a:r>
            <a:r>
              <a:rPr lang="en-US"/>
              <a:t>C:\Work\zhoushangli.github.io\src\data\projects.ts，the-primary-colors</a:t>
            </a:r>
            <a:r>
              <a:rPr lang="zh-CN" altLang="en-US"/>
              <a:t>条目。原图</a:t>
            </a:r>
            <a:r>
              <a:rPr lang="en-US"/>
              <a:t>src\content\images\the_primary_colors.png。30</a:t>
            </a:r>
            <a:r>
              <a:rPr lang="zh-CN" altLang="en-US"/>
              <a:t>个关卡和独立制作范围按网站已发布内容保留。</a:t>
            </a:r>
            <a:r>
              <a:rPr lang="en-US"/>
              <a:t>https://zhoushangli.github.io/projects/the-primary-colors/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1D38EB-BFB6-461D-B6FB-CC97FB2578E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258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来源：</a:t>
            </a:r>
            <a:r>
              <a:rPr lang="en-US"/>
              <a:t>C:\Work\zhoushangli.github.io\src\data\projects.ts，spectrex</a:t>
            </a:r>
            <a:r>
              <a:rPr lang="zh-CN" altLang="en-US"/>
              <a:t>条目。团队整体成果与个人职责分开。约</a:t>
            </a:r>
            <a:r>
              <a:rPr lang="en-US" altLang="zh-CN"/>
              <a:t>10</a:t>
            </a:r>
            <a:r>
              <a:rPr lang="zh-CN" altLang="en-US"/>
              <a:t>小时指本人观察深度试玩的时长，不是测试者数量。分层渲染采用</a:t>
            </a:r>
            <a:r>
              <a:rPr lang="en-US"/>
              <a:t>SubViewport</a:t>
            </a:r>
            <a:r>
              <a:rPr lang="zh-CN" altLang="en-US"/>
              <a:t>与</a:t>
            </a:r>
            <a:r>
              <a:rPr lang="en-US"/>
              <a:t>CanvasItem Shader。https://zhoushangli.github.io/projects/spectrex/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1D38EB-BFB6-461D-B6FB-CC97FB2578E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0930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来源：</a:t>
            </a:r>
            <a:r>
              <a:rPr lang="en-US"/>
              <a:t>C:\Work\zhoushangli.github.io\src\data\projects.ts，hamsterballin</a:t>
            </a:r>
            <a:r>
              <a:rPr lang="zh-CN" altLang="en-US"/>
              <a:t>条目。图片为团队游戏封面，原始</a:t>
            </a:r>
            <a:r>
              <a:rPr lang="en-US" altLang="zh-CN"/>
              <a:t>460</a:t>
            </a:r>
            <a:r>
              <a:rPr lang="en-US"/>
              <a:t>x215，</a:t>
            </a:r>
            <a:r>
              <a:rPr lang="zh-CN" altLang="en-US"/>
              <a:t>未用生成图补造实际游戏画面或性能指标。</a:t>
            </a:r>
            <a:r>
              <a:rPr lang="en-US"/>
              <a:t>https://zhoushangli.github.io/projects/hamsterballin/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1D38EB-BFB6-461D-B6FB-CC97FB2578E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0914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来源：</a:t>
            </a:r>
            <a:r>
              <a:rPr lang="en-US"/>
              <a:t>C:\Work\zhoushangli.github.io\src\content\published\teaching\pico8-2026.zh.md（draft:false）。</a:t>
            </a:r>
            <a:r>
              <a:rPr lang="zh-CN" altLang="en-US"/>
              <a:t>仅整理实际社团培训经历，不加入拟授课程或未经证实的学习成效。</a:t>
            </a:r>
            <a:r>
              <a:rPr lang="en-US"/>
              <a:t>https://zhoushangli.github.io/teaching/pico8-2026/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1D38EB-BFB6-461D-B6FB-CC97FB2578E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2137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来源：</a:t>
            </a:r>
            <a:r>
              <a:rPr lang="en-US"/>
              <a:t>C:\Work\zhoushangli.github.io\src\content\published\teaching\pico8-game-jam.zh.md</a:t>
            </a:r>
            <a:r>
              <a:rPr lang="zh-CN" altLang="en-US"/>
              <a:t>与</a:t>
            </a:r>
            <a:r>
              <a:rPr lang="en-US"/>
              <a:t>src\data\gamejam.ts。</a:t>
            </a:r>
            <a:r>
              <a:rPr lang="zh-CN" altLang="en-US"/>
              <a:t>按博客清单原顺序嵌入全部</a:t>
            </a:r>
            <a:r>
              <a:rPr lang="en-US" altLang="zh-CN"/>
              <a:t>15</a:t>
            </a:r>
            <a:r>
              <a:rPr lang="zh-CN" altLang="en-US"/>
              <a:t>个封面，图像未修改。作品归各自创作者，不冒充本人独立作品。</a:t>
            </a:r>
            <a:r>
              <a:rPr lang="en-US"/>
              <a:t>https://zhoushangli.github.io/teaching/pico8-game-jam/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1D38EB-BFB6-461D-B6FB-CC97FB2578E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2042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46401A-99B6-283E-5A88-F760E84896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6477" y="1237197"/>
            <a:ext cx="8018860" cy="2631887"/>
          </a:xfrm>
        </p:spPr>
        <p:txBody>
          <a:bodyPr anchor="b"/>
          <a:lstStyle>
            <a:lvl1pPr algn="ctr">
              <a:defRPr sz="5262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813849B-F4C6-3A04-4C38-4763F85376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6477" y="3970580"/>
            <a:ext cx="8018860" cy="1825171"/>
          </a:xfrm>
        </p:spPr>
        <p:txBody>
          <a:bodyPr/>
          <a:lstStyle>
            <a:lvl1pPr marL="0" indent="0" algn="ctr">
              <a:buNone/>
              <a:defRPr sz="2105"/>
            </a:lvl1pPr>
            <a:lvl2pPr marL="400964" indent="0" algn="ctr">
              <a:buNone/>
              <a:defRPr sz="1754"/>
            </a:lvl2pPr>
            <a:lvl3pPr marL="801929" indent="0" algn="ctr">
              <a:buNone/>
              <a:defRPr sz="1579"/>
            </a:lvl3pPr>
            <a:lvl4pPr marL="1202893" indent="0" algn="ctr">
              <a:buNone/>
              <a:defRPr sz="1403"/>
            </a:lvl4pPr>
            <a:lvl5pPr marL="1603858" indent="0" algn="ctr">
              <a:buNone/>
              <a:defRPr sz="1403"/>
            </a:lvl5pPr>
            <a:lvl6pPr marL="2004822" indent="0" algn="ctr">
              <a:buNone/>
              <a:defRPr sz="1403"/>
            </a:lvl6pPr>
            <a:lvl7pPr marL="2405786" indent="0" algn="ctr">
              <a:buNone/>
              <a:defRPr sz="1403"/>
            </a:lvl7pPr>
            <a:lvl8pPr marL="2806751" indent="0" algn="ctr">
              <a:buNone/>
              <a:defRPr sz="1403"/>
            </a:lvl8pPr>
            <a:lvl9pPr marL="3207715" indent="0" algn="ctr">
              <a:buNone/>
              <a:defRPr sz="1403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61A16EB-39E7-B408-7D44-0BFDF8B41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1C50A-6572-4A85-BFAD-8382347CADDF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80DD50F-C3CE-0604-C9C8-FE94074FC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CFFE866-E20C-826D-C892-9505A4D0E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EC809-1A34-4B98-92EE-9973A25BA1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5212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84B9E0-FFDE-456E-1967-BA656BDED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0046E07-50F4-ECFC-9DF4-E7A6158BF4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4B08ACF-E032-5455-C495-941B63110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1C50A-6572-4A85-BFAD-8382347CADDF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F3EBA15-7223-55F9-5C89-40D9337CC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74116EB-3936-EDE1-20BC-271FCF5F2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EC809-1A34-4B98-92EE-9973A25BA1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1241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E8E26E-732C-E3A0-65E7-C137856A6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494" y="1884671"/>
            <a:ext cx="9221689" cy="3144614"/>
          </a:xfrm>
        </p:spPr>
        <p:txBody>
          <a:bodyPr anchor="b"/>
          <a:lstStyle>
            <a:lvl1pPr>
              <a:defRPr sz="5262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98C7D8A-E577-7F40-7015-B324A3EDC0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9494" y="5059035"/>
            <a:ext cx="9221689" cy="1653678"/>
          </a:xfrm>
        </p:spPr>
        <p:txBody>
          <a:bodyPr/>
          <a:lstStyle>
            <a:lvl1pPr marL="0" indent="0">
              <a:buNone/>
              <a:defRPr sz="2105">
                <a:solidFill>
                  <a:schemeClr val="tx1">
                    <a:tint val="82000"/>
                  </a:schemeClr>
                </a:solidFill>
              </a:defRPr>
            </a:lvl1pPr>
            <a:lvl2pPr marL="400964" indent="0">
              <a:buNone/>
              <a:defRPr sz="1754">
                <a:solidFill>
                  <a:schemeClr val="tx1">
                    <a:tint val="82000"/>
                  </a:schemeClr>
                </a:solidFill>
              </a:defRPr>
            </a:lvl2pPr>
            <a:lvl3pPr marL="801929" indent="0">
              <a:buNone/>
              <a:defRPr sz="1579">
                <a:solidFill>
                  <a:schemeClr val="tx1">
                    <a:tint val="82000"/>
                  </a:schemeClr>
                </a:solidFill>
              </a:defRPr>
            </a:lvl3pPr>
            <a:lvl4pPr marL="1202893" indent="0">
              <a:buNone/>
              <a:defRPr sz="1403">
                <a:solidFill>
                  <a:schemeClr val="tx1">
                    <a:tint val="82000"/>
                  </a:schemeClr>
                </a:solidFill>
              </a:defRPr>
            </a:lvl4pPr>
            <a:lvl5pPr marL="1603858" indent="0">
              <a:buNone/>
              <a:defRPr sz="1403">
                <a:solidFill>
                  <a:schemeClr val="tx1">
                    <a:tint val="82000"/>
                  </a:schemeClr>
                </a:solidFill>
              </a:defRPr>
            </a:lvl5pPr>
            <a:lvl6pPr marL="2004822" indent="0">
              <a:buNone/>
              <a:defRPr sz="1403">
                <a:solidFill>
                  <a:schemeClr val="tx1">
                    <a:tint val="82000"/>
                  </a:schemeClr>
                </a:solidFill>
              </a:defRPr>
            </a:lvl6pPr>
            <a:lvl7pPr marL="2405786" indent="0">
              <a:buNone/>
              <a:defRPr sz="1403">
                <a:solidFill>
                  <a:schemeClr val="tx1">
                    <a:tint val="82000"/>
                  </a:schemeClr>
                </a:solidFill>
              </a:defRPr>
            </a:lvl7pPr>
            <a:lvl8pPr marL="2806751" indent="0">
              <a:buNone/>
              <a:defRPr sz="1403">
                <a:solidFill>
                  <a:schemeClr val="tx1">
                    <a:tint val="82000"/>
                  </a:schemeClr>
                </a:solidFill>
              </a:defRPr>
            </a:lvl8pPr>
            <a:lvl9pPr marL="3207715" indent="0">
              <a:buNone/>
              <a:defRPr sz="140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F76DE86-075C-3345-B2B2-C6FA1FF80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1C50A-6572-4A85-BFAD-8382347CADDF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95ED4C4-07AE-43D8-E717-DC4D1B1A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5B61037-D3D7-CD29-BF37-86C0E1BB3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EC809-1A34-4B98-92EE-9973A25BA1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6228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DABCB2-D015-5D94-26A2-AB04EC2A8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7675CDA-6730-788D-ED19-9976C6D0BF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35063" y="2012414"/>
            <a:ext cx="4544021" cy="479654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08D8A49-98B2-549F-FB98-DE769950A2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12731" y="2012414"/>
            <a:ext cx="4544021" cy="479654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022656F-3DE8-8BC0-0FF7-3E90C11E8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1C50A-6572-4A85-BFAD-8382347CADDF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8D2EFE0-33C6-101D-E45A-1AC4FE9EC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821F23D-E3B7-CABE-A299-EFFEE0282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EC809-1A34-4B98-92EE-9973A25BA1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000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AD7E1B-EA39-ADD8-2F7F-AB0BAB6F0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456" y="402484"/>
            <a:ext cx="9221689" cy="146118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CC0E098-7EE7-CEB6-5C17-98D9795DD5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6455" y="1853171"/>
            <a:ext cx="4523138" cy="908210"/>
          </a:xfrm>
        </p:spPr>
        <p:txBody>
          <a:bodyPr anchor="b"/>
          <a:lstStyle>
            <a:lvl1pPr marL="0" indent="0">
              <a:buNone/>
              <a:defRPr sz="2105" b="1"/>
            </a:lvl1pPr>
            <a:lvl2pPr marL="400964" indent="0">
              <a:buNone/>
              <a:defRPr sz="1754" b="1"/>
            </a:lvl2pPr>
            <a:lvl3pPr marL="801929" indent="0">
              <a:buNone/>
              <a:defRPr sz="1579" b="1"/>
            </a:lvl3pPr>
            <a:lvl4pPr marL="1202893" indent="0">
              <a:buNone/>
              <a:defRPr sz="1403" b="1"/>
            </a:lvl4pPr>
            <a:lvl5pPr marL="1603858" indent="0">
              <a:buNone/>
              <a:defRPr sz="1403" b="1"/>
            </a:lvl5pPr>
            <a:lvl6pPr marL="2004822" indent="0">
              <a:buNone/>
              <a:defRPr sz="1403" b="1"/>
            </a:lvl6pPr>
            <a:lvl7pPr marL="2405786" indent="0">
              <a:buNone/>
              <a:defRPr sz="1403" b="1"/>
            </a:lvl7pPr>
            <a:lvl8pPr marL="2806751" indent="0">
              <a:buNone/>
              <a:defRPr sz="1403" b="1"/>
            </a:lvl8pPr>
            <a:lvl9pPr marL="3207715" indent="0">
              <a:buNone/>
              <a:defRPr sz="140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39835EC-7DBE-EF24-BB82-3CB269C9D0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36455" y="2761381"/>
            <a:ext cx="4523138" cy="406157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7F99185-2C5A-B596-B6F3-0A88D22CF9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412731" y="1853171"/>
            <a:ext cx="4545413" cy="908210"/>
          </a:xfrm>
        </p:spPr>
        <p:txBody>
          <a:bodyPr anchor="b"/>
          <a:lstStyle>
            <a:lvl1pPr marL="0" indent="0">
              <a:buNone/>
              <a:defRPr sz="2105" b="1"/>
            </a:lvl1pPr>
            <a:lvl2pPr marL="400964" indent="0">
              <a:buNone/>
              <a:defRPr sz="1754" b="1"/>
            </a:lvl2pPr>
            <a:lvl3pPr marL="801929" indent="0">
              <a:buNone/>
              <a:defRPr sz="1579" b="1"/>
            </a:lvl3pPr>
            <a:lvl4pPr marL="1202893" indent="0">
              <a:buNone/>
              <a:defRPr sz="1403" b="1"/>
            </a:lvl4pPr>
            <a:lvl5pPr marL="1603858" indent="0">
              <a:buNone/>
              <a:defRPr sz="1403" b="1"/>
            </a:lvl5pPr>
            <a:lvl6pPr marL="2004822" indent="0">
              <a:buNone/>
              <a:defRPr sz="1403" b="1"/>
            </a:lvl6pPr>
            <a:lvl7pPr marL="2405786" indent="0">
              <a:buNone/>
              <a:defRPr sz="1403" b="1"/>
            </a:lvl7pPr>
            <a:lvl8pPr marL="2806751" indent="0">
              <a:buNone/>
              <a:defRPr sz="1403" b="1"/>
            </a:lvl8pPr>
            <a:lvl9pPr marL="3207715" indent="0">
              <a:buNone/>
              <a:defRPr sz="140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A166ED3-44E5-4A5B-83EF-F7D557E56A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412731" y="2761381"/>
            <a:ext cx="4545413" cy="406157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9DE76A3-C3A8-819F-0CCE-6FD2AE8A4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1C50A-6572-4A85-BFAD-8382347CADDF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80F3EC8-2D10-C8F2-E4DE-7AF3E7E878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019C017-9C7C-965A-8732-75867CF56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EC809-1A34-4B98-92EE-9973A25BA1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418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9C6924-7A85-6E34-79E3-11000ABD0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E865CC9-3F20-043F-5D51-16B4D789B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1C50A-6572-4A85-BFAD-8382347CADDF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3321A0B-3B84-30A7-197C-358E6DFB0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A99946B-288E-4206-2D39-55BCEFDBA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EC809-1A34-4B98-92EE-9973A25BA1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5770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D312F8C-E280-3D18-F24C-4F0F142D8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1C50A-6572-4A85-BFAD-8382347CADDF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472DD30-17D6-2B22-E268-A3ACBC525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8D59D1E-718D-00D7-500F-04CCBD142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EC809-1A34-4B98-92EE-9973A25BA1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9272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9A09CB-771F-4273-E529-49728DC64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455" y="503978"/>
            <a:ext cx="3448388" cy="1763924"/>
          </a:xfrm>
        </p:spPr>
        <p:txBody>
          <a:bodyPr anchor="b"/>
          <a:lstStyle>
            <a:lvl1pPr>
              <a:defRPr sz="2806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C4248EA-E0B1-275B-6712-B493C12DE6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5413" y="1088455"/>
            <a:ext cx="5412730" cy="5372269"/>
          </a:xfrm>
        </p:spPr>
        <p:txBody>
          <a:bodyPr/>
          <a:lstStyle>
            <a:lvl1pPr>
              <a:defRPr sz="2806"/>
            </a:lvl1pPr>
            <a:lvl2pPr>
              <a:defRPr sz="2456"/>
            </a:lvl2pPr>
            <a:lvl3pPr>
              <a:defRPr sz="2105"/>
            </a:lvl3pPr>
            <a:lvl4pPr>
              <a:defRPr sz="1754"/>
            </a:lvl4pPr>
            <a:lvl5pPr>
              <a:defRPr sz="1754"/>
            </a:lvl5pPr>
            <a:lvl6pPr>
              <a:defRPr sz="1754"/>
            </a:lvl6pPr>
            <a:lvl7pPr>
              <a:defRPr sz="1754"/>
            </a:lvl7pPr>
            <a:lvl8pPr>
              <a:defRPr sz="1754"/>
            </a:lvl8pPr>
            <a:lvl9pPr>
              <a:defRPr sz="1754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BBD7A5F-F55D-6DC6-AD5E-C34F4FCE01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36455" y="2267902"/>
            <a:ext cx="3448388" cy="4201570"/>
          </a:xfrm>
        </p:spPr>
        <p:txBody>
          <a:bodyPr/>
          <a:lstStyle>
            <a:lvl1pPr marL="0" indent="0">
              <a:buNone/>
              <a:defRPr sz="1403"/>
            </a:lvl1pPr>
            <a:lvl2pPr marL="400964" indent="0">
              <a:buNone/>
              <a:defRPr sz="1228"/>
            </a:lvl2pPr>
            <a:lvl3pPr marL="801929" indent="0">
              <a:buNone/>
              <a:defRPr sz="1052"/>
            </a:lvl3pPr>
            <a:lvl4pPr marL="1202893" indent="0">
              <a:buNone/>
              <a:defRPr sz="877"/>
            </a:lvl4pPr>
            <a:lvl5pPr marL="1603858" indent="0">
              <a:buNone/>
              <a:defRPr sz="877"/>
            </a:lvl5pPr>
            <a:lvl6pPr marL="2004822" indent="0">
              <a:buNone/>
              <a:defRPr sz="877"/>
            </a:lvl6pPr>
            <a:lvl7pPr marL="2405786" indent="0">
              <a:buNone/>
              <a:defRPr sz="877"/>
            </a:lvl7pPr>
            <a:lvl8pPr marL="2806751" indent="0">
              <a:buNone/>
              <a:defRPr sz="877"/>
            </a:lvl8pPr>
            <a:lvl9pPr marL="3207715" indent="0">
              <a:buNone/>
              <a:defRPr sz="877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4BB2DE4-4F18-8574-87BE-64E080597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1C50A-6572-4A85-BFAD-8382347CADDF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EC4B79A-D7C5-D97F-A545-6C3DD5A21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2C55AD4-FD9D-FF2D-1934-89FAA077D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EC809-1A34-4B98-92EE-9973A25BA1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6972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755D57-0DD9-D603-A8E2-872E726DC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455" y="503978"/>
            <a:ext cx="3448388" cy="1763924"/>
          </a:xfrm>
        </p:spPr>
        <p:txBody>
          <a:bodyPr anchor="b"/>
          <a:lstStyle>
            <a:lvl1pPr>
              <a:defRPr sz="2806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9FC87A2-E251-540A-D6B9-5685F95BBEF7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4545413" y="1088455"/>
            <a:ext cx="5412730" cy="5372269"/>
          </a:xfrm>
        </p:spPr>
        <p:txBody>
          <a:bodyPr/>
          <a:lstStyle>
            <a:lvl1pPr marL="0" indent="0">
              <a:buNone/>
              <a:defRPr sz="2806"/>
            </a:lvl1pPr>
            <a:lvl2pPr marL="400964" indent="0">
              <a:buNone/>
              <a:defRPr sz="2456"/>
            </a:lvl2pPr>
            <a:lvl3pPr marL="801929" indent="0">
              <a:buNone/>
              <a:defRPr sz="2105"/>
            </a:lvl3pPr>
            <a:lvl4pPr marL="1202893" indent="0">
              <a:buNone/>
              <a:defRPr sz="1754"/>
            </a:lvl4pPr>
            <a:lvl5pPr marL="1603858" indent="0">
              <a:buNone/>
              <a:defRPr sz="1754"/>
            </a:lvl5pPr>
            <a:lvl6pPr marL="2004822" indent="0">
              <a:buNone/>
              <a:defRPr sz="1754"/>
            </a:lvl6pPr>
            <a:lvl7pPr marL="2405786" indent="0">
              <a:buNone/>
              <a:defRPr sz="1754"/>
            </a:lvl7pPr>
            <a:lvl8pPr marL="2806751" indent="0">
              <a:buNone/>
              <a:defRPr sz="1754"/>
            </a:lvl8pPr>
            <a:lvl9pPr marL="3207715" indent="0">
              <a:buNone/>
              <a:defRPr sz="1754"/>
            </a:lvl9pPr>
          </a:lstStyle>
          <a:p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0B6673C-9597-7911-166D-DD52183077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36455" y="2267902"/>
            <a:ext cx="3448388" cy="4201570"/>
          </a:xfrm>
        </p:spPr>
        <p:txBody>
          <a:bodyPr/>
          <a:lstStyle>
            <a:lvl1pPr marL="0" indent="0">
              <a:buNone/>
              <a:defRPr sz="1403"/>
            </a:lvl1pPr>
            <a:lvl2pPr marL="400964" indent="0">
              <a:buNone/>
              <a:defRPr sz="1228"/>
            </a:lvl2pPr>
            <a:lvl3pPr marL="801929" indent="0">
              <a:buNone/>
              <a:defRPr sz="1052"/>
            </a:lvl3pPr>
            <a:lvl4pPr marL="1202893" indent="0">
              <a:buNone/>
              <a:defRPr sz="877"/>
            </a:lvl4pPr>
            <a:lvl5pPr marL="1603858" indent="0">
              <a:buNone/>
              <a:defRPr sz="877"/>
            </a:lvl5pPr>
            <a:lvl6pPr marL="2004822" indent="0">
              <a:buNone/>
              <a:defRPr sz="877"/>
            </a:lvl6pPr>
            <a:lvl7pPr marL="2405786" indent="0">
              <a:buNone/>
              <a:defRPr sz="877"/>
            </a:lvl7pPr>
            <a:lvl8pPr marL="2806751" indent="0">
              <a:buNone/>
              <a:defRPr sz="877"/>
            </a:lvl8pPr>
            <a:lvl9pPr marL="3207715" indent="0">
              <a:buNone/>
              <a:defRPr sz="877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E9B8768-5D9B-9B24-ABA2-DF7FEF377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1C50A-6572-4A85-BFAD-8382347CADDF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51A33E1-CB2C-8D80-4B4D-0F7B36D6B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65E099E-B8A8-5299-E258-B4026AAFB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EC809-1A34-4B98-92EE-9973A25BA1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217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D04922-CEAA-702A-5C75-3BB9187DB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82E11B9-B381-4456-B3F2-D63D198BE6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00FA79A-3CCF-D92E-4988-C074E4D82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1C50A-6572-4A85-BFAD-8382347CADDF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4DB5975-AD2E-7750-3DA2-B51BF1A43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EA32D8-A49A-5CB5-6F1C-957F23137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EC809-1A34-4B98-92EE-9973A25BA1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4484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11BA89C-8038-3328-09B3-B20D10866A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651329" y="402483"/>
            <a:ext cx="2305422" cy="64064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1CA1B0F-C464-FEB2-4DC9-9155DAFD4D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35063" y="402483"/>
            <a:ext cx="6782619" cy="64064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563265-5FEC-591D-9791-A3AFA09F9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1C50A-6572-4A85-BFAD-8382347CADDF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124EB29-3576-22B9-F5D3-EC76173FB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E53D91E-34E2-67A8-CCB7-5EBE2FD76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EC809-1A34-4B98-92EE-9973A25BA1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7479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CDAB66D-3262-6044-E7A9-AB1AC6411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5063" y="402484"/>
            <a:ext cx="9221689" cy="1461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D0B365B-5151-75A4-2A64-4F8B407AF0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5063" y="2012414"/>
            <a:ext cx="9221689" cy="4796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3239C97-05C0-8D5C-60F4-16E2744440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5062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B1C50A-6572-4A85-BFAD-8382347CADDF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DF714C4-612A-091E-CD7F-A2946F39E4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41664" y="7006700"/>
            <a:ext cx="3608487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94247DA-4502-7B40-AF91-A5E7A86F08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551093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1EC809-1A34-4B98-92EE-9973A25BA1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7031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801929" rtl="0" eaLnBrk="1" latinLnBrk="0" hangingPunct="1">
        <a:lnSpc>
          <a:spcPct val="90000"/>
        </a:lnSpc>
        <a:spcBef>
          <a:spcPct val="0"/>
        </a:spcBef>
        <a:buNone/>
        <a:defRPr sz="385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0482" indent="-200482" algn="l" defTabSz="801929" rtl="0" eaLnBrk="1" latinLnBrk="0" hangingPunct="1">
        <a:lnSpc>
          <a:spcPct val="90000"/>
        </a:lnSpc>
        <a:spcBef>
          <a:spcPts val="877"/>
        </a:spcBef>
        <a:buFont typeface="Arial" panose="020B0604020202020204" pitchFamily="34" charset="0"/>
        <a:buChar char="•"/>
        <a:defRPr sz="2456" kern="1200">
          <a:solidFill>
            <a:schemeClr val="tx1"/>
          </a:solidFill>
          <a:latin typeface="+mn-lt"/>
          <a:ea typeface="+mn-ea"/>
          <a:cs typeface="+mn-cs"/>
        </a:defRPr>
      </a:lvl1pPr>
      <a:lvl2pPr marL="601447" indent="-200482" algn="l" defTabSz="801929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2105" kern="1200">
          <a:solidFill>
            <a:schemeClr val="tx1"/>
          </a:solidFill>
          <a:latin typeface="+mn-lt"/>
          <a:ea typeface="+mn-ea"/>
          <a:cs typeface="+mn-cs"/>
        </a:defRPr>
      </a:lvl2pPr>
      <a:lvl3pPr marL="1002411" indent="-200482" algn="l" defTabSz="801929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754" kern="1200">
          <a:solidFill>
            <a:schemeClr val="tx1"/>
          </a:solidFill>
          <a:latin typeface="+mn-lt"/>
          <a:ea typeface="+mn-ea"/>
          <a:cs typeface="+mn-cs"/>
        </a:defRPr>
      </a:lvl3pPr>
      <a:lvl4pPr marL="1403375" indent="-200482" algn="l" defTabSz="801929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9" kern="1200">
          <a:solidFill>
            <a:schemeClr val="tx1"/>
          </a:solidFill>
          <a:latin typeface="+mn-lt"/>
          <a:ea typeface="+mn-ea"/>
          <a:cs typeface="+mn-cs"/>
        </a:defRPr>
      </a:lvl4pPr>
      <a:lvl5pPr marL="1804340" indent="-200482" algn="l" defTabSz="801929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9" kern="1200">
          <a:solidFill>
            <a:schemeClr val="tx1"/>
          </a:solidFill>
          <a:latin typeface="+mn-lt"/>
          <a:ea typeface="+mn-ea"/>
          <a:cs typeface="+mn-cs"/>
        </a:defRPr>
      </a:lvl5pPr>
      <a:lvl6pPr marL="2205304" indent="-200482" algn="l" defTabSz="801929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9" kern="1200">
          <a:solidFill>
            <a:schemeClr val="tx1"/>
          </a:solidFill>
          <a:latin typeface="+mn-lt"/>
          <a:ea typeface="+mn-ea"/>
          <a:cs typeface="+mn-cs"/>
        </a:defRPr>
      </a:lvl6pPr>
      <a:lvl7pPr marL="2606269" indent="-200482" algn="l" defTabSz="801929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9" kern="1200">
          <a:solidFill>
            <a:schemeClr val="tx1"/>
          </a:solidFill>
          <a:latin typeface="+mn-lt"/>
          <a:ea typeface="+mn-ea"/>
          <a:cs typeface="+mn-cs"/>
        </a:defRPr>
      </a:lvl7pPr>
      <a:lvl8pPr marL="3007233" indent="-200482" algn="l" defTabSz="801929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9" kern="1200">
          <a:solidFill>
            <a:schemeClr val="tx1"/>
          </a:solidFill>
          <a:latin typeface="+mn-lt"/>
          <a:ea typeface="+mn-ea"/>
          <a:cs typeface="+mn-cs"/>
        </a:defRPr>
      </a:lvl8pPr>
      <a:lvl9pPr marL="3408197" indent="-200482" algn="l" defTabSz="801929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01929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1pPr>
      <a:lvl2pPr marL="400964" algn="l" defTabSz="801929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2pPr>
      <a:lvl3pPr marL="801929" algn="l" defTabSz="801929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3pPr>
      <a:lvl4pPr marL="1202893" algn="l" defTabSz="801929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4pPr>
      <a:lvl5pPr marL="1603858" algn="l" defTabSz="801929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5pPr>
      <a:lvl6pPr marL="2004822" algn="l" defTabSz="801929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6pPr>
      <a:lvl7pPr marL="2405786" algn="l" defTabSz="801929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7pPr>
      <a:lvl8pPr marL="2806751" algn="l" defTabSz="801929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8pPr>
      <a:lvl9pPr marL="3207715" algn="l" defTabSz="801929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zhoushangli.github.io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8.xml"/><Relationship Id="rId3" Type="http://schemas.openxmlformats.org/officeDocument/2006/relationships/slide" Target="slide3.xml"/><Relationship Id="rId7" Type="http://schemas.openxmlformats.org/officeDocument/2006/relationships/slide" Target="slide7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slide" Target="slide6.xml"/><Relationship Id="rId5" Type="http://schemas.openxmlformats.org/officeDocument/2006/relationships/slide" Target="slide5.xml"/><Relationship Id="rId10" Type="http://schemas.openxmlformats.org/officeDocument/2006/relationships/slide" Target="slide10.xml"/><Relationship Id="rId4" Type="http://schemas.openxmlformats.org/officeDocument/2006/relationships/slide" Target="slide4.xml"/><Relationship Id="rId9" Type="http://schemas.openxmlformats.org/officeDocument/2006/relationships/slide" Target="slide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zhoushangli.github.io/projects/ming-engine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zhoushangli.github.io/projects/doomenstein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zhoushangli.github.io/projects/the-primary-colors/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zhoushangli.github.io/projects/spectrex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zhoushangli.github.io/projects/hamsterballin/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zhoushangli.github.io/teaching/pico8-2026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18" Type="http://schemas.openxmlformats.org/officeDocument/2006/relationships/hyperlink" Target="https://zhoushangli.github.io/teaching/pico8-game-jam/" TargetMode="External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17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7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Geometry-1">
            <a:extLst>
              <a:ext uri="{FF2B5EF4-FFF2-40B4-BE49-F238E27FC236}">
                <a16:creationId xmlns:a16="http://schemas.microsoft.com/office/drawing/2014/main" id="{97BF1222-8AD5-22DD-1C26-6843A8691046}"/>
              </a:ext>
            </a:extLst>
          </p:cNvPr>
          <p:cNvCxnSpPr/>
          <p:nvPr/>
        </p:nvCxnSpPr>
        <p:spPr>
          <a:xfrm>
            <a:off x="584200" y="584200"/>
            <a:ext cx="736600" cy="0"/>
          </a:xfrm>
          <a:prstGeom prst="line">
            <a:avLst/>
          </a:prstGeom>
          <a:ln w="8255" cap="flat" cmpd="sng" algn="ctr">
            <a:solidFill>
              <a:srgbClr val="D2B387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Geometry-2">
            <a:extLst>
              <a:ext uri="{FF2B5EF4-FFF2-40B4-BE49-F238E27FC236}">
                <a16:creationId xmlns:a16="http://schemas.microsoft.com/office/drawing/2014/main" id="{DBC778FE-5C2E-32B1-05B5-2602C2C20AE0}"/>
              </a:ext>
            </a:extLst>
          </p:cNvPr>
          <p:cNvCxnSpPr/>
          <p:nvPr/>
        </p:nvCxnSpPr>
        <p:spPr>
          <a:xfrm>
            <a:off x="584200" y="584200"/>
            <a:ext cx="0" cy="431800"/>
          </a:xfrm>
          <a:prstGeom prst="line">
            <a:avLst/>
          </a:prstGeom>
          <a:ln w="8255" cap="flat" cmpd="sng" algn="ctr">
            <a:solidFill>
              <a:srgbClr val="D2B387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Geometry-3">
            <a:extLst>
              <a:ext uri="{FF2B5EF4-FFF2-40B4-BE49-F238E27FC236}">
                <a16:creationId xmlns:a16="http://schemas.microsoft.com/office/drawing/2014/main" id="{6350EF86-B277-B823-7A5A-5F2C9B6C899C}"/>
              </a:ext>
            </a:extLst>
          </p:cNvPr>
          <p:cNvCxnSpPr/>
          <p:nvPr/>
        </p:nvCxnSpPr>
        <p:spPr>
          <a:xfrm>
            <a:off x="9372600" y="6959600"/>
            <a:ext cx="736600" cy="0"/>
          </a:xfrm>
          <a:prstGeom prst="line">
            <a:avLst/>
          </a:prstGeom>
          <a:ln w="8255" cap="flat" cmpd="sng" algn="ctr">
            <a:solidFill>
              <a:srgbClr val="D2B387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Geometry-4">
            <a:extLst>
              <a:ext uri="{FF2B5EF4-FFF2-40B4-BE49-F238E27FC236}">
                <a16:creationId xmlns:a16="http://schemas.microsoft.com/office/drawing/2014/main" id="{52C9B59C-CD44-07AE-0745-ED151415F24C}"/>
              </a:ext>
            </a:extLst>
          </p:cNvPr>
          <p:cNvCxnSpPr/>
          <p:nvPr/>
        </p:nvCxnSpPr>
        <p:spPr>
          <a:xfrm>
            <a:off x="10109200" y="6527800"/>
            <a:ext cx="0" cy="431800"/>
          </a:xfrm>
          <a:prstGeom prst="line">
            <a:avLst/>
          </a:prstGeom>
          <a:ln w="8255" cap="flat" cmpd="sng" algn="ctr">
            <a:solidFill>
              <a:srgbClr val="D2B387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-1">
            <a:extLst>
              <a:ext uri="{FF2B5EF4-FFF2-40B4-BE49-F238E27FC236}">
                <a16:creationId xmlns:a16="http://schemas.microsoft.com/office/drawing/2014/main" id="{E9A91F52-3409-1318-768A-EE0777108639}"/>
              </a:ext>
            </a:extLst>
          </p:cNvPr>
          <p:cNvSpPr txBox="1"/>
          <p:nvPr/>
        </p:nvSpPr>
        <p:spPr>
          <a:xfrm>
            <a:off x="1168400" y="1943099"/>
            <a:ext cx="8255000" cy="1016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4600">
                <a:solidFill>
                  <a:srgbClr val="F0E9D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周尚礼</a:t>
            </a:r>
            <a:endParaRPr lang="en-US" sz="4600">
              <a:solidFill>
                <a:srgbClr val="F0E9D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Text-2">
            <a:extLst>
              <a:ext uri="{FF2B5EF4-FFF2-40B4-BE49-F238E27FC236}">
                <a16:creationId xmlns:a16="http://schemas.microsoft.com/office/drawing/2014/main" id="{CC341686-9894-BD55-70A0-B4F13A3C1BDB}"/>
              </a:ext>
            </a:extLst>
          </p:cNvPr>
          <p:cNvSpPr txBox="1"/>
          <p:nvPr/>
        </p:nvSpPr>
        <p:spPr>
          <a:xfrm>
            <a:off x="1193800" y="3136899"/>
            <a:ext cx="8255000" cy="812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3600">
                <a:solidFill>
                  <a:srgbClr val="F0E9D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个人作品集</a:t>
            </a:r>
            <a:endParaRPr lang="en-US" sz="3600">
              <a:solidFill>
                <a:srgbClr val="F0E9D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4245ED4C-D2C4-BD41-9EAF-DD05AB65C602}"/>
              </a:ext>
            </a:extLst>
          </p:cNvPr>
          <p:cNvCxnSpPr/>
          <p:nvPr/>
        </p:nvCxnSpPr>
        <p:spPr>
          <a:xfrm>
            <a:off x="1193800" y="4356100"/>
            <a:ext cx="1270000" cy="0"/>
          </a:xfrm>
          <a:prstGeom prst="line">
            <a:avLst/>
          </a:prstGeom>
          <a:ln w="10160">
            <a:solidFill>
              <a:srgbClr val="D2B3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-3">
            <a:extLst>
              <a:ext uri="{FF2B5EF4-FFF2-40B4-BE49-F238E27FC236}">
                <a16:creationId xmlns:a16="http://schemas.microsoft.com/office/drawing/2014/main" id="{B09BAA7F-BFA8-A494-68DF-ACB6418E34C0}"/>
              </a:ext>
            </a:extLst>
          </p:cNvPr>
          <p:cNvSpPr txBox="1"/>
          <p:nvPr/>
        </p:nvSpPr>
        <p:spPr>
          <a:xfrm>
            <a:off x="1193800" y="4851399"/>
            <a:ext cx="8255000" cy="673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160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我的个人网站收录了作品的完整介绍、演示与相关记录：</a:t>
            </a:r>
            <a:endParaRPr lang="en-US" sz="1600">
              <a:solidFill>
                <a:srgbClr val="BBB9B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-4">
            <a:hlinkClick r:id="rId3"/>
            <a:extLst>
              <a:ext uri="{FF2B5EF4-FFF2-40B4-BE49-F238E27FC236}">
                <a16:creationId xmlns:a16="http://schemas.microsoft.com/office/drawing/2014/main" id="{B35A0E3C-8098-FE29-986A-344E0411A3B7}"/>
              </a:ext>
            </a:extLst>
          </p:cNvPr>
          <p:cNvSpPr txBox="1"/>
          <p:nvPr/>
        </p:nvSpPr>
        <p:spPr>
          <a:xfrm>
            <a:off x="1193800" y="5765799"/>
            <a:ext cx="8255000" cy="431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en-US" u="sng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3"/>
              </a:rPr>
              <a:t>https://zhoushangli.github.io/</a:t>
            </a:r>
            <a:endParaRPr lang="en-US" u="sng">
              <a:solidFill>
                <a:srgbClr val="D2B38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-5">
            <a:extLst>
              <a:ext uri="{FF2B5EF4-FFF2-40B4-BE49-F238E27FC236}">
                <a16:creationId xmlns:a16="http://schemas.microsoft.com/office/drawing/2014/main" id="{16732B91-2A49-A39E-B191-04096DA69E40}"/>
              </a:ext>
            </a:extLst>
          </p:cNvPr>
          <p:cNvSpPr txBox="1"/>
          <p:nvPr/>
        </p:nvSpPr>
        <p:spPr>
          <a:xfrm>
            <a:off x="9550400" y="7111999"/>
            <a:ext cx="762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100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 / 10</a:t>
            </a:r>
          </a:p>
        </p:txBody>
      </p:sp>
    </p:spTree>
    <p:extLst>
      <p:ext uri="{BB962C8B-B14F-4D97-AF65-F5344CB8AC3E}">
        <p14:creationId xmlns:p14="http://schemas.microsoft.com/office/powerpoint/2010/main" val="707232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7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Geometry-1">
            <a:extLst>
              <a:ext uri="{FF2B5EF4-FFF2-40B4-BE49-F238E27FC236}">
                <a16:creationId xmlns:a16="http://schemas.microsoft.com/office/drawing/2014/main" id="{AC747504-F8A0-76C7-3651-7D7A12A50AC6}"/>
              </a:ext>
            </a:extLst>
          </p:cNvPr>
          <p:cNvCxnSpPr/>
          <p:nvPr/>
        </p:nvCxnSpPr>
        <p:spPr>
          <a:xfrm>
            <a:off x="584200" y="584200"/>
            <a:ext cx="736600" cy="0"/>
          </a:xfrm>
          <a:prstGeom prst="line">
            <a:avLst/>
          </a:prstGeom>
          <a:ln w="8255" cap="flat" cmpd="sng" algn="ctr">
            <a:solidFill>
              <a:srgbClr val="D2B387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Geometry-2">
            <a:extLst>
              <a:ext uri="{FF2B5EF4-FFF2-40B4-BE49-F238E27FC236}">
                <a16:creationId xmlns:a16="http://schemas.microsoft.com/office/drawing/2014/main" id="{05B28901-0840-57DD-743A-AB2B9359600D}"/>
              </a:ext>
            </a:extLst>
          </p:cNvPr>
          <p:cNvCxnSpPr/>
          <p:nvPr/>
        </p:nvCxnSpPr>
        <p:spPr>
          <a:xfrm>
            <a:off x="584200" y="584200"/>
            <a:ext cx="0" cy="431800"/>
          </a:xfrm>
          <a:prstGeom prst="line">
            <a:avLst/>
          </a:prstGeom>
          <a:ln w="8255" cap="flat" cmpd="sng" algn="ctr">
            <a:solidFill>
              <a:srgbClr val="D2B387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Geometry-3">
            <a:extLst>
              <a:ext uri="{FF2B5EF4-FFF2-40B4-BE49-F238E27FC236}">
                <a16:creationId xmlns:a16="http://schemas.microsoft.com/office/drawing/2014/main" id="{04E981D3-03CD-8BCE-01D1-F7C6D4C58B47}"/>
              </a:ext>
            </a:extLst>
          </p:cNvPr>
          <p:cNvCxnSpPr/>
          <p:nvPr/>
        </p:nvCxnSpPr>
        <p:spPr>
          <a:xfrm>
            <a:off x="9372600" y="6959600"/>
            <a:ext cx="736600" cy="0"/>
          </a:xfrm>
          <a:prstGeom prst="line">
            <a:avLst/>
          </a:prstGeom>
          <a:ln w="8255" cap="flat" cmpd="sng" algn="ctr">
            <a:solidFill>
              <a:srgbClr val="D2B387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Geometry-4">
            <a:extLst>
              <a:ext uri="{FF2B5EF4-FFF2-40B4-BE49-F238E27FC236}">
                <a16:creationId xmlns:a16="http://schemas.microsoft.com/office/drawing/2014/main" id="{95CCB8F9-A89A-7F81-19F7-51AB59B24B6F}"/>
              </a:ext>
            </a:extLst>
          </p:cNvPr>
          <p:cNvCxnSpPr/>
          <p:nvPr/>
        </p:nvCxnSpPr>
        <p:spPr>
          <a:xfrm>
            <a:off x="10109200" y="6527800"/>
            <a:ext cx="0" cy="431800"/>
          </a:xfrm>
          <a:prstGeom prst="line">
            <a:avLst/>
          </a:prstGeom>
          <a:ln w="8255" cap="flat" cmpd="sng" algn="ctr">
            <a:solidFill>
              <a:srgbClr val="D2B387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-6">
            <a:extLst>
              <a:ext uri="{FF2B5EF4-FFF2-40B4-BE49-F238E27FC236}">
                <a16:creationId xmlns:a16="http://schemas.microsoft.com/office/drawing/2014/main" id="{8A7E09E9-28CC-17D3-3F07-DD569749A1DC}"/>
              </a:ext>
            </a:extLst>
          </p:cNvPr>
          <p:cNvSpPr txBox="1"/>
          <p:nvPr/>
        </p:nvSpPr>
        <p:spPr>
          <a:xfrm>
            <a:off x="584200" y="368299"/>
            <a:ext cx="8255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1200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阅读导航</a:t>
            </a:r>
            <a:endParaRPr lang="en-US" sz="1200">
              <a:solidFill>
                <a:srgbClr val="D2B38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-7">
            <a:extLst>
              <a:ext uri="{FF2B5EF4-FFF2-40B4-BE49-F238E27FC236}">
                <a16:creationId xmlns:a16="http://schemas.microsoft.com/office/drawing/2014/main" id="{1F7BCD90-B751-6259-892A-758F0D4822CB}"/>
              </a:ext>
            </a:extLst>
          </p:cNvPr>
          <p:cNvSpPr txBox="1"/>
          <p:nvPr/>
        </p:nvSpPr>
        <p:spPr>
          <a:xfrm>
            <a:off x="584200" y="787399"/>
            <a:ext cx="9525000" cy="698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3200">
                <a:solidFill>
                  <a:srgbClr val="F0E9D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作品集大纲</a:t>
            </a:r>
            <a:endParaRPr lang="en-US" sz="3200">
              <a:solidFill>
                <a:srgbClr val="F0E9D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9B96EB4F-0487-D061-16CB-8D57B2E4FD3E}"/>
              </a:ext>
            </a:extLst>
          </p:cNvPr>
          <p:cNvCxnSpPr/>
          <p:nvPr/>
        </p:nvCxnSpPr>
        <p:spPr>
          <a:xfrm>
            <a:off x="584200" y="1600200"/>
            <a:ext cx="9525000" cy="0"/>
          </a:xfrm>
          <a:prstGeom prst="line">
            <a:avLst/>
          </a:prstGeom>
          <a:ln w="11430">
            <a:solidFill>
              <a:srgbClr val="D2B3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854DEAC6-85CA-AB54-608A-D0018A9E91A7}"/>
              </a:ext>
            </a:extLst>
          </p:cNvPr>
          <p:cNvCxnSpPr/>
          <p:nvPr/>
        </p:nvCxnSpPr>
        <p:spPr>
          <a:xfrm>
            <a:off x="584200" y="6985000"/>
            <a:ext cx="9525000" cy="0"/>
          </a:xfrm>
          <a:prstGeom prst="line">
            <a:avLst/>
          </a:prstGeom>
          <a:ln w="8255">
            <a:solidFill>
              <a:srgbClr val="3944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-8">
            <a:extLst>
              <a:ext uri="{FF2B5EF4-FFF2-40B4-BE49-F238E27FC236}">
                <a16:creationId xmlns:a16="http://schemas.microsoft.com/office/drawing/2014/main" id="{0823FD6F-656C-3467-D738-29A373438F66}"/>
              </a:ext>
            </a:extLst>
          </p:cNvPr>
          <p:cNvSpPr txBox="1"/>
          <p:nvPr/>
        </p:nvSpPr>
        <p:spPr>
          <a:xfrm>
            <a:off x="584200" y="7137400"/>
            <a:ext cx="8128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105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周尚礼  </a:t>
            </a:r>
            <a:r>
              <a:rPr lang="en-US" altLang="zh-CN" sz="105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 </a:t>
            </a:r>
            <a:r>
              <a:rPr lang="zh-CN" altLang="en-US" sz="105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游戏开发与教学实践</a:t>
            </a:r>
            <a:endParaRPr lang="en-US" sz="1050">
              <a:solidFill>
                <a:srgbClr val="BBB9B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-9">
            <a:extLst>
              <a:ext uri="{FF2B5EF4-FFF2-40B4-BE49-F238E27FC236}">
                <a16:creationId xmlns:a16="http://schemas.microsoft.com/office/drawing/2014/main" id="{97A29491-4ED8-4C0E-6B41-85ABEB51F525}"/>
              </a:ext>
            </a:extLst>
          </p:cNvPr>
          <p:cNvSpPr txBox="1"/>
          <p:nvPr/>
        </p:nvSpPr>
        <p:spPr>
          <a:xfrm>
            <a:off x="9550400" y="7111999"/>
            <a:ext cx="762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100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 / 10</a:t>
            </a:r>
          </a:p>
        </p:txBody>
      </p:sp>
      <p:sp>
        <p:nvSpPr>
          <p:cNvPr id="12" name="Text-10">
            <a:hlinkClick r:id="rId3" action="ppaction://hlinksldjump"/>
            <a:extLst>
              <a:ext uri="{FF2B5EF4-FFF2-40B4-BE49-F238E27FC236}">
                <a16:creationId xmlns:a16="http://schemas.microsoft.com/office/drawing/2014/main" id="{8772B12F-18DB-6DD1-EB07-5AF1FFEA7EB6}"/>
              </a:ext>
            </a:extLst>
          </p:cNvPr>
          <p:cNvSpPr txBox="1"/>
          <p:nvPr/>
        </p:nvSpPr>
        <p:spPr>
          <a:xfrm>
            <a:off x="584200" y="1993899"/>
            <a:ext cx="571500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2200">
                <a:solidFill>
                  <a:srgbClr val="D2B38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01</a:t>
            </a:r>
          </a:p>
        </p:txBody>
      </p:sp>
      <p:sp>
        <p:nvSpPr>
          <p:cNvPr id="13" name="Text-11">
            <a:hlinkClick r:id="rId3" action="ppaction://hlinksldjump"/>
            <a:extLst>
              <a:ext uri="{FF2B5EF4-FFF2-40B4-BE49-F238E27FC236}">
                <a16:creationId xmlns:a16="http://schemas.microsoft.com/office/drawing/2014/main" id="{8AC2CAB7-F807-13DB-2F79-92C1D71DEAF5}"/>
              </a:ext>
            </a:extLst>
          </p:cNvPr>
          <p:cNvSpPr txBox="1"/>
          <p:nvPr/>
        </p:nvSpPr>
        <p:spPr>
          <a:xfrm>
            <a:off x="1308100" y="1981199"/>
            <a:ext cx="25019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2400">
                <a:solidFill>
                  <a:srgbClr val="F0E9D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个人经历</a:t>
            </a:r>
            <a:endParaRPr lang="en-US" sz="2400">
              <a:solidFill>
                <a:srgbClr val="F0E9D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" name="Text-12">
            <a:hlinkClick r:id="rId3" action="ppaction://hlinksldjump"/>
            <a:extLst>
              <a:ext uri="{FF2B5EF4-FFF2-40B4-BE49-F238E27FC236}">
                <a16:creationId xmlns:a16="http://schemas.microsoft.com/office/drawing/2014/main" id="{F5781980-6498-0704-20DB-1D49D11D60EB}"/>
              </a:ext>
            </a:extLst>
          </p:cNvPr>
          <p:cNvSpPr txBox="1"/>
          <p:nvPr/>
        </p:nvSpPr>
        <p:spPr>
          <a:xfrm>
            <a:off x="4191000" y="2031999"/>
            <a:ext cx="50800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1600">
                <a:solidFill>
                  <a:srgbClr val="F0E9D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教育、实习与个人总览</a:t>
            </a:r>
            <a:endParaRPr lang="en-US" sz="1600">
              <a:solidFill>
                <a:srgbClr val="F0E9D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Text-13">
            <a:hlinkClick r:id="rId3" action="ppaction://hlinksldjump"/>
            <a:extLst>
              <a:ext uri="{FF2B5EF4-FFF2-40B4-BE49-F238E27FC236}">
                <a16:creationId xmlns:a16="http://schemas.microsoft.com/office/drawing/2014/main" id="{FFA53D99-CE26-B208-81F3-9D15D7AC7E08}"/>
              </a:ext>
            </a:extLst>
          </p:cNvPr>
          <p:cNvSpPr txBox="1"/>
          <p:nvPr/>
        </p:nvSpPr>
        <p:spPr>
          <a:xfrm>
            <a:off x="9575800" y="2031999"/>
            <a:ext cx="5334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500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471905D1-2889-F1AE-7292-4C99DCC77B25}"/>
              </a:ext>
            </a:extLst>
          </p:cNvPr>
          <p:cNvCxnSpPr/>
          <p:nvPr/>
        </p:nvCxnSpPr>
        <p:spPr>
          <a:xfrm>
            <a:off x="584200" y="2717800"/>
            <a:ext cx="9525000" cy="0"/>
          </a:xfrm>
          <a:prstGeom prst="line">
            <a:avLst/>
          </a:prstGeom>
          <a:ln w="8255">
            <a:solidFill>
              <a:srgbClr val="3944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-14">
            <a:hlinkClick r:id="rId4" action="ppaction://hlinksldjump"/>
            <a:extLst>
              <a:ext uri="{FF2B5EF4-FFF2-40B4-BE49-F238E27FC236}">
                <a16:creationId xmlns:a16="http://schemas.microsoft.com/office/drawing/2014/main" id="{B69B1BC7-51D2-5D9E-D035-D152B1ABE3AA}"/>
              </a:ext>
            </a:extLst>
          </p:cNvPr>
          <p:cNvSpPr txBox="1"/>
          <p:nvPr/>
        </p:nvSpPr>
        <p:spPr>
          <a:xfrm>
            <a:off x="584200" y="3022599"/>
            <a:ext cx="571500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2200">
                <a:solidFill>
                  <a:srgbClr val="D2B38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02</a:t>
            </a:r>
          </a:p>
        </p:txBody>
      </p:sp>
      <p:sp>
        <p:nvSpPr>
          <p:cNvPr id="18" name="Text-15">
            <a:hlinkClick r:id="rId4" action="ppaction://hlinksldjump"/>
            <a:extLst>
              <a:ext uri="{FF2B5EF4-FFF2-40B4-BE49-F238E27FC236}">
                <a16:creationId xmlns:a16="http://schemas.microsoft.com/office/drawing/2014/main" id="{E2EF818A-7471-BE2B-40FF-5CE33554917D}"/>
              </a:ext>
            </a:extLst>
          </p:cNvPr>
          <p:cNvSpPr txBox="1"/>
          <p:nvPr/>
        </p:nvSpPr>
        <p:spPr>
          <a:xfrm>
            <a:off x="1308100" y="3009899"/>
            <a:ext cx="25019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2400">
                <a:solidFill>
                  <a:srgbClr val="F0E9D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具体作品</a:t>
            </a:r>
            <a:endParaRPr lang="en-US" sz="2400">
              <a:solidFill>
                <a:srgbClr val="F0E9D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9" name="Text-16">
            <a:hlinkClick r:id="rId4" action="ppaction://hlinksldjump"/>
            <a:extLst>
              <a:ext uri="{FF2B5EF4-FFF2-40B4-BE49-F238E27FC236}">
                <a16:creationId xmlns:a16="http://schemas.microsoft.com/office/drawing/2014/main" id="{494B009C-7654-F8AA-DF47-9DF1A634CDC6}"/>
              </a:ext>
            </a:extLst>
          </p:cNvPr>
          <p:cNvSpPr txBox="1"/>
          <p:nvPr/>
        </p:nvSpPr>
        <p:spPr>
          <a:xfrm>
            <a:off x="4191000" y="2984499"/>
            <a:ext cx="50800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1400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个人作品</a:t>
            </a:r>
            <a:endParaRPr lang="en-US" sz="1400">
              <a:solidFill>
                <a:srgbClr val="D2B38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Text-17">
            <a:hlinkClick r:id="rId4" action="ppaction://hlinksldjump"/>
            <a:extLst>
              <a:ext uri="{FF2B5EF4-FFF2-40B4-BE49-F238E27FC236}">
                <a16:creationId xmlns:a16="http://schemas.microsoft.com/office/drawing/2014/main" id="{78E32F15-492F-6A9E-931D-9373924E8D80}"/>
              </a:ext>
            </a:extLst>
          </p:cNvPr>
          <p:cNvSpPr txBox="1"/>
          <p:nvPr/>
        </p:nvSpPr>
        <p:spPr>
          <a:xfrm>
            <a:off x="4191000" y="3403599"/>
            <a:ext cx="50800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600">
                <a:solidFill>
                  <a:srgbClr val="F0E9D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MingEngine</a:t>
            </a:r>
          </a:p>
        </p:txBody>
      </p:sp>
      <p:sp>
        <p:nvSpPr>
          <p:cNvPr id="21" name="Text-18">
            <a:hlinkClick r:id="rId4" action="ppaction://hlinksldjump"/>
            <a:extLst>
              <a:ext uri="{FF2B5EF4-FFF2-40B4-BE49-F238E27FC236}">
                <a16:creationId xmlns:a16="http://schemas.microsoft.com/office/drawing/2014/main" id="{CB722E1C-BC13-CEF7-FBA6-076372F8E30C}"/>
              </a:ext>
            </a:extLst>
          </p:cNvPr>
          <p:cNvSpPr txBox="1"/>
          <p:nvPr/>
        </p:nvSpPr>
        <p:spPr>
          <a:xfrm>
            <a:off x="9575800" y="3403599"/>
            <a:ext cx="5334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500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</a:p>
        </p:txBody>
      </p:sp>
      <p:sp>
        <p:nvSpPr>
          <p:cNvPr id="22" name="Text-19">
            <a:hlinkClick r:id="rId5" action="ppaction://hlinksldjump"/>
            <a:extLst>
              <a:ext uri="{FF2B5EF4-FFF2-40B4-BE49-F238E27FC236}">
                <a16:creationId xmlns:a16="http://schemas.microsoft.com/office/drawing/2014/main" id="{F744CD21-FA2C-01AB-6F21-2FEA637B4FA2}"/>
              </a:ext>
            </a:extLst>
          </p:cNvPr>
          <p:cNvSpPr txBox="1"/>
          <p:nvPr/>
        </p:nvSpPr>
        <p:spPr>
          <a:xfrm>
            <a:off x="4191000" y="3809999"/>
            <a:ext cx="50800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600">
                <a:solidFill>
                  <a:srgbClr val="F0E9D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Doomenstein</a:t>
            </a:r>
          </a:p>
        </p:txBody>
      </p:sp>
      <p:sp>
        <p:nvSpPr>
          <p:cNvPr id="23" name="Text-20">
            <a:hlinkClick r:id="rId5" action="ppaction://hlinksldjump"/>
            <a:extLst>
              <a:ext uri="{FF2B5EF4-FFF2-40B4-BE49-F238E27FC236}">
                <a16:creationId xmlns:a16="http://schemas.microsoft.com/office/drawing/2014/main" id="{EA34EE82-4C5A-0953-246A-49D399E5EF4A}"/>
              </a:ext>
            </a:extLst>
          </p:cNvPr>
          <p:cNvSpPr txBox="1"/>
          <p:nvPr/>
        </p:nvSpPr>
        <p:spPr>
          <a:xfrm>
            <a:off x="9575800" y="3809999"/>
            <a:ext cx="5334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500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05</a:t>
            </a:r>
          </a:p>
        </p:txBody>
      </p:sp>
      <p:sp>
        <p:nvSpPr>
          <p:cNvPr id="24" name="Text-21">
            <a:hlinkClick r:id="rId6" action="ppaction://hlinksldjump"/>
            <a:extLst>
              <a:ext uri="{FF2B5EF4-FFF2-40B4-BE49-F238E27FC236}">
                <a16:creationId xmlns:a16="http://schemas.microsoft.com/office/drawing/2014/main" id="{C2194E3D-BF1E-1594-E30F-6058756BAED3}"/>
              </a:ext>
            </a:extLst>
          </p:cNvPr>
          <p:cNvSpPr txBox="1"/>
          <p:nvPr/>
        </p:nvSpPr>
        <p:spPr>
          <a:xfrm>
            <a:off x="4191000" y="4216399"/>
            <a:ext cx="50800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600">
                <a:solidFill>
                  <a:srgbClr val="F0E9D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The Primary Colors / </a:t>
            </a:r>
            <a:r>
              <a:rPr lang="zh-CN" altLang="en-US" sz="1600">
                <a:solidFill>
                  <a:srgbClr val="F0E9D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三原色</a:t>
            </a:r>
            <a:endParaRPr lang="en-US" sz="1600">
              <a:solidFill>
                <a:srgbClr val="F0E9D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Text-22">
            <a:hlinkClick r:id="rId6" action="ppaction://hlinksldjump"/>
            <a:extLst>
              <a:ext uri="{FF2B5EF4-FFF2-40B4-BE49-F238E27FC236}">
                <a16:creationId xmlns:a16="http://schemas.microsoft.com/office/drawing/2014/main" id="{A6A955E6-447F-7B8F-C4B0-16195612D209}"/>
              </a:ext>
            </a:extLst>
          </p:cNvPr>
          <p:cNvSpPr txBox="1"/>
          <p:nvPr/>
        </p:nvSpPr>
        <p:spPr>
          <a:xfrm>
            <a:off x="9575800" y="4216399"/>
            <a:ext cx="5334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500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06</a:t>
            </a:r>
          </a:p>
        </p:txBody>
      </p:sp>
      <p:sp>
        <p:nvSpPr>
          <p:cNvPr id="26" name="Text-23">
            <a:hlinkClick r:id="rId7" action="ppaction://hlinksldjump"/>
            <a:extLst>
              <a:ext uri="{FF2B5EF4-FFF2-40B4-BE49-F238E27FC236}">
                <a16:creationId xmlns:a16="http://schemas.microsoft.com/office/drawing/2014/main" id="{F9908259-CBE2-A631-B492-95A3B6E74835}"/>
              </a:ext>
            </a:extLst>
          </p:cNvPr>
          <p:cNvSpPr txBox="1"/>
          <p:nvPr/>
        </p:nvSpPr>
        <p:spPr>
          <a:xfrm>
            <a:off x="4191000" y="4749799"/>
            <a:ext cx="50800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1400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团队作品</a:t>
            </a:r>
            <a:endParaRPr lang="en-US" sz="1400">
              <a:solidFill>
                <a:srgbClr val="D2B38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Text-24">
            <a:hlinkClick r:id="rId7" action="ppaction://hlinksldjump"/>
            <a:extLst>
              <a:ext uri="{FF2B5EF4-FFF2-40B4-BE49-F238E27FC236}">
                <a16:creationId xmlns:a16="http://schemas.microsoft.com/office/drawing/2014/main" id="{A1578A7E-BC48-57BA-378A-C0A4AD1BC6FE}"/>
              </a:ext>
            </a:extLst>
          </p:cNvPr>
          <p:cNvSpPr txBox="1"/>
          <p:nvPr/>
        </p:nvSpPr>
        <p:spPr>
          <a:xfrm>
            <a:off x="4191000" y="5156199"/>
            <a:ext cx="50800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600">
                <a:solidFill>
                  <a:srgbClr val="F0E9D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SpectreX</a:t>
            </a:r>
          </a:p>
        </p:txBody>
      </p:sp>
      <p:sp>
        <p:nvSpPr>
          <p:cNvPr id="28" name="Text-25">
            <a:hlinkClick r:id="rId7" action="ppaction://hlinksldjump"/>
            <a:extLst>
              <a:ext uri="{FF2B5EF4-FFF2-40B4-BE49-F238E27FC236}">
                <a16:creationId xmlns:a16="http://schemas.microsoft.com/office/drawing/2014/main" id="{05DA8F06-9E22-E97E-66E2-B045A5492BD6}"/>
              </a:ext>
            </a:extLst>
          </p:cNvPr>
          <p:cNvSpPr txBox="1"/>
          <p:nvPr/>
        </p:nvSpPr>
        <p:spPr>
          <a:xfrm>
            <a:off x="9575800" y="5156199"/>
            <a:ext cx="5334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500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07</a:t>
            </a:r>
          </a:p>
        </p:txBody>
      </p:sp>
      <p:sp>
        <p:nvSpPr>
          <p:cNvPr id="29" name="Text-26">
            <a:hlinkClick r:id="rId8" action="ppaction://hlinksldjump"/>
            <a:extLst>
              <a:ext uri="{FF2B5EF4-FFF2-40B4-BE49-F238E27FC236}">
                <a16:creationId xmlns:a16="http://schemas.microsoft.com/office/drawing/2014/main" id="{A137179A-06F5-E6D4-4AB6-890F15BD2E11}"/>
              </a:ext>
            </a:extLst>
          </p:cNvPr>
          <p:cNvSpPr txBox="1"/>
          <p:nvPr/>
        </p:nvSpPr>
        <p:spPr>
          <a:xfrm>
            <a:off x="4191000" y="5562599"/>
            <a:ext cx="50800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600">
                <a:solidFill>
                  <a:srgbClr val="F0E9D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Hamsterballin'</a:t>
            </a:r>
          </a:p>
        </p:txBody>
      </p:sp>
      <p:sp>
        <p:nvSpPr>
          <p:cNvPr id="30" name="Text-27">
            <a:hlinkClick r:id="rId8" action="ppaction://hlinksldjump"/>
            <a:extLst>
              <a:ext uri="{FF2B5EF4-FFF2-40B4-BE49-F238E27FC236}">
                <a16:creationId xmlns:a16="http://schemas.microsoft.com/office/drawing/2014/main" id="{8A9EE801-79A4-B8E0-FF0F-B0E8EAD3714A}"/>
              </a:ext>
            </a:extLst>
          </p:cNvPr>
          <p:cNvSpPr txBox="1"/>
          <p:nvPr/>
        </p:nvSpPr>
        <p:spPr>
          <a:xfrm>
            <a:off x="9575800" y="5562599"/>
            <a:ext cx="5334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500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08</a:t>
            </a:r>
          </a:p>
        </p:txBody>
      </p: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3B250B17-7FB8-6E68-03D2-E57CD096B8ED}"/>
              </a:ext>
            </a:extLst>
          </p:cNvPr>
          <p:cNvCxnSpPr/>
          <p:nvPr/>
        </p:nvCxnSpPr>
        <p:spPr>
          <a:xfrm>
            <a:off x="584200" y="6070600"/>
            <a:ext cx="9525000" cy="0"/>
          </a:xfrm>
          <a:prstGeom prst="line">
            <a:avLst/>
          </a:prstGeom>
          <a:ln w="8255">
            <a:solidFill>
              <a:srgbClr val="3944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-28">
            <a:hlinkClick r:id="rId9" action="ppaction://hlinksldjump"/>
            <a:extLst>
              <a:ext uri="{FF2B5EF4-FFF2-40B4-BE49-F238E27FC236}">
                <a16:creationId xmlns:a16="http://schemas.microsoft.com/office/drawing/2014/main" id="{6E4B3740-092C-9C95-7FE0-7BB0A34EBEF0}"/>
              </a:ext>
            </a:extLst>
          </p:cNvPr>
          <p:cNvSpPr txBox="1"/>
          <p:nvPr/>
        </p:nvSpPr>
        <p:spPr>
          <a:xfrm>
            <a:off x="584200" y="6273799"/>
            <a:ext cx="571500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2200">
                <a:solidFill>
                  <a:srgbClr val="D2B38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03</a:t>
            </a:r>
          </a:p>
        </p:txBody>
      </p:sp>
      <p:sp>
        <p:nvSpPr>
          <p:cNvPr id="33" name="Text-29">
            <a:hlinkClick r:id="rId9" action="ppaction://hlinksldjump"/>
            <a:extLst>
              <a:ext uri="{FF2B5EF4-FFF2-40B4-BE49-F238E27FC236}">
                <a16:creationId xmlns:a16="http://schemas.microsoft.com/office/drawing/2014/main" id="{D370D28E-D71B-233A-FC0C-16A628C28BA7}"/>
              </a:ext>
            </a:extLst>
          </p:cNvPr>
          <p:cNvSpPr txBox="1"/>
          <p:nvPr/>
        </p:nvSpPr>
        <p:spPr>
          <a:xfrm>
            <a:off x="1308100" y="6261099"/>
            <a:ext cx="25019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2400">
                <a:solidFill>
                  <a:srgbClr val="F0E9D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教学实践</a:t>
            </a:r>
            <a:endParaRPr lang="en-US" sz="2400">
              <a:solidFill>
                <a:srgbClr val="F0E9D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4" name="Text-30">
            <a:hlinkClick r:id="rId9" action="ppaction://hlinksldjump"/>
            <a:extLst>
              <a:ext uri="{FF2B5EF4-FFF2-40B4-BE49-F238E27FC236}">
                <a16:creationId xmlns:a16="http://schemas.microsoft.com/office/drawing/2014/main" id="{615FE920-41FF-7580-FEF9-D350C6797431}"/>
              </a:ext>
            </a:extLst>
          </p:cNvPr>
          <p:cNvSpPr txBox="1"/>
          <p:nvPr/>
        </p:nvSpPr>
        <p:spPr>
          <a:xfrm>
            <a:off x="4191000" y="6248399"/>
            <a:ext cx="50800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600">
                <a:solidFill>
                  <a:srgbClr val="F0E9D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PICO-8 </a:t>
            </a:r>
            <a:r>
              <a:rPr lang="zh-CN" altLang="en-US" sz="1600">
                <a:solidFill>
                  <a:srgbClr val="F0E9D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培训总览</a:t>
            </a:r>
            <a:endParaRPr lang="en-US" sz="1600">
              <a:solidFill>
                <a:srgbClr val="F0E9D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Text-31">
            <a:hlinkClick r:id="rId9" action="ppaction://hlinksldjump"/>
            <a:extLst>
              <a:ext uri="{FF2B5EF4-FFF2-40B4-BE49-F238E27FC236}">
                <a16:creationId xmlns:a16="http://schemas.microsoft.com/office/drawing/2014/main" id="{DB07CD15-C1FC-7B43-0F2A-9216D50767A1}"/>
              </a:ext>
            </a:extLst>
          </p:cNvPr>
          <p:cNvSpPr txBox="1"/>
          <p:nvPr/>
        </p:nvSpPr>
        <p:spPr>
          <a:xfrm>
            <a:off x="9575800" y="6248399"/>
            <a:ext cx="5334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500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09</a:t>
            </a:r>
          </a:p>
        </p:txBody>
      </p:sp>
      <p:sp>
        <p:nvSpPr>
          <p:cNvPr id="36" name="Text-32">
            <a:hlinkClick r:id="rId10" action="ppaction://hlinksldjump"/>
            <a:extLst>
              <a:ext uri="{FF2B5EF4-FFF2-40B4-BE49-F238E27FC236}">
                <a16:creationId xmlns:a16="http://schemas.microsoft.com/office/drawing/2014/main" id="{25660680-F9E7-F904-381B-8C561F74DB6B}"/>
              </a:ext>
            </a:extLst>
          </p:cNvPr>
          <p:cNvSpPr txBox="1"/>
          <p:nvPr/>
        </p:nvSpPr>
        <p:spPr>
          <a:xfrm>
            <a:off x="4191000" y="6616699"/>
            <a:ext cx="50800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1600">
                <a:solidFill>
                  <a:srgbClr val="F0E9D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培训后的学生作品</a:t>
            </a:r>
            <a:endParaRPr lang="en-US" sz="1600">
              <a:solidFill>
                <a:srgbClr val="F0E9D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Text-33">
            <a:hlinkClick r:id="rId10" action="ppaction://hlinksldjump"/>
            <a:extLst>
              <a:ext uri="{FF2B5EF4-FFF2-40B4-BE49-F238E27FC236}">
                <a16:creationId xmlns:a16="http://schemas.microsoft.com/office/drawing/2014/main" id="{C3FFC7D4-D1A5-B41F-E07C-C190C2CB1536}"/>
              </a:ext>
            </a:extLst>
          </p:cNvPr>
          <p:cNvSpPr txBox="1"/>
          <p:nvPr/>
        </p:nvSpPr>
        <p:spPr>
          <a:xfrm>
            <a:off x="9575800" y="6616699"/>
            <a:ext cx="5334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500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827683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7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eometry-1">
            <a:extLst>
              <a:ext uri="{FF2B5EF4-FFF2-40B4-BE49-F238E27FC236}">
                <a16:creationId xmlns:a16="http://schemas.microsoft.com/office/drawing/2014/main" id="{5DD565D8-52BE-70AB-0D07-F3CBDCF4A039}"/>
              </a:ext>
            </a:extLst>
          </p:cNvPr>
          <p:cNvSpPr/>
          <p:nvPr/>
        </p:nvSpPr>
        <p:spPr>
          <a:xfrm>
            <a:off x="8763000" y="-825500"/>
            <a:ext cx="2413000" cy="2413000"/>
          </a:xfrm>
          <a:prstGeom prst="ellipse">
            <a:avLst/>
          </a:prstGeom>
          <a:noFill/>
          <a:ln w="8255" cap="flat" cmpd="sng" algn="ctr">
            <a:solidFill>
              <a:srgbClr val="D2B387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Geometry-2">
            <a:extLst>
              <a:ext uri="{FF2B5EF4-FFF2-40B4-BE49-F238E27FC236}">
                <a16:creationId xmlns:a16="http://schemas.microsoft.com/office/drawing/2014/main" id="{048096A4-FD04-DFE8-0D10-2331850DAE40}"/>
              </a:ext>
            </a:extLst>
          </p:cNvPr>
          <p:cNvSpPr/>
          <p:nvPr/>
        </p:nvSpPr>
        <p:spPr>
          <a:xfrm>
            <a:off x="9067800" y="-520700"/>
            <a:ext cx="1803400" cy="1803400"/>
          </a:xfrm>
          <a:prstGeom prst="ellipse">
            <a:avLst/>
          </a:prstGeom>
          <a:noFill/>
          <a:ln w="8255" cap="flat" cmpd="sng" algn="ctr">
            <a:solidFill>
              <a:srgbClr val="D2B387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-34">
            <a:extLst>
              <a:ext uri="{FF2B5EF4-FFF2-40B4-BE49-F238E27FC236}">
                <a16:creationId xmlns:a16="http://schemas.microsoft.com/office/drawing/2014/main" id="{BFCB3254-FB89-67BB-8F04-6ACB263C6AAA}"/>
              </a:ext>
            </a:extLst>
          </p:cNvPr>
          <p:cNvSpPr txBox="1"/>
          <p:nvPr/>
        </p:nvSpPr>
        <p:spPr>
          <a:xfrm>
            <a:off x="584200" y="368299"/>
            <a:ext cx="8255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1200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第一章  </a:t>
            </a:r>
            <a:r>
              <a:rPr lang="en-US" altLang="zh-CN" sz="1200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 </a:t>
            </a:r>
            <a:r>
              <a:rPr lang="zh-CN" altLang="en-US" sz="1200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个人经历</a:t>
            </a:r>
            <a:endParaRPr lang="en-US" sz="1200">
              <a:solidFill>
                <a:srgbClr val="D2B38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-35">
            <a:extLst>
              <a:ext uri="{FF2B5EF4-FFF2-40B4-BE49-F238E27FC236}">
                <a16:creationId xmlns:a16="http://schemas.microsoft.com/office/drawing/2014/main" id="{A8758B46-B373-1407-E979-C43146A026D7}"/>
              </a:ext>
            </a:extLst>
          </p:cNvPr>
          <p:cNvSpPr txBox="1"/>
          <p:nvPr/>
        </p:nvSpPr>
        <p:spPr>
          <a:xfrm>
            <a:off x="584200" y="787399"/>
            <a:ext cx="9525000" cy="698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3200">
                <a:solidFill>
                  <a:srgbClr val="F0E9D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个人经历</a:t>
            </a:r>
            <a:endParaRPr lang="en-US" sz="3200">
              <a:solidFill>
                <a:srgbClr val="F0E9D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A446097E-247B-6FE1-7297-91673FF7EF88}"/>
              </a:ext>
            </a:extLst>
          </p:cNvPr>
          <p:cNvCxnSpPr/>
          <p:nvPr/>
        </p:nvCxnSpPr>
        <p:spPr>
          <a:xfrm>
            <a:off x="584200" y="1600200"/>
            <a:ext cx="9525000" cy="0"/>
          </a:xfrm>
          <a:prstGeom prst="line">
            <a:avLst/>
          </a:prstGeom>
          <a:ln w="11430">
            <a:solidFill>
              <a:srgbClr val="D2B3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15D76935-B998-735E-D434-BB3E3EDFAEA5}"/>
              </a:ext>
            </a:extLst>
          </p:cNvPr>
          <p:cNvCxnSpPr/>
          <p:nvPr/>
        </p:nvCxnSpPr>
        <p:spPr>
          <a:xfrm>
            <a:off x="584200" y="6985000"/>
            <a:ext cx="9525000" cy="0"/>
          </a:xfrm>
          <a:prstGeom prst="line">
            <a:avLst/>
          </a:prstGeom>
          <a:ln w="8255">
            <a:solidFill>
              <a:srgbClr val="3944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-36">
            <a:extLst>
              <a:ext uri="{FF2B5EF4-FFF2-40B4-BE49-F238E27FC236}">
                <a16:creationId xmlns:a16="http://schemas.microsoft.com/office/drawing/2014/main" id="{04C83A2D-1A5D-A1A5-D528-4834DA6A933A}"/>
              </a:ext>
            </a:extLst>
          </p:cNvPr>
          <p:cNvSpPr txBox="1"/>
          <p:nvPr/>
        </p:nvSpPr>
        <p:spPr>
          <a:xfrm>
            <a:off x="584200" y="7137400"/>
            <a:ext cx="8128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105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周尚礼  </a:t>
            </a:r>
            <a:r>
              <a:rPr lang="en-US" altLang="zh-CN" sz="105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 </a:t>
            </a:r>
            <a:r>
              <a:rPr lang="zh-CN" altLang="en-US" sz="105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游戏开发与教学实践</a:t>
            </a:r>
            <a:endParaRPr lang="en-US" sz="1050">
              <a:solidFill>
                <a:srgbClr val="BBB9B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-37">
            <a:extLst>
              <a:ext uri="{FF2B5EF4-FFF2-40B4-BE49-F238E27FC236}">
                <a16:creationId xmlns:a16="http://schemas.microsoft.com/office/drawing/2014/main" id="{CB41EFA8-FD16-D0FA-273A-706C91937430}"/>
              </a:ext>
            </a:extLst>
          </p:cNvPr>
          <p:cNvSpPr txBox="1"/>
          <p:nvPr/>
        </p:nvSpPr>
        <p:spPr>
          <a:xfrm>
            <a:off x="9550400" y="7111999"/>
            <a:ext cx="762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100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 / 10</a:t>
            </a:r>
          </a:p>
        </p:txBody>
      </p:sp>
      <p:pic>
        <p:nvPicPr>
          <p:cNvPr id="11" name="Image-1" descr="hero_image.jpg">
            <a:extLst>
              <a:ext uri="{FF2B5EF4-FFF2-40B4-BE49-F238E27FC236}">
                <a16:creationId xmlns:a16="http://schemas.microsoft.com/office/drawing/2014/main" id="{3AC3806D-5A5D-8287-B606-8B53504B41DF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755" y="1943100"/>
            <a:ext cx="2170590" cy="3238500"/>
          </a:xfrm>
          <a:prstGeom prst="rect">
            <a:avLst/>
          </a:prstGeom>
        </p:spPr>
      </p:pic>
      <p:sp>
        <p:nvSpPr>
          <p:cNvPr id="12" name="Text-38">
            <a:extLst>
              <a:ext uri="{FF2B5EF4-FFF2-40B4-BE49-F238E27FC236}">
                <a16:creationId xmlns:a16="http://schemas.microsoft.com/office/drawing/2014/main" id="{1BBC4E8F-CBCC-80E3-9176-95AB10053862}"/>
              </a:ext>
            </a:extLst>
          </p:cNvPr>
          <p:cNvSpPr txBox="1"/>
          <p:nvPr/>
        </p:nvSpPr>
        <p:spPr>
          <a:xfrm>
            <a:off x="3187700" y="1943099"/>
            <a:ext cx="6921500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2200">
                <a:solidFill>
                  <a:srgbClr val="F0E9D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游戏程序、玩法与关卡设计</a:t>
            </a:r>
            <a:endParaRPr lang="en-US" sz="2200">
              <a:solidFill>
                <a:srgbClr val="F0E9D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" name="Text-39">
            <a:extLst>
              <a:ext uri="{FF2B5EF4-FFF2-40B4-BE49-F238E27FC236}">
                <a16:creationId xmlns:a16="http://schemas.microsoft.com/office/drawing/2014/main" id="{7CCBBEEB-58A6-4059-6C85-A000E8D1E7D5}"/>
              </a:ext>
            </a:extLst>
          </p:cNvPr>
          <p:cNvSpPr txBox="1"/>
          <p:nvPr/>
        </p:nvSpPr>
        <p:spPr>
          <a:xfrm>
            <a:off x="3187700" y="2552699"/>
            <a:ext cx="6921500" cy="1193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155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我本科就读于上海科技大学计算机科学专业，目前在 </a:t>
            </a:r>
            <a:r>
              <a:rPr lang="en-US" altLang="zh-CN" sz="155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SMU Guildhall </a:t>
            </a:r>
            <a:r>
              <a:rPr lang="zh-CN" altLang="en-US" sz="155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学习游戏开发。我使用 </a:t>
            </a:r>
            <a:r>
              <a:rPr lang="en-US" altLang="zh-CN" sz="155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C++ </a:t>
            </a:r>
            <a:r>
              <a:rPr lang="zh-CN" altLang="en-US" sz="155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 </a:t>
            </a:r>
            <a:r>
              <a:rPr lang="en-US" altLang="zh-CN" sz="155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MingEngine</a:t>
            </a:r>
            <a:r>
              <a:rPr lang="zh-CN" altLang="en-US" sz="155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，也在 </a:t>
            </a:r>
            <a:r>
              <a:rPr lang="en-US" altLang="zh-CN" sz="155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Godot</a:t>
            </a:r>
            <a:r>
              <a:rPr lang="zh-CN" altLang="en-US" sz="155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55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Unity </a:t>
            </a:r>
            <a:r>
              <a:rPr lang="zh-CN" altLang="en-US" sz="155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 </a:t>
            </a:r>
            <a:r>
              <a:rPr lang="en-US" altLang="zh-CN" sz="155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Unreal Engine </a:t>
            </a:r>
            <a:r>
              <a:rPr lang="zh-CN" altLang="en-US" sz="155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中参与个人与团队制作，并为游戏社新成员主讲入门培训。</a:t>
            </a:r>
            <a:endParaRPr lang="en-US" sz="1550">
              <a:solidFill>
                <a:srgbClr val="BBB9B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1B3DE653-0C59-2A62-E9F2-8EEC1393E3E1}"/>
              </a:ext>
            </a:extLst>
          </p:cNvPr>
          <p:cNvCxnSpPr/>
          <p:nvPr/>
        </p:nvCxnSpPr>
        <p:spPr>
          <a:xfrm>
            <a:off x="3187700" y="3911600"/>
            <a:ext cx="6921500" cy="0"/>
          </a:xfrm>
          <a:prstGeom prst="line">
            <a:avLst/>
          </a:prstGeom>
          <a:ln w="8255">
            <a:solidFill>
              <a:srgbClr val="3944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-40">
            <a:extLst>
              <a:ext uri="{FF2B5EF4-FFF2-40B4-BE49-F238E27FC236}">
                <a16:creationId xmlns:a16="http://schemas.microsoft.com/office/drawing/2014/main" id="{B55FA45A-BABE-B721-8823-DD6AA1382AE9}"/>
              </a:ext>
            </a:extLst>
          </p:cNvPr>
          <p:cNvSpPr txBox="1"/>
          <p:nvPr/>
        </p:nvSpPr>
        <p:spPr>
          <a:xfrm>
            <a:off x="3187700" y="4140199"/>
            <a:ext cx="30480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>
                <a:solidFill>
                  <a:srgbClr val="D2B38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教育经历</a:t>
            </a:r>
            <a:endParaRPr lang="en-US">
              <a:solidFill>
                <a:srgbClr val="D2B387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6" name="Text-41">
            <a:extLst>
              <a:ext uri="{FF2B5EF4-FFF2-40B4-BE49-F238E27FC236}">
                <a16:creationId xmlns:a16="http://schemas.microsoft.com/office/drawing/2014/main" id="{B9C8A58C-039B-CCF3-7597-2FC67869A3CD}"/>
              </a:ext>
            </a:extLst>
          </p:cNvPr>
          <p:cNvSpPr txBox="1"/>
          <p:nvPr/>
        </p:nvSpPr>
        <p:spPr>
          <a:xfrm>
            <a:off x="3187700" y="4635499"/>
            <a:ext cx="3429000" cy="1028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en-US" altLang="zh-CN" sz="1400">
                <a:solidFill>
                  <a:srgbClr val="F0E9D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2025–2027  SMU Guildhall
</a:t>
            </a:r>
            <a:r>
              <a:rPr lang="zh-CN" altLang="en-US" sz="1400">
                <a:solidFill>
                  <a:srgbClr val="F0E9D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游戏开发研究生课程，程序方向
预计 </a:t>
            </a:r>
            <a:r>
              <a:rPr lang="en-US" altLang="zh-CN" sz="1400">
                <a:solidFill>
                  <a:srgbClr val="F0E9D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2027 </a:t>
            </a:r>
            <a:r>
              <a:rPr lang="zh-CN" altLang="en-US" sz="1400">
                <a:solidFill>
                  <a:srgbClr val="F0E9D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 </a:t>
            </a:r>
            <a:r>
              <a:rPr lang="en-US" altLang="zh-CN" sz="1400">
                <a:solidFill>
                  <a:srgbClr val="F0E9D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 </a:t>
            </a:r>
            <a:r>
              <a:rPr lang="zh-CN" altLang="en-US" sz="1400">
                <a:solidFill>
                  <a:srgbClr val="F0E9D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月毕业</a:t>
            </a:r>
            <a:endParaRPr lang="en-US" sz="1400">
              <a:solidFill>
                <a:srgbClr val="F0E9D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Text-42">
            <a:extLst>
              <a:ext uri="{FF2B5EF4-FFF2-40B4-BE49-F238E27FC236}">
                <a16:creationId xmlns:a16="http://schemas.microsoft.com/office/drawing/2014/main" id="{079985B5-1977-A599-88A8-A7B753A02AE7}"/>
              </a:ext>
            </a:extLst>
          </p:cNvPr>
          <p:cNvSpPr txBox="1"/>
          <p:nvPr/>
        </p:nvSpPr>
        <p:spPr>
          <a:xfrm>
            <a:off x="7010400" y="4635499"/>
            <a:ext cx="3098800" cy="1028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en-US" altLang="zh-CN" sz="1400">
                <a:solidFill>
                  <a:srgbClr val="F0E9D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2021–2025  </a:t>
            </a:r>
            <a:r>
              <a:rPr lang="zh-CN" altLang="en-US" sz="1400">
                <a:solidFill>
                  <a:srgbClr val="F0E9D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上海科技大学
计算机科学本科</a:t>
            </a:r>
            <a:endParaRPr lang="en-US" sz="1400">
              <a:solidFill>
                <a:srgbClr val="F0E9D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8DBD8C7E-6FD7-D810-AF40-0A34FDB74AEC}"/>
              </a:ext>
            </a:extLst>
          </p:cNvPr>
          <p:cNvCxnSpPr/>
          <p:nvPr/>
        </p:nvCxnSpPr>
        <p:spPr>
          <a:xfrm>
            <a:off x="584200" y="5943600"/>
            <a:ext cx="9525000" cy="0"/>
          </a:xfrm>
          <a:prstGeom prst="line">
            <a:avLst/>
          </a:prstGeom>
          <a:ln w="8255">
            <a:solidFill>
              <a:srgbClr val="3944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-43">
            <a:extLst>
              <a:ext uri="{FF2B5EF4-FFF2-40B4-BE49-F238E27FC236}">
                <a16:creationId xmlns:a16="http://schemas.microsoft.com/office/drawing/2014/main" id="{2922D857-3561-6BE9-0F63-BF7CC2120C77}"/>
              </a:ext>
            </a:extLst>
          </p:cNvPr>
          <p:cNvSpPr txBox="1"/>
          <p:nvPr/>
        </p:nvSpPr>
        <p:spPr>
          <a:xfrm>
            <a:off x="584200" y="6184899"/>
            <a:ext cx="21590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>
                <a:solidFill>
                  <a:srgbClr val="D2B38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实习经历</a:t>
            </a:r>
            <a:endParaRPr lang="en-US">
              <a:solidFill>
                <a:srgbClr val="D2B387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0" name="Text-44">
            <a:extLst>
              <a:ext uri="{FF2B5EF4-FFF2-40B4-BE49-F238E27FC236}">
                <a16:creationId xmlns:a16="http://schemas.microsoft.com/office/drawing/2014/main" id="{631B64D0-460F-22EA-123E-35D4A048BAA6}"/>
              </a:ext>
            </a:extLst>
          </p:cNvPr>
          <p:cNvSpPr txBox="1"/>
          <p:nvPr/>
        </p:nvSpPr>
        <p:spPr>
          <a:xfrm>
            <a:off x="2997200" y="6172199"/>
            <a:ext cx="3746500" cy="736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130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腾讯魔方工作室群 </a:t>
            </a:r>
            <a:r>
              <a:rPr lang="en-US" altLang="zh-CN" sz="130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</a:t>
            </a:r>
            <a:r>
              <a:rPr lang="zh-CN" altLang="en-US" sz="130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战斗策划实习
</a:t>
            </a:r>
            <a:r>
              <a:rPr lang="en-US" altLang="zh-CN" sz="130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2024.01–02  </a:t>
            </a:r>
            <a:r>
              <a:rPr lang="zh-CN" altLang="en-US" sz="130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音效与敌人战斗动画配置</a:t>
            </a:r>
            <a:endParaRPr lang="en-US" sz="1300">
              <a:solidFill>
                <a:srgbClr val="BBB9B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Text-45">
            <a:extLst>
              <a:ext uri="{FF2B5EF4-FFF2-40B4-BE49-F238E27FC236}">
                <a16:creationId xmlns:a16="http://schemas.microsoft.com/office/drawing/2014/main" id="{F36D8ABB-132A-6662-0ACE-0807A74ED0B1}"/>
              </a:ext>
            </a:extLst>
          </p:cNvPr>
          <p:cNvSpPr txBox="1"/>
          <p:nvPr/>
        </p:nvSpPr>
        <p:spPr>
          <a:xfrm>
            <a:off x="7010400" y="6172199"/>
            <a:ext cx="3098800" cy="736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130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朝夕光年 </a:t>
            </a:r>
            <a:r>
              <a:rPr lang="en-US" altLang="zh-CN" sz="130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</a:t>
            </a:r>
            <a:r>
              <a:rPr lang="zh-CN" altLang="en-US" sz="130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软件开发实习
</a:t>
            </a:r>
            <a:r>
              <a:rPr lang="en-US" altLang="zh-CN" sz="130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2023.08–12  PyQt </a:t>
            </a:r>
            <a:r>
              <a:rPr lang="zh-CN" altLang="en-US" sz="130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引擎工具链界面</a:t>
            </a:r>
            <a:endParaRPr lang="en-US" sz="1300">
              <a:solidFill>
                <a:srgbClr val="BBB9B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16771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7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eometry-1">
            <a:extLst>
              <a:ext uri="{FF2B5EF4-FFF2-40B4-BE49-F238E27FC236}">
                <a16:creationId xmlns:a16="http://schemas.microsoft.com/office/drawing/2014/main" id="{F301D3F6-0010-E269-5B55-188AB5687B8F}"/>
              </a:ext>
            </a:extLst>
          </p:cNvPr>
          <p:cNvSpPr/>
          <p:nvPr/>
        </p:nvSpPr>
        <p:spPr>
          <a:xfrm>
            <a:off x="9080500" y="-355600"/>
            <a:ext cx="1841500" cy="1397000"/>
          </a:xfrm>
          <a:prstGeom prst="rect">
            <a:avLst/>
          </a:prstGeom>
          <a:noFill/>
          <a:ln w="8255" cap="flat" cmpd="sng" algn="ctr">
            <a:solidFill>
              <a:srgbClr val="D2B387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Geometry-2">
            <a:extLst>
              <a:ext uri="{FF2B5EF4-FFF2-40B4-BE49-F238E27FC236}">
                <a16:creationId xmlns:a16="http://schemas.microsoft.com/office/drawing/2014/main" id="{09732071-896E-2C4C-7393-10C318D0EA42}"/>
              </a:ext>
            </a:extLst>
          </p:cNvPr>
          <p:cNvSpPr/>
          <p:nvPr/>
        </p:nvSpPr>
        <p:spPr>
          <a:xfrm>
            <a:off x="9398000" y="-101600"/>
            <a:ext cx="1841500" cy="1397000"/>
          </a:xfrm>
          <a:prstGeom prst="rect">
            <a:avLst/>
          </a:prstGeom>
          <a:noFill/>
          <a:ln w="8255" cap="flat" cmpd="sng" algn="ctr">
            <a:solidFill>
              <a:srgbClr val="D2B387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-46">
            <a:extLst>
              <a:ext uri="{FF2B5EF4-FFF2-40B4-BE49-F238E27FC236}">
                <a16:creationId xmlns:a16="http://schemas.microsoft.com/office/drawing/2014/main" id="{687A1DF8-42C4-AD26-4B1D-1703088F3406}"/>
              </a:ext>
            </a:extLst>
          </p:cNvPr>
          <p:cNvSpPr txBox="1"/>
          <p:nvPr/>
        </p:nvSpPr>
        <p:spPr>
          <a:xfrm>
            <a:off x="584200" y="368299"/>
            <a:ext cx="8255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1200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第二章  </a:t>
            </a:r>
            <a:r>
              <a:rPr lang="en-US" altLang="zh-CN" sz="1200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 </a:t>
            </a:r>
            <a:r>
              <a:rPr lang="zh-CN" altLang="en-US" sz="1200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具体作品  </a:t>
            </a:r>
            <a:r>
              <a:rPr lang="en-US" altLang="zh-CN" sz="1200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 </a:t>
            </a:r>
            <a:r>
              <a:rPr lang="zh-CN" altLang="en-US" sz="1200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个人作品</a:t>
            </a:r>
            <a:endParaRPr lang="en-US" sz="1200">
              <a:solidFill>
                <a:srgbClr val="D2B38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-47">
            <a:extLst>
              <a:ext uri="{FF2B5EF4-FFF2-40B4-BE49-F238E27FC236}">
                <a16:creationId xmlns:a16="http://schemas.microsoft.com/office/drawing/2014/main" id="{1340FCBC-3AC8-56CC-08C8-627B7E8A2AC4}"/>
              </a:ext>
            </a:extLst>
          </p:cNvPr>
          <p:cNvSpPr txBox="1"/>
          <p:nvPr/>
        </p:nvSpPr>
        <p:spPr>
          <a:xfrm>
            <a:off x="584200" y="787399"/>
            <a:ext cx="9525000" cy="698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3200">
                <a:solidFill>
                  <a:srgbClr val="F0E9D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MingEngine</a:t>
            </a: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02E5E5E8-C390-C9D7-1548-20863B415760}"/>
              </a:ext>
            </a:extLst>
          </p:cNvPr>
          <p:cNvCxnSpPr/>
          <p:nvPr/>
        </p:nvCxnSpPr>
        <p:spPr>
          <a:xfrm>
            <a:off x="584200" y="1600200"/>
            <a:ext cx="9525000" cy="0"/>
          </a:xfrm>
          <a:prstGeom prst="line">
            <a:avLst/>
          </a:prstGeom>
          <a:ln w="11430">
            <a:solidFill>
              <a:srgbClr val="D2B3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356DB50A-9254-BE9C-B04A-A9707F7D6908}"/>
              </a:ext>
            </a:extLst>
          </p:cNvPr>
          <p:cNvCxnSpPr/>
          <p:nvPr/>
        </p:nvCxnSpPr>
        <p:spPr>
          <a:xfrm>
            <a:off x="584200" y="6985000"/>
            <a:ext cx="9525000" cy="0"/>
          </a:xfrm>
          <a:prstGeom prst="line">
            <a:avLst/>
          </a:prstGeom>
          <a:ln w="8255">
            <a:solidFill>
              <a:srgbClr val="3944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-48">
            <a:extLst>
              <a:ext uri="{FF2B5EF4-FFF2-40B4-BE49-F238E27FC236}">
                <a16:creationId xmlns:a16="http://schemas.microsoft.com/office/drawing/2014/main" id="{D1589434-539B-78FC-E5DD-A87C28EC7318}"/>
              </a:ext>
            </a:extLst>
          </p:cNvPr>
          <p:cNvSpPr txBox="1"/>
          <p:nvPr/>
        </p:nvSpPr>
        <p:spPr>
          <a:xfrm>
            <a:off x="584200" y="7137400"/>
            <a:ext cx="8128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105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周尚礼  </a:t>
            </a:r>
            <a:r>
              <a:rPr lang="en-US" altLang="zh-CN" sz="105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 </a:t>
            </a:r>
            <a:r>
              <a:rPr lang="zh-CN" altLang="en-US" sz="105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游戏开发与教学实践</a:t>
            </a:r>
            <a:endParaRPr lang="en-US" sz="1050">
              <a:solidFill>
                <a:srgbClr val="BBB9B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-49">
            <a:extLst>
              <a:ext uri="{FF2B5EF4-FFF2-40B4-BE49-F238E27FC236}">
                <a16:creationId xmlns:a16="http://schemas.microsoft.com/office/drawing/2014/main" id="{D2F62886-58AC-A6E9-FDAA-19C2636826F6}"/>
              </a:ext>
            </a:extLst>
          </p:cNvPr>
          <p:cNvSpPr txBox="1"/>
          <p:nvPr/>
        </p:nvSpPr>
        <p:spPr>
          <a:xfrm>
            <a:off x="9550400" y="7111999"/>
            <a:ext cx="762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100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 / 10</a:t>
            </a:r>
          </a:p>
        </p:txBody>
      </p:sp>
      <p:sp>
        <p:nvSpPr>
          <p:cNvPr id="10" name="Text-50">
            <a:extLst>
              <a:ext uri="{FF2B5EF4-FFF2-40B4-BE49-F238E27FC236}">
                <a16:creationId xmlns:a16="http://schemas.microsoft.com/office/drawing/2014/main" id="{84D66182-14A7-D1E5-C9CD-E7D557057710}"/>
              </a:ext>
            </a:extLst>
          </p:cNvPr>
          <p:cNvSpPr txBox="1"/>
          <p:nvPr/>
        </p:nvSpPr>
        <p:spPr>
          <a:xfrm>
            <a:off x="584200" y="1879599"/>
            <a:ext cx="9525000" cy="609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155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我使用 </a:t>
            </a:r>
            <a:r>
              <a:rPr lang="en-US" sz="155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C++ </a:t>
            </a:r>
            <a:r>
              <a:rPr lang="zh-CN" altLang="en-US" sz="155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开发的 </a:t>
            </a:r>
            <a:r>
              <a:rPr lang="en-US" altLang="zh-CN" sz="155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en-US" sz="155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 </a:t>
            </a:r>
            <a:r>
              <a:rPr lang="zh-CN" altLang="en-US" sz="155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引擎与编辑器，采用 </a:t>
            </a:r>
            <a:r>
              <a:rPr lang="en-US" sz="155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DirectX 11 </a:t>
            </a:r>
            <a:r>
              <a:rPr lang="zh-CN" altLang="en-US" sz="155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渲染，支持 </a:t>
            </a:r>
            <a:r>
              <a:rPr lang="en-US" sz="155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C#/.NET </a:t>
            </a:r>
            <a:r>
              <a:rPr lang="zh-CN" altLang="en-US" sz="155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脚本。</a:t>
            </a:r>
            <a:endParaRPr lang="en-US" sz="1550">
              <a:solidFill>
                <a:srgbClr val="BBB9B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" name="Image-2" descr="ming_engine.png">
            <a:extLst>
              <a:ext uri="{FF2B5EF4-FFF2-40B4-BE49-F238E27FC236}">
                <a16:creationId xmlns:a16="http://schemas.microsoft.com/office/drawing/2014/main" id="{52430B26-EF4E-B865-EAC5-C0BC174C8D39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200" y="2823220"/>
            <a:ext cx="5168900" cy="2786360"/>
          </a:xfrm>
          <a:prstGeom prst="rect">
            <a:avLst/>
          </a:prstGeom>
        </p:spPr>
      </p:pic>
      <p:sp>
        <p:nvSpPr>
          <p:cNvPr id="13" name="Text-51">
            <a:extLst>
              <a:ext uri="{FF2B5EF4-FFF2-40B4-BE49-F238E27FC236}">
                <a16:creationId xmlns:a16="http://schemas.microsoft.com/office/drawing/2014/main" id="{3B1BD703-3D06-A6B0-266C-416892402119}"/>
              </a:ext>
            </a:extLst>
          </p:cNvPr>
          <p:cNvSpPr txBox="1"/>
          <p:nvPr/>
        </p:nvSpPr>
        <p:spPr>
          <a:xfrm>
            <a:off x="584200" y="5841999"/>
            <a:ext cx="5168900" cy="469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110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较早开发阶段的编辑器截图。
原生 </a:t>
            </a:r>
            <a:r>
              <a:rPr lang="en-US" altLang="zh-CN" sz="110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UI </a:t>
            </a:r>
            <a:r>
              <a:rPr lang="zh-CN" altLang="en-US" sz="110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与导出流程仍在完善。</a:t>
            </a:r>
            <a:endParaRPr lang="en-US" sz="1100">
              <a:solidFill>
                <a:srgbClr val="BBB9B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Text-52">
            <a:extLst>
              <a:ext uri="{FF2B5EF4-FFF2-40B4-BE49-F238E27FC236}">
                <a16:creationId xmlns:a16="http://schemas.microsoft.com/office/drawing/2014/main" id="{BEEDA19E-FF91-DB3E-7C6D-A274690A843E}"/>
              </a:ext>
            </a:extLst>
          </p:cNvPr>
          <p:cNvSpPr txBox="1"/>
          <p:nvPr/>
        </p:nvSpPr>
        <p:spPr>
          <a:xfrm>
            <a:off x="6096000" y="2743199"/>
            <a:ext cx="3175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100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</a:p>
        </p:txBody>
      </p:sp>
      <p:sp>
        <p:nvSpPr>
          <p:cNvPr id="15" name="Text-53">
            <a:extLst>
              <a:ext uri="{FF2B5EF4-FFF2-40B4-BE49-F238E27FC236}">
                <a16:creationId xmlns:a16="http://schemas.microsoft.com/office/drawing/2014/main" id="{8428A1AF-56E2-2B66-65CD-EE8AA38C4842}"/>
              </a:ext>
            </a:extLst>
          </p:cNvPr>
          <p:cNvSpPr txBox="1"/>
          <p:nvPr/>
        </p:nvSpPr>
        <p:spPr>
          <a:xfrm>
            <a:off x="6464300" y="2717799"/>
            <a:ext cx="36449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>
                <a:solidFill>
                  <a:srgbClr val="F0E9D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节点与资源</a:t>
            </a:r>
            <a:endParaRPr lang="en-US">
              <a:solidFill>
                <a:srgbClr val="F0E9D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6" name="Text-54">
            <a:extLst>
              <a:ext uri="{FF2B5EF4-FFF2-40B4-BE49-F238E27FC236}">
                <a16:creationId xmlns:a16="http://schemas.microsoft.com/office/drawing/2014/main" id="{141ABFAD-46B5-E47B-6B65-7637E4F8420D}"/>
              </a:ext>
            </a:extLst>
          </p:cNvPr>
          <p:cNvSpPr txBox="1"/>
          <p:nvPr/>
        </p:nvSpPr>
        <p:spPr>
          <a:xfrm>
            <a:off x="6464300" y="3111499"/>
            <a:ext cx="3644900" cy="533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150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将场景对象、序列化数据和渲染提交分开。</a:t>
            </a:r>
            <a:endParaRPr lang="en-US" sz="1500">
              <a:solidFill>
                <a:srgbClr val="BBB9B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Text-55">
            <a:extLst>
              <a:ext uri="{FF2B5EF4-FFF2-40B4-BE49-F238E27FC236}">
                <a16:creationId xmlns:a16="http://schemas.microsoft.com/office/drawing/2014/main" id="{94029282-DC37-741F-7615-2D4361D4215D}"/>
              </a:ext>
            </a:extLst>
          </p:cNvPr>
          <p:cNvSpPr txBox="1"/>
          <p:nvPr/>
        </p:nvSpPr>
        <p:spPr>
          <a:xfrm>
            <a:off x="6096000" y="3657599"/>
            <a:ext cx="3175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100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</a:p>
        </p:txBody>
      </p:sp>
      <p:sp>
        <p:nvSpPr>
          <p:cNvPr id="18" name="Text-56">
            <a:extLst>
              <a:ext uri="{FF2B5EF4-FFF2-40B4-BE49-F238E27FC236}">
                <a16:creationId xmlns:a16="http://schemas.microsoft.com/office/drawing/2014/main" id="{140C6484-95F4-769F-7340-E3151A2B0E19}"/>
              </a:ext>
            </a:extLst>
          </p:cNvPr>
          <p:cNvSpPr txBox="1"/>
          <p:nvPr/>
        </p:nvSpPr>
        <p:spPr>
          <a:xfrm>
            <a:off x="6464300" y="3632199"/>
            <a:ext cx="36449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en-US">
                <a:solidFill>
                  <a:srgbClr val="F0E9D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DirectX 11 </a:t>
            </a:r>
            <a:r>
              <a:rPr lang="zh-CN" altLang="en-US">
                <a:solidFill>
                  <a:srgbClr val="F0E9D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渲染</a:t>
            </a:r>
            <a:endParaRPr lang="en-US">
              <a:solidFill>
                <a:srgbClr val="F0E9D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9" name="Text-57">
            <a:extLst>
              <a:ext uri="{FF2B5EF4-FFF2-40B4-BE49-F238E27FC236}">
                <a16:creationId xmlns:a16="http://schemas.microsoft.com/office/drawing/2014/main" id="{D1CF79BC-9B89-15E7-6EA7-4397A7432B97}"/>
              </a:ext>
            </a:extLst>
          </p:cNvPr>
          <p:cNvSpPr txBox="1"/>
          <p:nvPr/>
        </p:nvSpPr>
        <p:spPr>
          <a:xfrm>
            <a:off x="6464300" y="4025899"/>
            <a:ext cx="3644900" cy="533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150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材质纹理、方向光与点光源、粒子及后处理。</a:t>
            </a:r>
            <a:endParaRPr lang="en-US" sz="1500">
              <a:solidFill>
                <a:srgbClr val="BBB9B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Text-58">
            <a:extLst>
              <a:ext uri="{FF2B5EF4-FFF2-40B4-BE49-F238E27FC236}">
                <a16:creationId xmlns:a16="http://schemas.microsoft.com/office/drawing/2014/main" id="{B7EF12DF-CA9D-4C02-DD15-6F9196E995AD}"/>
              </a:ext>
            </a:extLst>
          </p:cNvPr>
          <p:cNvSpPr txBox="1"/>
          <p:nvPr/>
        </p:nvSpPr>
        <p:spPr>
          <a:xfrm>
            <a:off x="6096000" y="4571999"/>
            <a:ext cx="3175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100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</a:p>
        </p:txBody>
      </p:sp>
      <p:sp>
        <p:nvSpPr>
          <p:cNvPr id="21" name="Text-59">
            <a:extLst>
              <a:ext uri="{FF2B5EF4-FFF2-40B4-BE49-F238E27FC236}">
                <a16:creationId xmlns:a16="http://schemas.microsoft.com/office/drawing/2014/main" id="{CD1BDA23-4557-D7D2-0746-1E2002DE5932}"/>
              </a:ext>
            </a:extLst>
          </p:cNvPr>
          <p:cNvSpPr txBox="1"/>
          <p:nvPr/>
        </p:nvSpPr>
        <p:spPr>
          <a:xfrm>
            <a:off x="6464300" y="4546599"/>
            <a:ext cx="36449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>
                <a:solidFill>
                  <a:srgbClr val="F0E9D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编辑器与资源导入</a:t>
            </a:r>
            <a:endParaRPr lang="en-US">
              <a:solidFill>
                <a:srgbClr val="F0E9D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2" name="Text-60">
            <a:extLst>
              <a:ext uri="{FF2B5EF4-FFF2-40B4-BE49-F238E27FC236}">
                <a16:creationId xmlns:a16="http://schemas.microsoft.com/office/drawing/2014/main" id="{1F5CECFA-08B9-3B5B-934E-B7284F2C3B31}"/>
              </a:ext>
            </a:extLst>
          </p:cNvPr>
          <p:cNvSpPr txBox="1"/>
          <p:nvPr/>
        </p:nvSpPr>
        <p:spPr>
          <a:xfrm>
            <a:off x="6464300" y="4940299"/>
            <a:ext cx="3644900" cy="533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150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层级、属性检查与 </a:t>
            </a:r>
            <a:r>
              <a:rPr lang="en-US" altLang="zh-CN" sz="150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Gizmo</a:t>
            </a:r>
            <a:r>
              <a:rPr lang="zh-CN" altLang="en-US" sz="150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，支持资源导入。</a:t>
            </a:r>
            <a:endParaRPr lang="en-US" sz="1500">
              <a:solidFill>
                <a:srgbClr val="BBB9B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Text-61">
            <a:extLst>
              <a:ext uri="{FF2B5EF4-FFF2-40B4-BE49-F238E27FC236}">
                <a16:creationId xmlns:a16="http://schemas.microsoft.com/office/drawing/2014/main" id="{69A6D106-9A3C-FDDE-DEEE-CCDC74EB8C13}"/>
              </a:ext>
            </a:extLst>
          </p:cNvPr>
          <p:cNvSpPr txBox="1"/>
          <p:nvPr/>
        </p:nvSpPr>
        <p:spPr>
          <a:xfrm>
            <a:off x="6096000" y="5486399"/>
            <a:ext cx="3175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100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</a:p>
        </p:txBody>
      </p:sp>
      <p:sp>
        <p:nvSpPr>
          <p:cNvPr id="24" name="Text-62">
            <a:extLst>
              <a:ext uri="{FF2B5EF4-FFF2-40B4-BE49-F238E27FC236}">
                <a16:creationId xmlns:a16="http://schemas.microsoft.com/office/drawing/2014/main" id="{9E2379A4-96E5-8C7E-5FC5-833F8B64A4F1}"/>
              </a:ext>
            </a:extLst>
          </p:cNvPr>
          <p:cNvSpPr txBox="1"/>
          <p:nvPr/>
        </p:nvSpPr>
        <p:spPr>
          <a:xfrm>
            <a:off x="6464300" y="5460999"/>
            <a:ext cx="36449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en-US">
                <a:solidFill>
                  <a:srgbClr val="F0E9D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C#/.NET </a:t>
            </a:r>
            <a:r>
              <a:rPr lang="zh-CN" altLang="en-US">
                <a:solidFill>
                  <a:srgbClr val="F0E9D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集成</a:t>
            </a:r>
            <a:endParaRPr lang="en-US">
              <a:solidFill>
                <a:srgbClr val="F0E9D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5" name="Text-63">
            <a:extLst>
              <a:ext uri="{FF2B5EF4-FFF2-40B4-BE49-F238E27FC236}">
                <a16:creationId xmlns:a16="http://schemas.microsoft.com/office/drawing/2014/main" id="{18A099C7-66C3-6262-D8BA-4D42B469EBFA}"/>
              </a:ext>
            </a:extLst>
          </p:cNvPr>
          <p:cNvSpPr txBox="1"/>
          <p:nvPr/>
        </p:nvSpPr>
        <p:spPr>
          <a:xfrm>
            <a:off x="6464300" y="5854699"/>
            <a:ext cx="3644900" cy="533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150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 </a:t>
            </a:r>
            <a:r>
              <a:rPr lang="en-US" altLang="zh-CN" sz="150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hostfxr </a:t>
            </a:r>
            <a:r>
              <a:rPr lang="zh-CN" altLang="en-US" sz="150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与生成绑定接入 </a:t>
            </a:r>
            <a:r>
              <a:rPr lang="en-US" altLang="zh-CN" sz="150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C# </a:t>
            </a:r>
            <a:r>
              <a:rPr lang="zh-CN" altLang="en-US" sz="150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脚本。</a:t>
            </a:r>
            <a:endParaRPr lang="en-US" sz="1500">
              <a:solidFill>
                <a:srgbClr val="BBB9B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Text-64">
            <a:extLst>
              <a:ext uri="{FF2B5EF4-FFF2-40B4-BE49-F238E27FC236}">
                <a16:creationId xmlns:a16="http://schemas.microsoft.com/office/drawing/2014/main" id="{02E774FC-576B-B76E-2B96-AA9D30592FA7}"/>
              </a:ext>
            </a:extLst>
          </p:cNvPr>
          <p:cNvSpPr txBox="1"/>
          <p:nvPr/>
        </p:nvSpPr>
        <p:spPr>
          <a:xfrm>
            <a:off x="584200" y="6362699"/>
            <a:ext cx="9525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1200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我的职责：</a:t>
            </a:r>
            <a:r>
              <a:rPr lang="zh-CN" altLang="en-US" sz="1200">
                <a:solidFill>
                  <a:srgbClr val="F0E9D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独立完成架构、渲染、资源管线、编辑器与脚本集成。</a:t>
            </a:r>
            <a:endParaRPr lang="en-US" sz="1200">
              <a:solidFill>
                <a:srgbClr val="F0E9D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Text-65">
            <a:hlinkClick r:id="rId4"/>
            <a:extLst>
              <a:ext uri="{FF2B5EF4-FFF2-40B4-BE49-F238E27FC236}">
                <a16:creationId xmlns:a16="http://schemas.microsoft.com/office/drawing/2014/main" id="{A9083749-48B2-23FE-0473-FDE55E875813}"/>
              </a:ext>
            </a:extLst>
          </p:cNvPr>
          <p:cNvSpPr txBox="1"/>
          <p:nvPr/>
        </p:nvSpPr>
        <p:spPr>
          <a:xfrm>
            <a:off x="584200" y="6667499"/>
            <a:ext cx="9525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1150" u="sng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4"/>
              </a:rPr>
              <a:t>博客项目页  </a:t>
            </a:r>
            <a:r>
              <a:rPr lang="en-US" altLang="zh-CN" sz="1150" u="sng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4"/>
              </a:rPr>
              <a:t>/  </a:t>
            </a:r>
            <a:r>
              <a:rPr lang="en-US" sz="1150" u="sng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4"/>
              </a:rPr>
              <a:t>zhoushangli.github.io/projects/ming-engine/</a:t>
            </a:r>
            <a:endParaRPr lang="en-US" sz="1150" u="sng">
              <a:solidFill>
                <a:srgbClr val="D2B38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010557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7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eometry-1">
            <a:extLst>
              <a:ext uri="{FF2B5EF4-FFF2-40B4-BE49-F238E27FC236}">
                <a16:creationId xmlns:a16="http://schemas.microsoft.com/office/drawing/2014/main" id="{5322A2B0-E468-60B1-65E8-5CF8FE4D01BE}"/>
              </a:ext>
            </a:extLst>
          </p:cNvPr>
          <p:cNvSpPr/>
          <p:nvPr/>
        </p:nvSpPr>
        <p:spPr>
          <a:xfrm>
            <a:off x="9080500" y="-355600"/>
            <a:ext cx="1841500" cy="1397000"/>
          </a:xfrm>
          <a:prstGeom prst="rect">
            <a:avLst/>
          </a:prstGeom>
          <a:noFill/>
          <a:ln w="8255" cap="flat" cmpd="sng" algn="ctr">
            <a:solidFill>
              <a:srgbClr val="D2B387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Geometry-2">
            <a:extLst>
              <a:ext uri="{FF2B5EF4-FFF2-40B4-BE49-F238E27FC236}">
                <a16:creationId xmlns:a16="http://schemas.microsoft.com/office/drawing/2014/main" id="{B4CCB429-C394-EC04-05AC-8B935C535D3E}"/>
              </a:ext>
            </a:extLst>
          </p:cNvPr>
          <p:cNvSpPr/>
          <p:nvPr/>
        </p:nvSpPr>
        <p:spPr>
          <a:xfrm>
            <a:off x="9398000" y="-101600"/>
            <a:ext cx="1841500" cy="1397000"/>
          </a:xfrm>
          <a:prstGeom prst="rect">
            <a:avLst/>
          </a:prstGeom>
          <a:noFill/>
          <a:ln w="8255" cap="flat" cmpd="sng" algn="ctr">
            <a:solidFill>
              <a:srgbClr val="D2B387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-66">
            <a:extLst>
              <a:ext uri="{FF2B5EF4-FFF2-40B4-BE49-F238E27FC236}">
                <a16:creationId xmlns:a16="http://schemas.microsoft.com/office/drawing/2014/main" id="{CFB7002F-87AA-8387-4835-4D5523C43BF2}"/>
              </a:ext>
            </a:extLst>
          </p:cNvPr>
          <p:cNvSpPr txBox="1"/>
          <p:nvPr/>
        </p:nvSpPr>
        <p:spPr>
          <a:xfrm>
            <a:off x="584200" y="368299"/>
            <a:ext cx="8255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1200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第二章  </a:t>
            </a:r>
            <a:r>
              <a:rPr lang="en-US" altLang="zh-CN" sz="1200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 </a:t>
            </a:r>
            <a:r>
              <a:rPr lang="zh-CN" altLang="en-US" sz="1200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具体作品  </a:t>
            </a:r>
            <a:r>
              <a:rPr lang="en-US" altLang="zh-CN" sz="1200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 </a:t>
            </a:r>
            <a:r>
              <a:rPr lang="zh-CN" altLang="en-US" sz="1200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个人作品</a:t>
            </a:r>
            <a:endParaRPr lang="en-US" sz="1200">
              <a:solidFill>
                <a:srgbClr val="D2B38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-67">
            <a:extLst>
              <a:ext uri="{FF2B5EF4-FFF2-40B4-BE49-F238E27FC236}">
                <a16:creationId xmlns:a16="http://schemas.microsoft.com/office/drawing/2014/main" id="{ED8DE348-424E-EE4A-A15B-B088FC213EB9}"/>
              </a:ext>
            </a:extLst>
          </p:cNvPr>
          <p:cNvSpPr txBox="1"/>
          <p:nvPr/>
        </p:nvSpPr>
        <p:spPr>
          <a:xfrm>
            <a:off x="584200" y="787399"/>
            <a:ext cx="9525000" cy="698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3200">
                <a:solidFill>
                  <a:srgbClr val="F0E9D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Doomenstein</a:t>
            </a: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A13FD5FD-11FA-420F-4600-715485F70BBE}"/>
              </a:ext>
            </a:extLst>
          </p:cNvPr>
          <p:cNvCxnSpPr/>
          <p:nvPr/>
        </p:nvCxnSpPr>
        <p:spPr>
          <a:xfrm>
            <a:off x="584200" y="1600200"/>
            <a:ext cx="9525000" cy="0"/>
          </a:xfrm>
          <a:prstGeom prst="line">
            <a:avLst/>
          </a:prstGeom>
          <a:ln w="11430">
            <a:solidFill>
              <a:srgbClr val="D2B3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C2EC6568-2E19-8614-5322-6D24B657D64C}"/>
              </a:ext>
            </a:extLst>
          </p:cNvPr>
          <p:cNvCxnSpPr/>
          <p:nvPr/>
        </p:nvCxnSpPr>
        <p:spPr>
          <a:xfrm>
            <a:off x="584200" y="6985000"/>
            <a:ext cx="9525000" cy="0"/>
          </a:xfrm>
          <a:prstGeom prst="line">
            <a:avLst/>
          </a:prstGeom>
          <a:ln w="8255">
            <a:solidFill>
              <a:srgbClr val="3944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-68">
            <a:extLst>
              <a:ext uri="{FF2B5EF4-FFF2-40B4-BE49-F238E27FC236}">
                <a16:creationId xmlns:a16="http://schemas.microsoft.com/office/drawing/2014/main" id="{64E1ED95-E753-9665-4DA3-DD2F44946066}"/>
              </a:ext>
            </a:extLst>
          </p:cNvPr>
          <p:cNvSpPr txBox="1"/>
          <p:nvPr/>
        </p:nvSpPr>
        <p:spPr>
          <a:xfrm>
            <a:off x="584200" y="7137400"/>
            <a:ext cx="8128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105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周尚礼  </a:t>
            </a:r>
            <a:r>
              <a:rPr lang="en-US" altLang="zh-CN" sz="105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 </a:t>
            </a:r>
            <a:r>
              <a:rPr lang="zh-CN" altLang="en-US" sz="105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游戏开发与教学实践</a:t>
            </a:r>
            <a:endParaRPr lang="en-US" sz="1050">
              <a:solidFill>
                <a:srgbClr val="BBB9B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-69">
            <a:extLst>
              <a:ext uri="{FF2B5EF4-FFF2-40B4-BE49-F238E27FC236}">
                <a16:creationId xmlns:a16="http://schemas.microsoft.com/office/drawing/2014/main" id="{01BC8DE6-7900-7F1F-E18B-09E2CB8358B2}"/>
              </a:ext>
            </a:extLst>
          </p:cNvPr>
          <p:cNvSpPr txBox="1"/>
          <p:nvPr/>
        </p:nvSpPr>
        <p:spPr>
          <a:xfrm>
            <a:off x="9550400" y="7111999"/>
            <a:ext cx="762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100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05 / 10</a:t>
            </a:r>
          </a:p>
        </p:txBody>
      </p:sp>
      <p:sp>
        <p:nvSpPr>
          <p:cNvPr id="10" name="Text-70">
            <a:extLst>
              <a:ext uri="{FF2B5EF4-FFF2-40B4-BE49-F238E27FC236}">
                <a16:creationId xmlns:a16="http://schemas.microsoft.com/office/drawing/2014/main" id="{585CEC21-9ADA-0EA2-1D83-477155E5A863}"/>
              </a:ext>
            </a:extLst>
          </p:cNvPr>
          <p:cNvSpPr txBox="1"/>
          <p:nvPr/>
        </p:nvSpPr>
        <p:spPr>
          <a:xfrm>
            <a:off x="584200" y="1879599"/>
            <a:ext cx="9525000" cy="609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155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基于自研 </a:t>
            </a:r>
            <a:r>
              <a:rPr lang="en-US" altLang="zh-CN" sz="155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C++ </a:t>
            </a:r>
            <a:r>
              <a:rPr lang="zh-CN" altLang="en-US" sz="155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引擎制作的复古 </a:t>
            </a:r>
            <a:r>
              <a:rPr lang="en-US" altLang="zh-CN" sz="155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3D </a:t>
            </a:r>
            <a:r>
              <a:rPr lang="zh-CN" altLang="en-US" sz="155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第一人称射击原型，支持本地双人游玩。</a:t>
            </a:r>
            <a:endParaRPr lang="en-US" sz="1550">
              <a:solidFill>
                <a:srgbClr val="BBB9B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" name="Image-3" descr="doomenstein_game-cropped.png">
            <a:extLst>
              <a:ext uri="{FF2B5EF4-FFF2-40B4-BE49-F238E27FC236}">
                <a16:creationId xmlns:a16="http://schemas.microsoft.com/office/drawing/2014/main" id="{F813349B-A89B-8633-C84B-AC7BC6274354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200" y="2762647"/>
            <a:ext cx="5168900" cy="2907506"/>
          </a:xfrm>
          <a:prstGeom prst="rect">
            <a:avLst/>
          </a:prstGeom>
        </p:spPr>
      </p:pic>
      <p:sp>
        <p:nvSpPr>
          <p:cNvPr id="13" name="Text-71">
            <a:extLst>
              <a:ext uri="{FF2B5EF4-FFF2-40B4-BE49-F238E27FC236}">
                <a16:creationId xmlns:a16="http://schemas.microsoft.com/office/drawing/2014/main" id="{26818B84-29ED-33F5-72B9-EDC4B917AA97}"/>
              </a:ext>
            </a:extLst>
          </p:cNvPr>
          <p:cNvSpPr txBox="1"/>
          <p:nvPr/>
        </p:nvSpPr>
        <p:spPr>
          <a:xfrm>
            <a:off x="584200" y="5841999"/>
            <a:ext cx="5168900" cy="469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110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自研引擎中的游戏画面。</a:t>
            </a:r>
            <a:endParaRPr lang="en-US" sz="1100">
              <a:solidFill>
                <a:srgbClr val="BBB9B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Text-72">
            <a:extLst>
              <a:ext uri="{FF2B5EF4-FFF2-40B4-BE49-F238E27FC236}">
                <a16:creationId xmlns:a16="http://schemas.microsoft.com/office/drawing/2014/main" id="{02F7F337-1EA3-7DC9-F41C-984FEE48AE93}"/>
              </a:ext>
            </a:extLst>
          </p:cNvPr>
          <p:cNvSpPr txBox="1"/>
          <p:nvPr/>
        </p:nvSpPr>
        <p:spPr>
          <a:xfrm>
            <a:off x="6096000" y="2743199"/>
            <a:ext cx="3175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100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</a:p>
        </p:txBody>
      </p:sp>
      <p:sp>
        <p:nvSpPr>
          <p:cNvPr id="15" name="Text-73">
            <a:extLst>
              <a:ext uri="{FF2B5EF4-FFF2-40B4-BE49-F238E27FC236}">
                <a16:creationId xmlns:a16="http://schemas.microsoft.com/office/drawing/2014/main" id="{8D486BB7-5855-D843-1BF4-2D80D1F2DF14}"/>
              </a:ext>
            </a:extLst>
          </p:cNvPr>
          <p:cNvSpPr txBox="1"/>
          <p:nvPr/>
        </p:nvSpPr>
        <p:spPr>
          <a:xfrm>
            <a:off x="6464300" y="2717799"/>
            <a:ext cx="36449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>
                <a:solidFill>
                  <a:srgbClr val="F0E9D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八方向精灵</a:t>
            </a:r>
            <a:endParaRPr lang="en-US">
              <a:solidFill>
                <a:srgbClr val="F0E9D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6" name="Text-74">
            <a:extLst>
              <a:ext uri="{FF2B5EF4-FFF2-40B4-BE49-F238E27FC236}">
                <a16:creationId xmlns:a16="http://schemas.microsoft.com/office/drawing/2014/main" id="{B5FC6FCE-54C9-A841-8C5D-A8DBE89ADC8A}"/>
              </a:ext>
            </a:extLst>
          </p:cNvPr>
          <p:cNvSpPr txBox="1"/>
          <p:nvPr/>
        </p:nvSpPr>
        <p:spPr>
          <a:xfrm>
            <a:off x="6464300" y="3111499"/>
            <a:ext cx="3644900" cy="533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150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用不同朝向的精灵表现复古角色与敌人。</a:t>
            </a:r>
            <a:endParaRPr lang="en-US" sz="1500">
              <a:solidFill>
                <a:srgbClr val="BBB9B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Text-75">
            <a:extLst>
              <a:ext uri="{FF2B5EF4-FFF2-40B4-BE49-F238E27FC236}">
                <a16:creationId xmlns:a16="http://schemas.microsoft.com/office/drawing/2014/main" id="{42E9A4E2-DCF7-8D98-37C4-DCDDAE29270E}"/>
              </a:ext>
            </a:extLst>
          </p:cNvPr>
          <p:cNvSpPr txBox="1"/>
          <p:nvPr/>
        </p:nvSpPr>
        <p:spPr>
          <a:xfrm>
            <a:off x="6096000" y="3657599"/>
            <a:ext cx="3175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100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</a:p>
        </p:txBody>
      </p:sp>
      <p:sp>
        <p:nvSpPr>
          <p:cNvPr id="18" name="Text-76">
            <a:extLst>
              <a:ext uri="{FF2B5EF4-FFF2-40B4-BE49-F238E27FC236}">
                <a16:creationId xmlns:a16="http://schemas.microsoft.com/office/drawing/2014/main" id="{D6854F5C-CBAF-8444-6920-39DFE4D94870}"/>
              </a:ext>
            </a:extLst>
          </p:cNvPr>
          <p:cNvSpPr txBox="1"/>
          <p:nvPr/>
        </p:nvSpPr>
        <p:spPr>
          <a:xfrm>
            <a:off x="6464300" y="3632199"/>
            <a:ext cx="36449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>
                <a:solidFill>
                  <a:srgbClr val="F0E9D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本地双人输入</a:t>
            </a:r>
            <a:endParaRPr lang="en-US">
              <a:solidFill>
                <a:srgbClr val="F0E9D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9" name="Text-77">
            <a:extLst>
              <a:ext uri="{FF2B5EF4-FFF2-40B4-BE49-F238E27FC236}">
                <a16:creationId xmlns:a16="http://schemas.microsoft.com/office/drawing/2014/main" id="{B28327BC-ACC9-1313-661D-B8CF01B56F13}"/>
              </a:ext>
            </a:extLst>
          </p:cNvPr>
          <p:cNvSpPr txBox="1"/>
          <p:nvPr/>
        </p:nvSpPr>
        <p:spPr>
          <a:xfrm>
            <a:off x="6464300" y="4025899"/>
            <a:ext cx="3644900" cy="533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150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组织玩家实例，支持键鼠与 </a:t>
            </a:r>
            <a:r>
              <a:rPr lang="en-US" altLang="zh-CN" sz="150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Xbox </a:t>
            </a:r>
            <a:r>
              <a:rPr lang="zh-CN" altLang="en-US" sz="150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手柄。</a:t>
            </a:r>
            <a:endParaRPr lang="en-US" sz="1500">
              <a:solidFill>
                <a:srgbClr val="BBB9B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Text-78">
            <a:extLst>
              <a:ext uri="{FF2B5EF4-FFF2-40B4-BE49-F238E27FC236}">
                <a16:creationId xmlns:a16="http://schemas.microsoft.com/office/drawing/2014/main" id="{6BB76F48-3E45-775A-9B9A-DD313335E4D0}"/>
              </a:ext>
            </a:extLst>
          </p:cNvPr>
          <p:cNvSpPr txBox="1"/>
          <p:nvPr/>
        </p:nvSpPr>
        <p:spPr>
          <a:xfrm>
            <a:off x="6096000" y="4571999"/>
            <a:ext cx="3175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100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</a:p>
        </p:txBody>
      </p:sp>
      <p:sp>
        <p:nvSpPr>
          <p:cNvPr id="21" name="Text-79">
            <a:extLst>
              <a:ext uri="{FF2B5EF4-FFF2-40B4-BE49-F238E27FC236}">
                <a16:creationId xmlns:a16="http://schemas.microsoft.com/office/drawing/2014/main" id="{8BF6D905-8727-D388-FA35-BCD0F74141BF}"/>
              </a:ext>
            </a:extLst>
          </p:cNvPr>
          <p:cNvSpPr txBox="1"/>
          <p:nvPr/>
        </p:nvSpPr>
        <p:spPr>
          <a:xfrm>
            <a:off x="6464300" y="4546599"/>
            <a:ext cx="36449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>
                <a:solidFill>
                  <a:srgbClr val="F0E9D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模型与简单 </a:t>
            </a:r>
            <a:r>
              <a:rPr lang="en-US">
                <a:solidFill>
                  <a:srgbClr val="F0E9D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IK</a:t>
            </a:r>
          </a:p>
        </p:txBody>
      </p:sp>
      <p:sp>
        <p:nvSpPr>
          <p:cNvPr id="22" name="Text-80">
            <a:extLst>
              <a:ext uri="{FF2B5EF4-FFF2-40B4-BE49-F238E27FC236}">
                <a16:creationId xmlns:a16="http://schemas.microsoft.com/office/drawing/2014/main" id="{57250815-97BA-63FB-4769-25883FF524A6}"/>
              </a:ext>
            </a:extLst>
          </p:cNvPr>
          <p:cNvSpPr txBox="1"/>
          <p:nvPr/>
        </p:nvSpPr>
        <p:spPr>
          <a:xfrm>
            <a:off x="6464300" y="4940299"/>
            <a:ext cx="3644900" cy="533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150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加载 </a:t>
            </a:r>
            <a:r>
              <a:rPr lang="en-US" altLang="zh-CN" sz="150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OBJ </a:t>
            </a:r>
            <a:r>
              <a:rPr lang="zh-CN" altLang="en-US" sz="150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模型，为蜘蛛敌人实现简单 </a:t>
            </a:r>
            <a:r>
              <a:rPr lang="en-US" altLang="zh-CN" sz="150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IK</a:t>
            </a:r>
            <a:r>
              <a:rPr lang="zh-CN" altLang="en-US" sz="150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sz="1500">
              <a:solidFill>
                <a:srgbClr val="BBB9B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Text-81">
            <a:extLst>
              <a:ext uri="{FF2B5EF4-FFF2-40B4-BE49-F238E27FC236}">
                <a16:creationId xmlns:a16="http://schemas.microsoft.com/office/drawing/2014/main" id="{999705DD-C46E-2C1E-5BF4-A955DC6A659C}"/>
              </a:ext>
            </a:extLst>
          </p:cNvPr>
          <p:cNvSpPr txBox="1"/>
          <p:nvPr/>
        </p:nvSpPr>
        <p:spPr>
          <a:xfrm>
            <a:off x="6096000" y="5486399"/>
            <a:ext cx="3175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100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</a:p>
        </p:txBody>
      </p:sp>
      <p:sp>
        <p:nvSpPr>
          <p:cNvPr id="24" name="Text-82">
            <a:extLst>
              <a:ext uri="{FF2B5EF4-FFF2-40B4-BE49-F238E27FC236}">
                <a16:creationId xmlns:a16="http://schemas.microsoft.com/office/drawing/2014/main" id="{5BEEE1AE-95E7-5D4F-9565-0FBA286C1AAC}"/>
              </a:ext>
            </a:extLst>
          </p:cNvPr>
          <p:cNvSpPr txBox="1"/>
          <p:nvPr/>
        </p:nvSpPr>
        <p:spPr>
          <a:xfrm>
            <a:off x="6464300" y="5460999"/>
            <a:ext cx="36449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>
                <a:solidFill>
                  <a:srgbClr val="F0E9D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粒子与后处理</a:t>
            </a:r>
            <a:endParaRPr lang="en-US">
              <a:solidFill>
                <a:srgbClr val="F0E9D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5" name="Text-83">
            <a:extLst>
              <a:ext uri="{FF2B5EF4-FFF2-40B4-BE49-F238E27FC236}">
                <a16:creationId xmlns:a16="http://schemas.microsoft.com/office/drawing/2014/main" id="{8B42DCAA-237A-63A6-6B14-8648839705D1}"/>
              </a:ext>
            </a:extLst>
          </p:cNvPr>
          <p:cNvSpPr txBox="1"/>
          <p:nvPr/>
        </p:nvSpPr>
        <p:spPr>
          <a:xfrm>
            <a:off x="6464300" y="5854699"/>
            <a:ext cx="3644900" cy="533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150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结合 </a:t>
            </a:r>
            <a:r>
              <a:rPr lang="en-US" altLang="zh-CN" sz="150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 </a:t>
            </a:r>
            <a:r>
              <a:rPr lang="zh-CN" altLang="en-US" sz="150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粒子、体积云和自发光塑造场景。</a:t>
            </a:r>
            <a:endParaRPr lang="en-US" sz="1500">
              <a:solidFill>
                <a:srgbClr val="BBB9B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Text-84">
            <a:extLst>
              <a:ext uri="{FF2B5EF4-FFF2-40B4-BE49-F238E27FC236}">
                <a16:creationId xmlns:a16="http://schemas.microsoft.com/office/drawing/2014/main" id="{58958F4A-FDB7-A22D-5D06-F6032056FA2A}"/>
              </a:ext>
            </a:extLst>
          </p:cNvPr>
          <p:cNvSpPr txBox="1"/>
          <p:nvPr/>
        </p:nvSpPr>
        <p:spPr>
          <a:xfrm>
            <a:off x="584200" y="6362699"/>
            <a:ext cx="9525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1200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我的职责：</a:t>
            </a:r>
            <a:r>
              <a:rPr lang="zh-CN" altLang="en-US" sz="1200">
                <a:solidFill>
                  <a:srgbClr val="F0E9D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独立完成玩法框架、渲染、输入、敌人行为与场景内容。</a:t>
            </a:r>
            <a:endParaRPr lang="en-US" sz="1200">
              <a:solidFill>
                <a:srgbClr val="F0E9D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Text-85">
            <a:hlinkClick r:id="rId4"/>
            <a:extLst>
              <a:ext uri="{FF2B5EF4-FFF2-40B4-BE49-F238E27FC236}">
                <a16:creationId xmlns:a16="http://schemas.microsoft.com/office/drawing/2014/main" id="{FD8D2BC8-2CCA-97E3-A504-1389CA64D0E8}"/>
              </a:ext>
            </a:extLst>
          </p:cNvPr>
          <p:cNvSpPr txBox="1"/>
          <p:nvPr/>
        </p:nvSpPr>
        <p:spPr>
          <a:xfrm>
            <a:off x="584200" y="6667499"/>
            <a:ext cx="9525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1150" u="sng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4"/>
              </a:rPr>
              <a:t>博客项目页  </a:t>
            </a:r>
            <a:r>
              <a:rPr lang="en-US" altLang="zh-CN" sz="1150" u="sng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4"/>
              </a:rPr>
              <a:t>/  </a:t>
            </a:r>
            <a:r>
              <a:rPr lang="en-US" sz="1150" u="sng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4"/>
              </a:rPr>
              <a:t>zhoushangli.github.io/projects/doomenstein/</a:t>
            </a:r>
            <a:endParaRPr lang="en-US" sz="1150" u="sng">
              <a:solidFill>
                <a:srgbClr val="D2B38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638211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7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eometry-1">
            <a:extLst>
              <a:ext uri="{FF2B5EF4-FFF2-40B4-BE49-F238E27FC236}">
                <a16:creationId xmlns:a16="http://schemas.microsoft.com/office/drawing/2014/main" id="{8234C974-D8D1-1D2B-31E4-9268EAB449D0}"/>
              </a:ext>
            </a:extLst>
          </p:cNvPr>
          <p:cNvSpPr/>
          <p:nvPr/>
        </p:nvSpPr>
        <p:spPr>
          <a:xfrm>
            <a:off x="9080500" y="-355600"/>
            <a:ext cx="1841500" cy="1397000"/>
          </a:xfrm>
          <a:prstGeom prst="rect">
            <a:avLst/>
          </a:prstGeom>
          <a:noFill/>
          <a:ln w="8255" cap="flat" cmpd="sng" algn="ctr">
            <a:solidFill>
              <a:srgbClr val="D2B387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Geometry-2">
            <a:extLst>
              <a:ext uri="{FF2B5EF4-FFF2-40B4-BE49-F238E27FC236}">
                <a16:creationId xmlns:a16="http://schemas.microsoft.com/office/drawing/2014/main" id="{09FC24D3-B2B1-0FB6-D3EF-3489931823AB}"/>
              </a:ext>
            </a:extLst>
          </p:cNvPr>
          <p:cNvSpPr/>
          <p:nvPr/>
        </p:nvSpPr>
        <p:spPr>
          <a:xfrm>
            <a:off x="9398000" y="-101600"/>
            <a:ext cx="1841500" cy="1397000"/>
          </a:xfrm>
          <a:prstGeom prst="rect">
            <a:avLst/>
          </a:prstGeom>
          <a:noFill/>
          <a:ln w="8255" cap="flat" cmpd="sng" algn="ctr">
            <a:solidFill>
              <a:srgbClr val="D2B387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-86">
            <a:extLst>
              <a:ext uri="{FF2B5EF4-FFF2-40B4-BE49-F238E27FC236}">
                <a16:creationId xmlns:a16="http://schemas.microsoft.com/office/drawing/2014/main" id="{64F562A9-3E43-C84D-1483-44D948D61A48}"/>
              </a:ext>
            </a:extLst>
          </p:cNvPr>
          <p:cNvSpPr txBox="1"/>
          <p:nvPr/>
        </p:nvSpPr>
        <p:spPr>
          <a:xfrm>
            <a:off x="584200" y="368299"/>
            <a:ext cx="8255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1200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第二章  </a:t>
            </a:r>
            <a:r>
              <a:rPr lang="en-US" altLang="zh-CN" sz="1200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 </a:t>
            </a:r>
            <a:r>
              <a:rPr lang="zh-CN" altLang="en-US" sz="1200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具体作品  </a:t>
            </a:r>
            <a:r>
              <a:rPr lang="en-US" altLang="zh-CN" sz="1200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 </a:t>
            </a:r>
            <a:r>
              <a:rPr lang="zh-CN" altLang="en-US" sz="1200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个人作品</a:t>
            </a:r>
            <a:endParaRPr lang="en-US" sz="1200">
              <a:solidFill>
                <a:srgbClr val="D2B38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-87">
            <a:extLst>
              <a:ext uri="{FF2B5EF4-FFF2-40B4-BE49-F238E27FC236}">
                <a16:creationId xmlns:a16="http://schemas.microsoft.com/office/drawing/2014/main" id="{7DE41289-2CFE-D534-C180-CA2D2CB1E89E}"/>
              </a:ext>
            </a:extLst>
          </p:cNvPr>
          <p:cNvSpPr txBox="1"/>
          <p:nvPr/>
        </p:nvSpPr>
        <p:spPr>
          <a:xfrm>
            <a:off x="584200" y="787399"/>
            <a:ext cx="9525000" cy="698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3200">
                <a:solidFill>
                  <a:srgbClr val="F0E9D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The Primary Colors / </a:t>
            </a:r>
            <a:r>
              <a:rPr lang="zh-CN" altLang="en-US" sz="3200">
                <a:solidFill>
                  <a:srgbClr val="F0E9D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三原色</a:t>
            </a:r>
            <a:endParaRPr lang="en-US" sz="3200">
              <a:solidFill>
                <a:srgbClr val="F0E9D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BFB446C1-B403-25FF-C77C-6CACEC3C03DC}"/>
              </a:ext>
            </a:extLst>
          </p:cNvPr>
          <p:cNvCxnSpPr/>
          <p:nvPr/>
        </p:nvCxnSpPr>
        <p:spPr>
          <a:xfrm>
            <a:off x="584200" y="1600200"/>
            <a:ext cx="9525000" cy="0"/>
          </a:xfrm>
          <a:prstGeom prst="line">
            <a:avLst/>
          </a:prstGeom>
          <a:ln w="11430">
            <a:solidFill>
              <a:srgbClr val="D2B3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CB5E5828-6F77-9979-9B0D-91B99886649A}"/>
              </a:ext>
            </a:extLst>
          </p:cNvPr>
          <p:cNvCxnSpPr/>
          <p:nvPr/>
        </p:nvCxnSpPr>
        <p:spPr>
          <a:xfrm>
            <a:off x="584200" y="6985000"/>
            <a:ext cx="9525000" cy="0"/>
          </a:xfrm>
          <a:prstGeom prst="line">
            <a:avLst/>
          </a:prstGeom>
          <a:ln w="8255">
            <a:solidFill>
              <a:srgbClr val="3944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-88">
            <a:extLst>
              <a:ext uri="{FF2B5EF4-FFF2-40B4-BE49-F238E27FC236}">
                <a16:creationId xmlns:a16="http://schemas.microsoft.com/office/drawing/2014/main" id="{52764077-7A0C-1478-040E-D578082ED620}"/>
              </a:ext>
            </a:extLst>
          </p:cNvPr>
          <p:cNvSpPr txBox="1"/>
          <p:nvPr/>
        </p:nvSpPr>
        <p:spPr>
          <a:xfrm>
            <a:off x="584200" y="7137400"/>
            <a:ext cx="8128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105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周尚礼  </a:t>
            </a:r>
            <a:r>
              <a:rPr lang="en-US" altLang="zh-CN" sz="105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 </a:t>
            </a:r>
            <a:r>
              <a:rPr lang="zh-CN" altLang="en-US" sz="105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游戏开发与教学实践</a:t>
            </a:r>
            <a:endParaRPr lang="en-US" sz="1050">
              <a:solidFill>
                <a:srgbClr val="BBB9B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-89">
            <a:extLst>
              <a:ext uri="{FF2B5EF4-FFF2-40B4-BE49-F238E27FC236}">
                <a16:creationId xmlns:a16="http://schemas.microsoft.com/office/drawing/2014/main" id="{3072E0A3-F89D-CCA0-CFA4-BC5D2A2BD10E}"/>
              </a:ext>
            </a:extLst>
          </p:cNvPr>
          <p:cNvSpPr txBox="1"/>
          <p:nvPr/>
        </p:nvSpPr>
        <p:spPr>
          <a:xfrm>
            <a:off x="9550400" y="7111999"/>
            <a:ext cx="762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100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06 / 10</a:t>
            </a:r>
          </a:p>
        </p:txBody>
      </p:sp>
      <p:sp>
        <p:nvSpPr>
          <p:cNvPr id="10" name="Text-90">
            <a:extLst>
              <a:ext uri="{FF2B5EF4-FFF2-40B4-BE49-F238E27FC236}">
                <a16:creationId xmlns:a16="http://schemas.microsoft.com/office/drawing/2014/main" id="{9C3455F4-E0F3-7D25-FA62-840454527A4E}"/>
              </a:ext>
            </a:extLst>
          </p:cNvPr>
          <p:cNvSpPr txBox="1"/>
          <p:nvPr/>
        </p:nvSpPr>
        <p:spPr>
          <a:xfrm>
            <a:off x="584200" y="1879599"/>
            <a:ext cx="9525000" cy="609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155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独立开发的平台解谜游戏：通过接触不同颜色改变能力，再运用能力解决关卡中的挑战。</a:t>
            </a:r>
            <a:endParaRPr lang="en-US" sz="1550">
              <a:solidFill>
                <a:srgbClr val="BBB9B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" name="Image-4" descr="the_primary_colors.png">
            <a:extLst>
              <a:ext uri="{FF2B5EF4-FFF2-40B4-BE49-F238E27FC236}">
                <a16:creationId xmlns:a16="http://schemas.microsoft.com/office/drawing/2014/main" id="{460CC93C-4A8E-137C-4CBB-D829E196B6E7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200" y="2763993"/>
            <a:ext cx="5168900" cy="2904814"/>
          </a:xfrm>
          <a:prstGeom prst="rect">
            <a:avLst/>
          </a:prstGeom>
        </p:spPr>
      </p:pic>
      <p:sp>
        <p:nvSpPr>
          <p:cNvPr id="13" name="Text-91">
            <a:extLst>
              <a:ext uri="{FF2B5EF4-FFF2-40B4-BE49-F238E27FC236}">
                <a16:creationId xmlns:a16="http://schemas.microsoft.com/office/drawing/2014/main" id="{D49FD0B4-26EE-45DA-6A05-A5BA35AC4C46}"/>
              </a:ext>
            </a:extLst>
          </p:cNvPr>
          <p:cNvSpPr txBox="1"/>
          <p:nvPr/>
        </p:nvSpPr>
        <p:spPr>
          <a:xfrm>
            <a:off x="584200" y="5841999"/>
            <a:ext cx="5168900" cy="469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110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游戏中的关卡选择画面。</a:t>
            </a:r>
            <a:endParaRPr lang="en-US" sz="1100">
              <a:solidFill>
                <a:srgbClr val="BBB9B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Text-92">
            <a:extLst>
              <a:ext uri="{FF2B5EF4-FFF2-40B4-BE49-F238E27FC236}">
                <a16:creationId xmlns:a16="http://schemas.microsoft.com/office/drawing/2014/main" id="{EDB1A7EA-B303-C6FD-39B1-A807D1A33AC9}"/>
              </a:ext>
            </a:extLst>
          </p:cNvPr>
          <p:cNvSpPr txBox="1"/>
          <p:nvPr/>
        </p:nvSpPr>
        <p:spPr>
          <a:xfrm>
            <a:off x="6096000" y="2743199"/>
            <a:ext cx="3175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100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</a:p>
        </p:txBody>
      </p:sp>
      <p:sp>
        <p:nvSpPr>
          <p:cNvPr id="15" name="Text-93">
            <a:extLst>
              <a:ext uri="{FF2B5EF4-FFF2-40B4-BE49-F238E27FC236}">
                <a16:creationId xmlns:a16="http://schemas.microsoft.com/office/drawing/2014/main" id="{61427F00-A445-64D0-7FA9-96810E2409E3}"/>
              </a:ext>
            </a:extLst>
          </p:cNvPr>
          <p:cNvSpPr txBox="1"/>
          <p:nvPr/>
        </p:nvSpPr>
        <p:spPr>
          <a:xfrm>
            <a:off x="6464300" y="2717799"/>
            <a:ext cx="36449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>
                <a:solidFill>
                  <a:srgbClr val="F0E9D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颜色能力机制</a:t>
            </a:r>
            <a:endParaRPr lang="en-US">
              <a:solidFill>
                <a:srgbClr val="F0E9D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6" name="Text-94">
            <a:extLst>
              <a:ext uri="{FF2B5EF4-FFF2-40B4-BE49-F238E27FC236}">
                <a16:creationId xmlns:a16="http://schemas.microsoft.com/office/drawing/2014/main" id="{FBBDCA6C-77F9-FAD8-CD40-43CF5CE7720B}"/>
              </a:ext>
            </a:extLst>
          </p:cNvPr>
          <p:cNvSpPr txBox="1"/>
          <p:nvPr/>
        </p:nvSpPr>
        <p:spPr>
          <a:xfrm>
            <a:off x="6464300" y="3111499"/>
            <a:ext cx="3644900" cy="533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150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将颜色切换与移动、场景交互结合。</a:t>
            </a:r>
            <a:endParaRPr lang="en-US" sz="1500">
              <a:solidFill>
                <a:srgbClr val="BBB9B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Text-95">
            <a:extLst>
              <a:ext uri="{FF2B5EF4-FFF2-40B4-BE49-F238E27FC236}">
                <a16:creationId xmlns:a16="http://schemas.microsoft.com/office/drawing/2014/main" id="{8491EFFD-1779-6810-8EBB-18091C4B530B}"/>
              </a:ext>
            </a:extLst>
          </p:cNvPr>
          <p:cNvSpPr txBox="1"/>
          <p:nvPr/>
        </p:nvSpPr>
        <p:spPr>
          <a:xfrm>
            <a:off x="6096000" y="3657599"/>
            <a:ext cx="3175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100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</a:p>
        </p:txBody>
      </p:sp>
      <p:sp>
        <p:nvSpPr>
          <p:cNvPr id="18" name="Text-96">
            <a:extLst>
              <a:ext uri="{FF2B5EF4-FFF2-40B4-BE49-F238E27FC236}">
                <a16:creationId xmlns:a16="http://schemas.microsoft.com/office/drawing/2014/main" id="{38B75A1A-C55A-E9E9-8255-38DFB2F3FB6C}"/>
              </a:ext>
            </a:extLst>
          </p:cNvPr>
          <p:cNvSpPr txBox="1"/>
          <p:nvPr/>
        </p:nvSpPr>
        <p:spPr>
          <a:xfrm>
            <a:off x="6464300" y="3632199"/>
            <a:ext cx="36449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en-US" altLang="zh-CN">
                <a:solidFill>
                  <a:srgbClr val="F0E9D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30 </a:t>
            </a:r>
            <a:r>
              <a:rPr lang="zh-CN" altLang="en-US">
                <a:solidFill>
                  <a:srgbClr val="F0E9D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个手工关卡</a:t>
            </a:r>
            <a:endParaRPr lang="en-US">
              <a:solidFill>
                <a:srgbClr val="F0E9D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9" name="Text-97">
            <a:extLst>
              <a:ext uri="{FF2B5EF4-FFF2-40B4-BE49-F238E27FC236}">
                <a16:creationId xmlns:a16="http://schemas.microsoft.com/office/drawing/2014/main" id="{BB38EFDC-96C0-13FB-6F09-F1A411BDCDD2}"/>
              </a:ext>
            </a:extLst>
          </p:cNvPr>
          <p:cNvSpPr txBox="1"/>
          <p:nvPr/>
        </p:nvSpPr>
        <p:spPr>
          <a:xfrm>
            <a:off x="6464300" y="4025899"/>
            <a:ext cx="3644900" cy="533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150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逐步引入机制，再组织不同规则的组合。</a:t>
            </a:r>
            <a:endParaRPr lang="en-US" sz="1500">
              <a:solidFill>
                <a:srgbClr val="BBB9B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Text-98">
            <a:extLst>
              <a:ext uri="{FF2B5EF4-FFF2-40B4-BE49-F238E27FC236}">
                <a16:creationId xmlns:a16="http://schemas.microsoft.com/office/drawing/2014/main" id="{F2C97F07-E92E-611F-2920-E8F58B75A91E}"/>
              </a:ext>
            </a:extLst>
          </p:cNvPr>
          <p:cNvSpPr txBox="1"/>
          <p:nvPr/>
        </p:nvSpPr>
        <p:spPr>
          <a:xfrm>
            <a:off x="6096000" y="4571999"/>
            <a:ext cx="3175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100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</a:p>
        </p:txBody>
      </p:sp>
      <p:sp>
        <p:nvSpPr>
          <p:cNvPr id="21" name="Text-99">
            <a:extLst>
              <a:ext uri="{FF2B5EF4-FFF2-40B4-BE49-F238E27FC236}">
                <a16:creationId xmlns:a16="http://schemas.microsoft.com/office/drawing/2014/main" id="{C1EAE803-5F62-6905-D56C-42CCC4C1081E}"/>
              </a:ext>
            </a:extLst>
          </p:cNvPr>
          <p:cNvSpPr txBox="1"/>
          <p:nvPr/>
        </p:nvSpPr>
        <p:spPr>
          <a:xfrm>
            <a:off x="6464300" y="4546599"/>
            <a:ext cx="36449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en-US">
                <a:solidFill>
                  <a:srgbClr val="F0E9D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MVC </a:t>
            </a:r>
            <a:r>
              <a:rPr lang="zh-CN" altLang="en-US">
                <a:solidFill>
                  <a:srgbClr val="F0E9D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与 </a:t>
            </a:r>
            <a:r>
              <a:rPr lang="en-US">
                <a:solidFill>
                  <a:srgbClr val="F0E9D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QFramework</a:t>
            </a:r>
          </a:p>
        </p:txBody>
      </p:sp>
      <p:sp>
        <p:nvSpPr>
          <p:cNvPr id="22" name="Text-100">
            <a:extLst>
              <a:ext uri="{FF2B5EF4-FFF2-40B4-BE49-F238E27FC236}">
                <a16:creationId xmlns:a16="http://schemas.microsoft.com/office/drawing/2014/main" id="{EFE8E00C-375C-75E7-1DFD-B7131C8B0719}"/>
              </a:ext>
            </a:extLst>
          </p:cNvPr>
          <p:cNvSpPr txBox="1"/>
          <p:nvPr/>
        </p:nvSpPr>
        <p:spPr>
          <a:xfrm>
            <a:off x="6464300" y="4940299"/>
            <a:ext cx="3644900" cy="533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150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分开组织数据、表现与游戏控制逻辑。</a:t>
            </a:r>
            <a:endParaRPr lang="en-US" sz="1500">
              <a:solidFill>
                <a:srgbClr val="BBB9B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Text-101">
            <a:extLst>
              <a:ext uri="{FF2B5EF4-FFF2-40B4-BE49-F238E27FC236}">
                <a16:creationId xmlns:a16="http://schemas.microsoft.com/office/drawing/2014/main" id="{7E8B70B8-7A79-6CE0-7EE4-4C74FE71886E}"/>
              </a:ext>
            </a:extLst>
          </p:cNvPr>
          <p:cNvSpPr txBox="1"/>
          <p:nvPr/>
        </p:nvSpPr>
        <p:spPr>
          <a:xfrm>
            <a:off x="6096000" y="5486399"/>
            <a:ext cx="3175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100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</a:p>
        </p:txBody>
      </p:sp>
      <p:sp>
        <p:nvSpPr>
          <p:cNvPr id="24" name="Text-102">
            <a:extLst>
              <a:ext uri="{FF2B5EF4-FFF2-40B4-BE49-F238E27FC236}">
                <a16:creationId xmlns:a16="http://schemas.microsoft.com/office/drawing/2014/main" id="{8AFE61B0-3CCC-4E67-A5D5-6EE69A1FC08E}"/>
              </a:ext>
            </a:extLst>
          </p:cNvPr>
          <p:cNvSpPr txBox="1"/>
          <p:nvPr/>
        </p:nvSpPr>
        <p:spPr>
          <a:xfrm>
            <a:off x="6464300" y="5460999"/>
            <a:ext cx="36449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>
                <a:solidFill>
                  <a:srgbClr val="F0E9D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事件与命令</a:t>
            </a:r>
            <a:endParaRPr lang="en-US">
              <a:solidFill>
                <a:srgbClr val="F0E9D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5" name="Text-103">
            <a:extLst>
              <a:ext uri="{FF2B5EF4-FFF2-40B4-BE49-F238E27FC236}">
                <a16:creationId xmlns:a16="http://schemas.microsoft.com/office/drawing/2014/main" id="{6B7E286C-F5AE-6569-7A7D-066275582004}"/>
              </a:ext>
            </a:extLst>
          </p:cNvPr>
          <p:cNvSpPr txBox="1"/>
          <p:nvPr/>
        </p:nvSpPr>
        <p:spPr>
          <a:xfrm>
            <a:off x="6464300" y="5854699"/>
            <a:ext cx="3644900" cy="533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150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通过事件解耦系统，以命令封装游戏行为。</a:t>
            </a:r>
            <a:endParaRPr lang="en-US" sz="1500">
              <a:solidFill>
                <a:srgbClr val="BBB9B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Text-104">
            <a:extLst>
              <a:ext uri="{FF2B5EF4-FFF2-40B4-BE49-F238E27FC236}">
                <a16:creationId xmlns:a16="http://schemas.microsoft.com/office/drawing/2014/main" id="{13CB45FA-785D-95C0-CBFC-21923BD8F9B4}"/>
              </a:ext>
            </a:extLst>
          </p:cNvPr>
          <p:cNvSpPr txBox="1"/>
          <p:nvPr/>
        </p:nvSpPr>
        <p:spPr>
          <a:xfrm>
            <a:off x="584200" y="6362699"/>
            <a:ext cx="9525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1200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我的职责：</a:t>
            </a:r>
            <a:r>
              <a:rPr lang="zh-CN" altLang="en-US" sz="1200">
                <a:solidFill>
                  <a:srgbClr val="F0E9D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独立完成机制、程序架构、表现层和全部 </a:t>
            </a:r>
            <a:r>
              <a:rPr lang="en-US" altLang="zh-CN" sz="1200">
                <a:solidFill>
                  <a:srgbClr val="F0E9D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30 </a:t>
            </a:r>
            <a:r>
              <a:rPr lang="zh-CN" altLang="en-US" sz="1200">
                <a:solidFill>
                  <a:srgbClr val="F0E9D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个关卡。</a:t>
            </a:r>
            <a:endParaRPr lang="en-US" sz="1200">
              <a:solidFill>
                <a:srgbClr val="F0E9D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Text-105">
            <a:hlinkClick r:id="rId4"/>
            <a:extLst>
              <a:ext uri="{FF2B5EF4-FFF2-40B4-BE49-F238E27FC236}">
                <a16:creationId xmlns:a16="http://schemas.microsoft.com/office/drawing/2014/main" id="{549DE8FF-EF28-9D70-8114-61048D19828B}"/>
              </a:ext>
            </a:extLst>
          </p:cNvPr>
          <p:cNvSpPr txBox="1"/>
          <p:nvPr/>
        </p:nvSpPr>
        <p:spPr>
          <a:xfrm>
            <a:off x="584200" y="6667499"/>
            <a:ext cx="9525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1150" u="sng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4"/>
              </a:rPr>
              <a:t>博客项目页  </a:t>
            </a:r>
            <a:r>
              <a:rPr lang="en-US" altLang="zh-CN" sz="1150" u="sng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4"/>
              </a:rPr>
              <a:t>/  </a:t>
            </a:r>
            <a:r>
              <a:rPr lang="en-US" sz="1150" u="sng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4"/>
              </a:rPr>
              <a:t>zhoushangli.github.io/projects/the-primary-colors/</a:t>
            </a:r>
            <a:endParaRPr lang="en-US" sz="1150" u="sng">
              <a:solidFill>
                <a:srgbClr val="D2B38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064894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7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eometry-1">
            <a:extLst>
              <a:ext uri="{FF2B5EF4-FFF2-40B4-BE49-F238E27FC236}">
                <a16:creationId xmlns:a16="http://schemas.microsoft.com/office/drawing/2014/main" id="{2823A86F-E654-54D2-3F95-F80FF7B66189}"/>
              </a:ext>
            </a:extLst>
          </p:cNvPr>
          <p:cNvSpPr/>
          <p:nvPr/>
        </p:nvSpPr>
        <p:spPr>
          <a:xfrm>
            <a:off x="9080500" y="-355600"/>
            <a:ext cx="1841500" cy="1397000"/>
          </a:xfrm>
          <a:prstGeom prst="rect">
            <a:avLst/>
          </a:prstGeom>
          <a:noFill/>
          <a:ln w="8255" cap="flat" cmpd="sng" algn="ctr">
            <a:solidFill>
              <a:srgbClr val="D2B387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Geometry-2">
            <a:extLst>
              <a:ext uri="{FF2B5EF4-FFF2-40B4-BE49-F238E27FC236}">
                <a16:creationId xmlns:a16="http://schemas.microsoft.com/office/drawing/2014/main" id="{61EA322E-248F-221D-5175-DBCC58B6EB23}"/>
              </a:ext>
            </a:extLst>
          </p:cNvPr>
          <p:cNvSpPr/>
          <p:nvPr/>
        </p:nvSpPr>
        <p:spPr>
          <a:xfrm>
            <a:off x="9398000" y="-101600"/>
            <a:ext cx="1841500" cy="1397000"/>
          </a:xfrm>
          <a:prstGeom prst="rect">
            <a:avLst/>
          </a:prstGeom>
          <a:noFill/>
          <a:ln w="8255" cap="flat" cmpd="sng" algn="ctr">
            <a:solidFill>
              <a:srgbClr val="D2B387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-106">
            <a:extLst>
              <a:ext uri="{FF2B5EF4-FFF2-40B4-BE49-F238E27FC236}">
                <a16:creationId xmlns:a16="http://schemas.microsoft.com/office/drawing/2014/main" id="{563EBE50-2ED2-8449-2F52-CDC42756B03B}"/>
              </a:ext>
            </a:extLst>
          </p:cNvPr>
          <p:cNvSpPr txBox="1"/>
          <p:nvPr/>
        </p:nvSpPr>
        <p:spPr>
          <a:xfrm>
            <a:off x="584200" y="368299"/>
            <a:ext cx="8255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1200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第二章  </a:t>
            </a:r>
            <a:r>
              <a:rPr lang="en-US" altLang="zh-CN" sz="1200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 </a:t>
            </a:r>
            <a:r>
              <a:rPr lang="zh-CN" altLang="en-US" sz="1200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具体作品  </a:t>
            </a:r>
            <a:r>
              <a:rPr lang="en-US" altLang="zh-CN" sz="1200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 </a:t>
            </a:r>
            <a:r>
              <a:rPr lang="zh-CN" altLang="en-US" sz="1200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团队作品</a:t>
            </a:r>
            <a:endParaRPr lang="en-US" sz="1200">
              <a:solidFill>
                <a:srgbClr val="D2B38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-107">
            <a:extLst>
              <a:ext uri="{FF2B5EF4-FFF2-40B4-BE49-F238E27FC236}">
                <a16:creationId xmlns:a16="http://schemas.microsoft.com/office/drawing/2014/main" id="{0BACAEFB-EBC7-F971-C963-398D0A394763}"/>
              </a:ext>
            </a:extLst>
          </p:cNvPr>
          <p:cNvSpPr txBox="1"/>
          <p:nvPr/>
        </p:nvSpPr>
        <p:spPr>
          <a:xfrm>
            <a:off x="584200" y="787399"/>
            <a:ext cx="9525000" cy="698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3200">
                <a:solidFill>
                  <a:srgbClr val="F0E9D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SpectreX</a:t>
            </a: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FFF394A5-6AF3-2083-B445-29E7B8C38768}"/>
              </a:ext>
            </a:extLst>
          </p:cNvPr>
          <p:cNvCxnSpPr/>
          <p:nvPr/>
        </p:nvCxnSpPr>
        <p:spPr>
          <a:xfrm>
            <a:off x="584200" y="1600200"/>
            <a:ext cx="9525000" cy="0"/>
          </a:xfrm>
          <a:prstGeom prst="line">
            <a:avLst/>
          </a:prstGeom>
          <a:ln w="11430">
            <a:solidFill>
              <a:srgbClr val="D2B3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53EAF1CA-14FA-B2A6-ABC6-174E63DC3820}"/>
              </a:ext>
            </a:extLst>
          </p:cNvPr>
          <p:cNvCxnSpPr/>
          <p:nvPr/>
        </p:nvCxnSpPr>
        <p:spPr>
          <a:xfrm>
            <a:off x="584200" y="6985000"/>
            <a:ext cx="9525000" cy="0"/>
          </a:xfrm>
          <a:prstGeom prst="line">
            <a:avLst/>
          </a:prstGeom>
          <a:ln w="8255">
            <a:solidFill>
              <a:srgbClr val="3944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-108">
            <a:extLst>
              <a:ext uri="{FF2B5EF4-FFF2-40B4-BE49-F238E27FC236}">
                <a16:creationId xmlns:a16="http://schemas.microsoft.com/office/drawing/2014/main" id="{92C910A8-E1A3-593B-9992-045E124F474F}"/>
              </a:ext>
            </a:extLst>
          </p:cNvPr>
          <p:cNvSpPr txBox="1"/>
          <p:nvPr/>
        </p:nvSpPr>
        <p:spPr>
          <a:xfrm>
            <a:off x="584200" y="7137400"/>
            <a:ext cx="8128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105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周尚礼  </a:t>
            </a:r>
            <a:r>
              <a:rPr lang="en-US" altLang="zh-CN" sz="105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 </a:t>
            </a:r>
            <a:r>
              <a:rPr lang="zh-CN" altLang="en-US" sz="105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游戏开发与教学实践</a:t>
            </a:r>
            <a:endParaRPr lang="en-US" sz="1050">
              <a:solidFill>
                <a:srgbClr val="BBB9B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-109">
            <a:extLst>
              <a:ext uri="{FF2B5EF4-FFF2-40B4-BE49-F238E27FC236}">
                <a16:creationId xmlns:a16="http://schemas.microsoft.com/office/drawing/2014/main" id="{15B18D31-AEA0-9843-414F-D7B8B914AADC}"/>
              </a:ext>
            </a:extLst>
          </p:cNvPr>
          <p:cNvSpPr txBox="1"/>
          <p:nvPr/>
        </p:nvSpPr>
        <p:spPr>
          <a:xfrm>
            <a:off x="9550400" y="7111999"/>
            <a:ext cx="762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100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07 / 10</a:t>
            </a:r>
          </a:p>
        </p:txBody>
      </p:sp>
      <p:sp>
        <p:nvSpPr>
          <p:cNvPr id="10" name="Text-110">
            <a:extLst>
              <a:ext uri="{FF2B5EF4-FFF2-40B4-BE49-F238E27FC236}">
                <a16:creationId xmlns:a16="http://schemas.microsoft.com/office/drawing/2014/main" id="{77D118AF-38CB-C038-F2E9-09520F6AD157}"/>
              </a:ext>
            </a:extLst>
          </p:cNvPr>
          <p:cNvSpPr txBox="1"/>
          <p:nvPr/>
        </p:nvSpPr>
        <p:spPr>
          <a:xfrm>
            <a:off x="584200" y="1879599"/>
            <a:ext cx="9525000" cy="609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155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团队使用 </a:t>
            </a:r>
            <a:r>
              <a:rPr lang="en-US" altLang="zh-CN" sz="155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Godot </a:t>
            </a:r>
            <a:r>
              <a:rPr lang="zh-CN" altLang="en-US" sz="155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 </a:t>
            </a:r>
            <a:r>
              <a:rPr lang="en-US" altLang="zh-CN" sz="155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C# </a:t>
            </a:r>
            <a:r>
              <a:rPr lang="zh-CN" altLang="en-US" sz="155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制作的光学解谜游戏，通过反射、分光与合光组织机关和探索。</a:t>
            </a:r>
            <a:endParaRPr lang="en-US" sz="1550">
              <a:solidFill>
                <a:srgbClr val="BBB9B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" name="Image-5" descr="spectrex-cover.jpg">
            <a:extLst>
              <a:ext uri="{FF2B5EF4-FFF2-40B4-BE49-F238E27FC236}">
                <a16:creationId xmlns:a16="http://schemas.microsoft.com/office/drawing/2014/main" id="{20A579FB-6739-ACB0-5B33-D9A52560B9BC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200" y="2762647"/>
            <a:ext cx="5168900" cy="2907506"/>
          </a:xfrm>
          <a:prstGeom prst="rect">
            <a:avLst/>
          </a:prstGeom>
        </p:spPr>
      </p:pic>
      <p:sp>
        <p:nvSpPr>
          <p:cNvPr id="13" name="Text-111">
            <a:extLst>
              <a:ext uri="{FF2B5EF4-FFF2-40B4-BE49-F238E27FC236}">
                <a16:creationId xmlns:a16="http://schemas.microsoft.com/office/drawing/2014/main" id="{1AD79525-8013-89C0-54F8-378A210518FA}"/>
              </a:ext>
            </a:extLst>
          </p:cNvPr>
          <p:cNvSpPr txBox="1"/>
          <p:nvPr/>
        </p:nvSpPr>
        <p:spPr>
          <a:xfrm>
            <a:off x="584200" y="5841999"/>
            <a:ext cx="5168900" cy="469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110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团队项目宣传封面。</a:t>
            </a:r>
            <a:endParaRPr lang="en-US" sz="1100">
              <a:solidFill>
                <a:srgbClr val="BBB9B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Text-112">
            <a:extLst>
              <a:ext uri="{FF2B5EF4-FFF2-40B4-BE49-F238E27FC236}">
                <a16:creationId xmlns:a16="http://schemas.microsoft.com/office/drawing/2014/main" id="{4B859EAB-1D85-3E26-66D3-E0722361B0E1}"/>
              </a:ext>
            </a:extLst>
          </p:cNvPr>
          <p:cNvSpPr txBox="1"/>
          <p:nvPr/>
        </p:nvSpPr>
        <p:spPr>
          <a:xfrm>
            <a:off x="6096000" y="2743199"/>
            <a:ext cx="3175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100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</a:p>
        </p:txBody>
      </p:sp>
      <p:sp>
        <p:nvSpPr>
          <p:cNvPr id="15" name="Text-113">
            <a:extLst>
              <a:ext uri="{FF2B5EF4-FFF2-40B4-BE49-F238E27FC236}">
                <a16:creationId xmlns:a16="http://schemas.microsoft.com/office/drawing/2014/main" id="{EDCCA5F0-EA29-4B6A-4CD6-93A4B9B0FCDA}"/>
              </a:ext>
            </a:extLst>
          </p:cNvPr>
          <p:cNvSpPr txBox="1"/>
          <p:nvPr/>
        </p:nvSpPr>
        <p:spPr>
          <a:xfrm>
            <a:off x="6464300" y="2717799"/>
            <a:ext cx="36449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>
                <a:solidFill>
                  <a:srgbClr val="F0E9D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光学解谜规则</a:t>
            </a:r>
            <a:endParaRPr lang="en-US">
              <a:solidFill>
                <a:srgbClr val="F0E9D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6" name="Text-114">
            <a:extLst>
              <a:ext uri="{FF2B5EF4-FFF2-40B4-BE49-F238E27FC236}">
                <a16:creationId xmlns:a16="http://schemas.microsoft.com/office/drawing/2014/main" id="{682B7863-FD28-F3E4-E147-959494B4CCF6}"/>
              </a:ext>
            </a:extLst>
          </p:cNvPr>
          <p:cNvSpPr txBox="1"/>
          <p:nvPr/>
        </p:nvSpPr>
        <p:spPr>
          <a:xfrm>
            <a:off x="6464300" y="3111499"/>
            <a:ext cx="3644900" cy="533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150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参与玩法简化，将 </a:t>
            </a:r>
            <a:r>
              <a:rPr lang="en-US" altLang="zh-CN" sz="150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 </a:t>
            </a:r>
            <a:r>
              <a:rPr lang="zh-CN" altLang="en-US" sz="150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个光频率减少到 </a:t>
            </a:r>
            <a:r>
              <a:rPr lang="en-US" altLang="zh-CN" sz="150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 </a:t>
            </a:r>
            <a:r>
              <a:rPr lang="zh-CN" altLang="en-US" sz="150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个。</a:t>
            </a:r>
            <a:endParaRPr lang="en-US" sz="1500">
              <a:solidFill>
                <a:srgbClr val="BBB9B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Text-115">
            <a:extLst>
              <a:ext uri="{FF2B5EF4-FFF2-40B4-BE49-F238E27FC236}">
                <a16:creationId xmlns:a16="http://schemas.microsoft.com/office/drawing/2014/main" id="{74A1FD25-5727-565D-7B3B-9C34D8519D70}"/>
              </a:ext>
            </a:extLst>
          </p:cNvPr>
          <p:cNvSpPr txBox="1"/>
          <p:nvPr/>
        </p:nvSpPr>
        <p:spPr>
          <a:xfrm>
            <a:off x="6096000" y="3657599"/>
            <a:ext cx="3175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100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</a:p>
        </p:txBody>
      </p:sp>
      <p:sp>
        <p:nvSpPr>
          <p:cNvPr id="18" name="Text-116">
            <a:extLst>
              <a:ext uri="{FF2B5EF4-FFF2-40B4-BE49-F238E27FC236}">
                <a16:creationId xmlns:a16="http://schemas.microsoft.com/office/drawing/2014/main" id="{012FA826-CC33-F471-97CF-5385668C9744}"/>
              </a:ext>
            </a:extLst>
          </p:cNvPr>
          <p:cNvSpPr txBox="1"/>
          <p:nvPr/>
        </p:nvSpPr>
        <p:spPr>
          <a:xfrm>
            <a:off x="6464300" y="3632199"/>
            <a:ext cx="36449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>
                <a:solidFill>
                  <a:srgbClr val="F0E9D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三章关卡设计</a:t>
            </a:r>
            <a:endParaRPr lang="en-US">
              <a:solidFill>
                <a:srgbClr val="F0E9D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9" name="Text-117">
            <a:extLst>
              <a:ext uri="{FF2B5EF4-FFF2-40B4-BE49-F238E27FC236}">
                <a16:creationId xmlns:a16="http://schemas.microsoft.com/office/drawing/2014/main" id="{13EA7228-2D1C-02F3-156D-198C714E796E}"/>
              </a:ext>
            </a:extLst>
          </p:cNvPr>
          <p:cNvSpPr txBox="1"/>
          <p:nvPr/>
        </p:nvSpPr>
        <p:spPr>
          <a:xfrm>
            <a:off x="6464300" y="4025899"/>
            <a:ext cx="3644900" cy="533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150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组织章节行进方式、房间教学与挑战变化。</a:t>
            </a:r>
            <a:endParaRPr lang="en-US" sz="1500">
              <a:solidFill>
                <a:srgbClr val="BBB9B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Text-118">
            <a:extLst>
              <a:ext uri="{FF2B5EF4-FFF2-40B4-BE49-F238E27FC236}">
                <a16:creationId xmlns:a16="http://schemas.microsoft.com/office/drawing/2014/main" id="{871366ED-7817-1A2E-031B-708CB1F2D53E}"/>
              </a:ext>
            </a:extLst>
          </p:cNvPr>
          <p:cNvSpPr txBox="1"/>
          <p:nvPr/>
        </p:nvSpPr>
        <p:spPr>
          <a:xfrm>
            <a:off x="6096000" y="4571999"/>
            <a:ext cx="3175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100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</a:p>
        </p:txBody>
      </p:sp>
      <p:sp>
        <p:nvSpPr>
          <p:cNvPr id="21" name="Text-119">
            <a:extLst>
              <a:ext uri="{FF2B5EF4-FFF2-40B4-BE49-F238E27FC236}">
                <a16:creationId xmlns:a16="http://schemas.microsoft.com/office/drawing/2014/main" id="{9DC744CD-56DC-4876-357B-E39F2B35D409}"/>
              </a:ext>
            </a:extLst>
          </p:cNvPr>
          <p:cNvSpPr txBox="1"/>
          <p:nvPr/>
        </p:nvSpPr>
        <p:spPr>
          <a:xfrm>
            <a:off x="6464300" y="4546599"/>
            <a:ext cx="36449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>
                <a:solidFill>
                  <a:srgbClr val="F0E9D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试玩与迭代</a:t>
            </a:r>
            <a:endParaRPr lang="en-US">
              <a:solidFill>
                <a:srgbClr val="F0E9D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2" name="Text-120">
            <a:extLst>
              <a:ext uri="{FF2B5EF4-FFF2-40B4-BE49-F238E27FC236}">
                <a16:creationId xmlns:a16="http://schemas.microsoft.com/office/drawing/2014/main" id="{69914684-D195-4955-70FA-21E985849E9A}"/>
              </a:ext>
            </a:extLst>
          </p:cNvPr>
          <p:cNvSpPr txBox="1"/>
          <p:nvPr/>
        </p:nvSpPr>
        <p:spPr>
          <a:xfrm>
            <a:off x="6464300" y="4940299"/>
            <a:ext cx="3644900" cy="533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150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观察约 </a:t>
            </a:r>
            <a:r>
              <a:rPr lang="en-US" altLang="zh-CN" sz="150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 </a:t>
            </a:r>
            <a:r>
              <a:rPr lang="zh-CN" altLang="en-US" sz="150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小时深度试玩，调整难度与引导。</a:t>
            </a:r>
            <a:endParaRPr lang="en-US" sz="1500">
              <a:solidFill>
                <a:srgbClr val="BBB9B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Text-121">
            <a:extLst>
              <a:ext uri="{FF2B5EF4-FFF2-40B4-BE49-F238E27FC236}">
                <a16:creationId xmlns:a16="http://schemas.microsoft.com/office/drawing/2014/main" id="{DC5C3E74-1660-6D79-2E2F-E50C10851007}"/>
              </a:ext>
            </a:extLst>
          </p:cNvPr>
          <p:cNvSpPr txBox="1"/>
          <p:nvPr/>
        </p:nvSpPr>
        <p:spPr>
          <a:xfrm>
            <a:off x="6096000" y="5486399"/>
            <a:ext cx="3175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100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</a:p>
        </p:txBody>
      </p:sp>
      <p:sp>
        <p:nvSpPr>
          <p:cNvPr id="24" name="Text-122">
            <a:extLst>
              <a:ext uri="{FF2B5EF4-FFF2-40B4-BE49-F238E27FC236}">
                <a16:creationId xmlns:a16="http://schemas.microsoft.com/office/drawing/2014/main" id="{DE30AD82-F173-C6C0-78D0-7AAA7B3BB97D}"/>
              </a:ext>
            </a:extLst>
          </p:cNvPr>
          <p:cNvSpPr txBox="1"/>
          <p:nvPr/>
        </p:nvSpPr>
        <p:spPr>
          <a:xfrm>
            <a:off x="6464300" y="5460999"/>
            <a:ext cx="36449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>
                <a:solidFill>
                  <a:srgbClr val="F0E9D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多阶段 </a:t>
            </a:r>
            <a:r>
              <a:rPr lang="en-US" altLang="zh-CN">
                <a:solidFill>
                  <a:srgbClr val="F0E9D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en-US">
                <a:solidFill>
                  <a:srgbClr val="F0E9D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 </a:t>
            </a:r>
            <a:r>
              <a:rPr lang="zh-CN" altLang="en-US">
                <a:solidFill>
                  <a:srgbClr val="F0E9D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渲染</a:t>
            </a:r>
            <a:endParaRPr lang="en-US">
              <a:solidFill>
                <a:srgbClr val="F0E9D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5" name="Text-123">
            <a:extLst>
              <a:ext uri="{FF2B5EF4-FFF2-40B4-BE49-F238E27FC236}">
                <a16:creationId xmlns:a16="http://schemas.microsoft.com/office/drawing/2014/main" id="{155E2685-2867-2325-703E-E9C231B8CCF1}"/>
              </a:ext>
            </a:extLst>
          </p:cNvPr>
          <p:cNvSpPr txBox="1"/>
          <p:nvPr/>
        </p:nvSpPr>
        <p:spPr>
          <a:xfrm>
            <a:off x="6464300" y="5854699"/>
            <a:ext cx="3644900" cy="533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150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 </a:t>
            </a:r>
            <a:r>
              <a:rPr lang="en-US" sz="150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SubViewport </a:t>
            </a:r>
            <a:r>
              <a:rPr lang="zh-CN" altLang="en-US" sz="150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 </a:t>
            </a:r>
            <a:r>
              <a:rPr lang="en-US" sz="150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Shader </a:t>
            </a:r>
            <a:r>
              <a:rPr lang="zh-CN" altLang="en-US" sz="150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分层处理及合成。</a:t>
            </a:r>
            <a:endParaRPr lang="en-US" sz="1500">
              <a:solidFill>
                <a:srgbClr val="BBB9B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Text-124">
            <a:extLst>
              <a:ext uri="{FF2B5EF4-FFF2-40B4-BE49-F238E27FC236}">
                <a16:creationId xmlns:a16="http://schemas.microsoft.com/office/drawing/2014/main" id="{108EEE7F-271E-AB11-507B-E290F50EEA83}"/>
              </a:ext>
            </a:extLst>
          </p:cNvPr>
          <p:cNvSpPr txBox="1"/>
          <p:nvPr/>
        </p:nvSpPr>
        <p:spPr>
          <a:xfrm>
            <a:off x="584200" y="6362699"/>
            <a:ext cx="9525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1200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我的职责：</a:t>
            </a:r>
            <a:r>
              <a:rPr lang="zh-CN" altLang="en-US" sz="1200">
                <a:solidFill>
                  <a:srgbClr val="F0E9D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全部三章的关卡设计，参与玩法简化、程序与技术美术。</a:t>
            </a:r>
            <a:endParaRPr lang="en-US" sz="1200">
              <a:solidFill>
                <a:srgbClr val="F0E9D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Text-125">
            <a:hlinkClick r:id="rId4"/>
            <a:extLst>
              <a:ext uri="{FF2B5EF4-FFF2-40B4-BE49-F238E27FC236}">
                <a16:creationId xmlns:a16="http://schemas.microsoft.com/office/drawing/2014/main" id="{C20E2614-330F-F293-986C-8F79D8B51D7F}"/>
              </a:ext>
            </a:extLst>
          </p:cNvPr>
          <p:cNvSpPr txBox="1"/>
          <p:nvPr/>
        </p:nvSpPr>
        <p:spPr>
          <a:xfrm>
            <a:off x="584200" y="6667499"/>
            <a:ext cx="9525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1150" u="sng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4"/>
              </a:rPr>
              <a:t>博客项目页  </a:t>
            </a:r>
            <a:r>
              <a:rPr lang="en-US" altLang="zh-CN" sz="1150" u="sng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4"/>
              </a:rPr>
              <a:t>/  </a:t>
            </a:r>
            <a:r>
              <a:rPr lang="en-US" sz="1150" u="sng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4"/>
              </a:rPr>
              <a:t>zhoushangli.github.io/projects/spectrex/</a:t>
            </a:r>
            <a:endParaRPr lang="en-US" sz="1150" u="sng">
              <a:solidFill>
                <a:srgbClr val="D2B38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557984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7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eometry-1">
            <a:extLst>
              <a:ext uri="{FF2B5EF4-FFF2-40B4-BE49-F238E27FC236}">
                <a16:creationId xmlns:a16="http://schemas.microsoft.com/office/drawing/2014/main" id="{48FAEFE5-C036-4B86-3054-9B7B9BE1263A}"/>
              </a:ext>
            </a:extLst>
          </p:cNvPr>
          <p:cNvSpPr/>
          <p:nvPr/>
        </p:nvSpPr>
        <p:spPr>
          <a:xfrm>
            <a:off x="9080500" y="-355600"/>
            <a:ext cx="1841500" cy="1397000"/>
          </a:xfrm>
          <a:prstGeom prst="rect">
            <a:avLst/>
          </a:prstGeom>
          <a:noFill/>
          <a:ln w="8255" cap="flat" cmpd="sng" algn="ctr">
            <a:solidFill>
              <a:srgbClr val="D2B387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Geometry-2">
            <a:extLst>
              <a:ext uri="{FF2B5EF4-FFF2-40B4-BE49-F238E27FC236}">
                <a16:creationId xmlns:a16="http://schemas.microsoft.com/office/drawing/2014/main" id="{D16FF6A9-82FA-B8FD-2789-2A0C76670BFF}"/>
              </a:ext>
            </a:extLst>
          </p:cNvPr>
          <p:cNvSpPr/>
          <p:nvPr/>
        </p:nvSpPr>
        <p:spPr>
          <a:xfrm>
            <a:off x="9398000" y="-101600"/>
            <a:ext cx="1841500" cy="1397000"/>
          </a:xfrm>
          <a:prstGeom prst="rect">
            <a:avLst/>
          </a:prstGeom>
          <a:noFill/>
          <a:ln w="8255" cap="flat" cmpd="sng" algn="ctr">
            <a:solidFill>
              <a:srgbClr val="D2B387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-126">
            <a:extLst>
              <a:ext uri="{FF2B5EF4-FFF2-40B4-BE49-F238E27FC236}">
                <a16:creationId xmlns:a16="http://schemas.microsoft.com/office/drawing/2014/main" id="{9D88A090-FC96-924E-90C4-32CF740B1482}"/>
              </a:ext>
            </a:extLst>
          </p:cNvPr>
          <p:cNvSpPr txBox="1"/>
          <p:nvPr/>
        </p:nvSpPr>
        <p:spPr>
          <a:xfrm>
            <a:off x="584200" y="368299"/>
            <a:ext cx="8255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1200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第二章  </a:t>
            </a:r>
            <a:r>
              <a:rPr lang="en-US" altLang="zh-CN" sz="1200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 </a:t>
            </a:r>
            <a:r>
              <a:rPr lang="zh-CN" altLang="en-US" sz="1200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具体作品  </a:t>
            </a:r>
            <a:r>
              <a:rPr lang="en-US" altLang="zh-CN" sz="1200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 </a:t>
            </a:r>
            <a:r>
              <a:rPr lang="zh-CN" altLang="en-US" sz="1200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团队作品</a:t>
            </a:r>
            <a:endParaRPr lang="en-US" sz="1200">
              <a:solidFill>
                <a:srgbClr val="D2B38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-127">
            <a:extLst>
              <a:ext uri="{FF2B5EF4-FFF2-40B4-BE49-F238E27FC236}">
                <a16:creationId xmlns:a16="http://schemas.microsoft.com/office/drawing/2014/main" id="{6664A886-B0C4-5897-B596-124786BDB025}"/>
              </a:ext>
            </a:extLst>
          </p:cNvPr>
          <p:cNvSpPr txBox="1"/>
          <p:nvPr/>
        </p:nvSpPr>
        <p:spPr>
          <a:xfrm>
            <a:off x="584200" y="787399"/>
            <a:ext cx="9525000" cy="698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3200">
                <a:solidFill>
                  <a:srgbClr val="F0E9D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Hamsterballin'</a:t>
            </a: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6F145BF8-8E01-B2AD-9CB8-9B332817979D}"/>
              </a:ext>
            </a:extLst>
          </p:cNvPr>
          <p:cNvCxnSpPr/>
          <p:nvPr/>
        </p:nvCxnSpPr>
        <p:spPr>
          <a:xfrm>
            <a:off x="584200" y="1600200"/>
            <a:ext cx="9525000" cy="0"/>
          </a:xfrm>
          <a:prstGeom prst="line">
            <a:avLst/>
          </a:prstGeom>
          <a:ln w="11430">
            <a:solidFill>
              <a:srgbClr val="D2B3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2909690A-C6BE-C811-DBC7-277F6DFBC263}"/>
              </a:ext>
            </a:extLst>
          </p:cNvPr>
          <p:cNvCxnSpPr/>
          <p:nvPr/>
        </p:nvCxnSpPr>
        <p:spPr>
          <a:xfrm>
            <a:off x="584200" y="6985000"/>
            <a:ext cx="9525000" cy="0"/>
          </a:xfrm>
          <a:prstGeom prst="line">
            <a:avLst/>
          </a:prstGeom>
          <a:ln w="8255">
            <a:solidFill>
              <a:srgbClr val="3944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-128">
            <a:extLst>
              <a:ext uri="{FF2B5EF4-FFF2-40B4-BE49-F238E27FC236}">
                <a16:creationId xmlns:a16="http://schemas.microsoft.com/office/drawing/2014/main" id="{BC14C233-DB1B-8C6B-4F4E-96C086C7797B}"/>
              </a:ext>
            </a:extLst>
          </p:cNvPr>
          <p:cNvSpPr txBox="1"/>
          <p:nvPr/>
        </p:nvSpPr>
        <p:spPr>
          <a:xfrm>
            <a:off x="584200" y="7137400"/>
            <a:ext cx="8128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105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周尚礼  </a:t>
            </a:r>
            <a:r>
              <a:rPr lang="en-US" altLang="zh-CN" sz="105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 </a:t>
            </a:r>
            <a:r>
              <a:rPr lang="zh-CN" altLang="en-US" sz="105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游戏开发与教学实践</a:t>
            </a:r>
            <a:endParaRPr lang="en-US" sz="1050">
              <a:solidFill>
                <a:srgbClr val="BBB9B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-129">
            <a:extLst>
              <a:ext uri="{FF2B5EF4-FFF2-40B4-BE49-F238E27FC236}">
                <a16:creationId xmlns:a16="http://schemas.microsoft.com/office/drawing/2014/main" id="{3358C430-1F3C-B758-1CA8-976CBA46592A}"/>
              </a:ext>
            </a:extLst>
          </p:cNvPr>
          <p:cNvSpPr txBox="1"/>
          <p:nvPr/>
        </p:nvSpPr>
        <p:spPr>
          <a:xfrm>
            <a:off x="9550400" y="7111999"/>
            <a:ext cx="762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100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08 / 10</a:t>
            </a:r>
          </a:p>
        </p:txBody>
      </p:sp>
      <p:sp>
        <p:nvSpPr>
          <p:cNvPr id="10" name="Text-130">
            <a:extLst>
              <a:ext uri="{FF2B5EF4-FFF2-40B4-BE49-F238E27FC236}">
                <a16:creationId xmlns:a16="http://schemas.microsoft.com/office/drawing/2014/main" id="{876F434C-E53E-2B21-F557-F1CC506D1B83}"/>
              </a:ext>
            </a:extLst>
          </p:cNvPr>
          <p:cNvSpPr txBox="1"/>
          <p:nvPr/>
        </p:nvSpPr>
        <p:spPr>
          <a:xfrm>
            <a:off x="584200" y="1879599"/>
            <a:ext cx="9525000" cy="609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55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SMU Guildhall </a:t>
            </a:r>
            <a:r>
              <a:rPr lang="zh-CN" altLang="en-US" sz="155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团队使用 </a:t>
            </a:r>
            <a:r>
              <a:rPr lang="en-US" sz="155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Unreal Engine 5 </a:t>
            </a:r>
            <a:r>
              <a:rPr lang="zh-CN" altLang="en-US" sz="155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制作的竞技街机赛车游戏。</a:t>
            </a:r>
            <a:endParaRPr lang="en-US" sz="1550">
              <a:solidFill>
                <a:srgbClr val="BBB9B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" name="Image-6" descr="hamsterballin.jpg">
            <a:extLst>
              <a:ext uri="{FF2B5EF4-FFF2-40B4-BE49-F238E27FC236}">
                <a16:creationId xmlns:a16="http://schemas.microsoft.com/office/drawing/2014/main" id="{492DBED9-C97B-32E7-D58F-729BC1CDD709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700" y="3127306"/>
            <a:ext cx="4279900" cy="2000388"/>
          </a:xfrm>
          <a:prstGeom prst="rect">
            <a:avLst/>
          </a:prstGeom>
        </p:spPr>
      </p:pic>
      <p:sp>
        <p:nvSpPr>
          <p:cNvPr id="13" name="Text-131">
            <a:extLst>
              <a:ext uri="{FF2B5EF4-FFF2-40B4-BE49-F238E27FC236}">
                <a16:creationId xmlns:a16="http://schemas.microsoft.com/office/drawing/2014/main" id="{1A0AB95D-039B-EBD4-704E-1341E7BC9B05}"/>
              </a:ext>
            </a:extLst>
          </p:cNvPr>
          <p:cNvSpPr txBox="1"/>
          <p:nvPr/>
        </p:nvSpPr>
        <p:spPr>
          <a:xfrm>
            <a:off x="584200" y="5841999"/>
            <a:ext cx="5168900" cy="469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110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团队游戏宣传封面。</a:t>
            </a:r>
            <a:endParaRPr lang="en-US" sz="1100">
              <a:solidFill>
                <a:srgbClr val="BBB9B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Text-132">
            <a:extLst>
              <a:ext uri="{FF2B5EF4-FFF2-40B4-BE49-F238E27FC236}">
                <a16:creationId xmlns:a16="http://schemas.microsoft.com/office/drawing/2014/main" id="{B3E956E8-E8E6-D12D-2E60-4BBC181EEC4C}"/>
              </a:ext>
            </a:extLst>
          </p:cNvPr>
          <p:cNvSpPr txBox="1"/>
          <p:nvPr/>
        </p:nvSpPr>
        <p:spPr>
          <a:xfrm>
            <a:off x="6096000" y="2743199"/>
            <a:ext cx="3175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100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</a:p>
        </p:txBody>
      </p:sp>
      <p:sp>
        <p:nvSpPr>
          <p:cNvPr id="15" name="Text-133">
            <a:extLst>
              <a:ext uri="{FF2B5EF4-FFF2-40B4-BE49-F238E27FC236}">
                <a16:creationId xmlns:a16="http://schemas.microsoft.com/office/drawing/2014/main" id="{9D8CA376-943E-36FF-9F4C-92DB13FE8D27}"/>
              </a:ext>
            </a:extLst>
          </p:cNvPr>
          <p:cNvSpPr txBox="1"/>
          <p:nvPr/>
        </p:nvSpPr>
        <p:spPr>
          <a:xfrm>
            <a:off x="6464300" y="2717799"/>
            <a:ext cx="36449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en-US">
                <a:solidFill>
                  <a:srgbClr val="F0E9D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PCG </a:t>
            </a:r>
            <a:r>
              <a:rPr lang="zh-CN" altLang="en-US">
                <a:solidFill>
                  <a:srgbClr val="F0E9D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道路生成</a:t>
            </a:r>
            <a:endParaRPr lang="en-US">
              <a:solidFill>
                <a:srgbClr val="F0E9D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6" name="Text-134">
            <a:extLst>
              <a:ext uri="{FF2B5EF4-FFF2-40B4-BE49-F238E27FC236}">
                <a16:creationId xmlns:a16="http://schemas.microsoft.com/office/drawing/2014/main" id="{116DCFDD-6929-4DE9-2D05-6637215D631D}"/>
              </a:ext>
            </a:extLst>
          </p:cNvPr>
          <p:cNvSpPr txBox="1"/>
          <p:nvPr/>
        </p:nvSpPr>
        <p:spPr>
          <a:xfrm>
            <a:off x="6464300" y="3111499"/>
            <a:ext cx="3644900" cy="533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150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开发程序化道路生成流程，支持赛道制作。</a:t>
            </a:r>
            <a:endParaRPr lang="en-US" sz="1500">
              <a:solidFill>
                <a:srgbClr val="BBB9B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Text-135">
            <a:extLst>
              <a:ext uri="{FF2B5EF4-FFF2-40B4-BE49-F238E27FC236}">
                <a16:creationId xmlns:a16="http://schemas.microsoft.com/office/drawing/2014/main" id="{FF75E5E5-3B08-613C-BEF7-19E6FEA78EBC}"/>
              </a:ext>
            </a:extLst>
          </p:cNvPr>
          <p:cNvSpPr txBox="1"/>
          <p:nvPr/>
        </p:nvSpPr>
        <p:spPr>
          <a:xfrm>
            <a:off x="6096000" y="3657599"/>
            <a:ext cx="3175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100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</a:p>
        </p:txBody>
      </p:sp>
      <p:sp>
        <p:nvSpPr>
          <p:cNvPr id="18" name="Text-136">
            <a:extLst>
              <a:ext uri="{FF2B5EF4-FFF2-40B4-BE49-F238E27FC236}">
                <a16:creationId xmlns:a16="http://schemas.microsoft.com/office/drawing/2014/main" id="{7B053791-EC2E-FBD1-1B2D-A342B44D54A0}"/>
              </a:ext>
            </a:extLst>
          </p:cNvPr>
          <p:cNvSpPr txBox="1"/>
          <p:nvPr/>
        </p:nvSpPr>
        <p:spPr>
          <a:xfrm>
            <a:off x="6464300" y="3632199"/>
            <a:ext cx="36449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>
                <a:solidFill>
                  <a:srgbClr val="F0E9D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生成性能优化</a:t>
            </a:r>
            <a:endParaRPr lang="en-US">
              <a:solidFill>
                <a:srgbClr val="F0E9D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9" name="Text-137">
            <a:extLst>
              <a:ext uri="{FF2B5EF4-FFF2-40B4-BE49-F238E27FC236}">
                <a16:creationId xmlns:a16="http://schemas.microsoft.com/office/drawing/2014/main" id="{3811B7A5-99F3-BFFF-913B-78BC56C9C55F}"/>
              </a:ext>
            </a:extLst>
          </p:cNvPr>
          <p:cNvSpPr txBox="1"/>
          <p:nvPr/>
        </p:nvSpPr>
        <p:spPr>
          <a:xfrm>
            <a:off x="6464300" y="4025899"/>
            <a:ext cx="3644900" cy="533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150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优化 </a:t>
            </a:r>
            <a:r>
              <a:rPr lang="en-US" altLang="zh-CN" sz="150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PCG </a:t>
            </a:r>
            <a:r>
              <a:rPr lang="zh-CN" altLang="en-US" sz="150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流程，使其能够用于内容生产。</a:t>
            </a:r>
            <a:endParaRPr lang="en-US" sz="1500">
              <a:solidFill>
                <a:srgbClr val="BBB9B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Text-138">
            <a:extLst>
              <a:ext uri="{FF2B5EF4-FFF2-40B4-BE49-F238E27FC236}">
                <a16:creationId xmlns:a16="http://schemas.microsoft.com/office/drawing/2014/main" id="{12B88AB0-91CA-8F08-DD82-48D674044961}"/>
              </a:ext>
            </a:extLst>
          </p:cNvPr>
          <p:cNvSpPr txBox="1"/>
          <p:nvPr/>
        </p:nvSpPr>
        <p:spPr>
          <a:xfrm>
            <a:off x="6096000" y="4571999"/>
            <a:ext cx="3175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100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</a:p>
        </p:txBody>
      </p:sp>
      <p:sp>
        <p:nvSpPr>
          <p:cNvPr id="21" name="Text-139">
            <a:extLst>
              <a:ext uri="{FF2B5EF4-FFF2-40B4-BE49-F238E27FC236}">
                <a16:creationId xmlns:a16="http://schemas.microsoft.com/office/drawing/2014/main" id="{0334D412-D1F4-D282-6F34-13B1BE10871D}"/>
              </a:ext>
            </a:extLst>
          </p:cNvPr>
          <p:cNvSpPr txBox="1"/>
          <p:nvPr/>
        </p:nvSpPr>
        <p:spPr>
          <a:xfrm>
            <a:off x="6464300" y="4546599"/>
            <a:ext cx="36449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>
                <a:solidFill>
                  <a:srgbClr val="F0E9D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材质与视觉效果</a:t>
            </a:r>
            <a:endParaRPr lang="en-US">
              <a:solidFill>
                <a:srgbClr val="F0E9D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2" name="Text-140">
            <a:extLst>
              <a:ext uri="{FF2B5EF4-FFF2-40B4-BE49-F238E27FC236}">
                <a16:creationId xmlns:a16="http://schemas.microsoft.com/office/drawing/2014/main" id="{270C2634-5C62-5441-CC7D-5DA8966DFB5B}"/>
              </a:ext>
            </a:extLst>
          </p:cNvPr>
          <p:cNvSpPr txBox="1"/>
          <p:nvPr/>
        </p:nvSpPr>
        <p:spPr>
          <a:xfrm>
            <a:off x="6464300" y="4940299"/>
            <a:ext cx="3644900" cy="533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150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与美术合作搭建材质，并提供技术支持。</a:t>
            </a:r>
            <a:endParaRPr lang="en-US" sz="1500">
              <a:solidFill>
                <a:srgbClr val="BBB9B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Text-141">
            <a:extLst>
              <a:ext uri="{FF2B5EF4-FFF2-40B4-BE49-F238E27FC236}">
                <a16:creationId xmlns:a16="http://schemas.microsoft.com/office/drawing/2014/main" id="{5DE19C53-5F66-E34C-7120-5FE073BBFA75}"/>
              </a:ext>
            </a:extLst>
          </p:cNvPr>
          <p:cNvSpPr txBox="1"/>
          <p:nvPr/>
        </p:nvSpPr>
        <p:spPr>
          <a:xfrm>
            <a:off x="6096000" y="5486399"/>
            <a:ext cx="3175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100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</a:p>
        </p:txBody>
      </p:sp>
      <p:sp>
        <p:nvSpPr>
          <p:cNvPr id="24" name="Text-142">
            <a:extLst>
              <a:ext uri="{FF2B5EF4-FFF2-40B4-BE49-F238E27FC236}">
                <a16:creationId xmlns:a16="http://schemas.microsoft.com/office/drawing/2014/main" id="{E2AFD1CA-B92C-405B-BEE6-4DF287788F10}"/>
              </a:ext>
            </a:extLst>
          </p:cNvPr>
          <p:cNvSpPr txBox="1"/>
          <p:nvPr/>
        </p:nvSpPr>
        <p:spPr>
          <a:xfrm>
            <a:off x="6464300" y="5460999"/>
            <a:ext cx="36449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>
                <a:solidFill>
                  <a:srgbClr val="F0E9D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部分 </a:t>
            </a:r>
            <a:r>
              <a:rPr lang="en-US">
                <a:solidFill>
                  <a:srgbClr val="F0E9D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UI </a:t>
            </a:r>
            <a:r>
              <a:rPr lang="zh-CN" altLang="en-US">
                <a:solidFill>
                  <a:srgbClr val="F0E9D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实现</a:t>
            </a:r>
            <a:endParaRPr lang="en-US">
              <a:solidFill>
                <a:srgbClr val="F0E9D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5" name="Text-143">
            <a:extLst>
              <a:ext uri="{FF2B5EF4-FFF2-40B4-BE49-F238E27FC236}">
                <a16:creationId xmlns:a16="http://schemas.microsoft.com/office/drawing/2014/main" id="{A406EF4A-0A82-FE97-C054-3B137D396278}"/>
              </a:ext>
            </a:extLst>
          </p:cNvPr>
          <p:cNvSpPr txBox="1"/>
          <p:nvPr/>
        </p:nvSpPr>
        <p:spPr>
          <a:xfrm>
            <a:off x="6464300" y="5854699"/>
            <a:ext cx="3644900" cy="533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150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实现并协助完善选定的界面功能。</a:t>
            </a:r>
            <a:endParaRPr lang="en-US" sz="1500">
              <a:solidFill>
                <a:srgbClr val="BBB9B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Text-144">
            <a:extLst>
              <a:ext uri="{FF2B5EF4-FFF2-40B4-BE49-F238E27FC236}">
                <a16:creationId xmlns:a16="http://schemas.microsoft.com/office/drawing/2014/main" id="{52ECB25B-F2C6-FDCE-EA53-11C0E48EBF17}"/>
              </a:ext>
            </a:extLst>
          </p:cNvPr>
          <p:cNvSpPr txBox="1"/>
          <p:nvPr/>
        </p:nvSpPr>
        <p:spPr>
          <a:xfrm>
            <a:off x="584200" y="6362699"/>
            <a:ext cx="9525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1200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我的职责：</a:t>
            </a:r>
            <a:r>
              <a:rPr lang="zh-CN" altLang="en-US" sz="1200">
                <a:solidFill>
                  <a:srgbClr val="F0E9D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游戏程序，主要负责 </a:t>
            </a:r>
            <a:r>
              <a:rPr lang="en-US" altLang="zh-CN" sz="1200">
                <a:solidFill>
                  <a:srgbClr val="F0E9D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PCG </a:t>
            </a:r>
            <a:r>
              <a:rPr lang="zh-CN" altLang="en-US" sz="1200">
                <a:solidFill>
                  <a:srgbClr val="F0E9D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道路工具与优化，并参与技术美术和 </a:t>
            </a:r>
            <a:r>
              <a:rPr lang="en-US" altLang="zh-CN" sz="1200">
                <a:solidFill>
                  <a:srgbClr val="F0E9D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UI</a:t>
            </a:r>
            <a:r>
              <a:rPr lang="zh-CN" altLang="en-US" sz="1200">
                <a:solidFill>
                  <a:srgbClr val="F0E9D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sz="1200">
              <a:solidFill>
                <a:srgbClr val="F0E9D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Text-145">
            <a:hlinkClick r:id="rId4"/>
            <a:extLst>
              <a:ext uri="{FF2B5EF4-FFF2-40B4-BE49-F238E27FC236}">
                <a16:creationId xmlns:a16="http://schemas.microsoft.com/office/drawing/2014/main" id="{5C5B5911-3C10-B4B7-ABBC-173A3E59FE83}"/>
              </a:ext>
            </a:extLst>
          </p:cNvPr>
          <p:cNvSpPr txBox="1"/>
          <p:nvPr/>
        </p:nvSpPr>
        <p:spPr>
          <a:xfrm>
            <a:off x="584200" y="6667499"/>
            <a:ext cx="9525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1150" u="sng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4"/>
              </a:rPr>
              <a:t>博客项目页  </a:t>
            </a:r>
            <a:r>
              <a:rPr lang="en-US" altLang="zh-CN" sz="1150" u="sng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4"/>
              </a:rPr>
              <a:t>/  </a:t>
            </a:r>
            <a:r>
              <a:rPr lang="en-US" sz="1150" u="sng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4"/>
              </a:rPr>
              <a:t>zhoushangli.github.io/projects/hamsterballin/</a:t>
            </a:r>
            <a:endParaRPr lang="en-US" sz="1150" u="sng">
              <a:solidFill>
                <a:srgbClr val="D2B38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858610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7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eometry-1">
            <a:extLst>
              <a:ext uri="{FF2B5EF4-FFF2-40B4-BE49-F238E27FC236}">
                <a16:creationId xmlns:a16="http://schemas.microsoft.com/office/drawing/2014/main" id="{1C1C2451-DE86-3894-7C03-3F6580187B66}"/>
              </a:ext>
            </a:extLst>
          </p:cNvPr>
          <p:cNvSpPr/>
          <p:nvPr/>
        </p:nvSpPr>
        <p:spPr>
          <a:xfrm>
            <a:off x="8890000" y="-431800"/>
            <a:ext cx="1651000" cy="1651000"/>
          </a:xfrm>
          <a:prstGeom prst="ellipse">
            <a:avLst/>
          </a:prstGeom>
          <a:noFill/>
          <a:ln w="8255" cap="flat" cmpd="sng" algn="ctr">
            <a:solidFill>
              <a:srgbClr val="D2B387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Geometry-2">
            <a:extLst>
              <a:ext uri="{FF2B5EF4-FFF2-40B4-BE49-F238E27FC236}">
                <a16:creationId xmlns:a16="http://schemas.microsoft.com/office/drawing/2014/main" id="{176B3CA8-32A2-6FC3-8413-0C060D6F58A2}"/>
              </a:ext>
            </a:extLst>
          </p:cNvPr>
          <p:cNvSpPr/>
          <p:nvPr/>
        </p:nvSpPr>
        <p:spPr>
          <a:xfrm>
            <a:off x="9639300" y="-431800"/>
            <a:ext cx="1651000" cy="1651000"/>
          </a:xfrm>
          <a:prstGeom prst="ellipse">
            <a:avLst/>
          </a:prstGeom>
          <a:noFill/>
          <a:ln w="8255" cap="flat" cmpd="sng" algn="ctr">
            <a:solidFill>
              <a:srgbClr val="D2B387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-146">
            <a:extLst>
              <a:ext uri="{FF2B5EF4-FFF2-40B4-BE49-F238E27FC236}">
                <a16:creationId xmlns:a16="http://schemas.microsoft.com/office/drawing/2014/main" id="{DE8F6F9E-B69E-03FB-9A6B-28541F363390}"/>
              </a:ext>
            </a:extLst>
          </p:cNvPr>
          <p:cNvSpPr txBox="1"/>
          <p:nvPr/>
        </p:nvSpPr>
        <p:spPr>
          <a:xfrm>
            <a:off x="584200" y="368299"/>
            <a:ext cx="8255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1200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第三章  </a:t>
            </a:r>
            <a:r>
              <a:rPr lang="en-US" altLang="zh-CN" sz="1200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 </a:t>
            </a:r>
            <a:r>
              <a:rPr lang="zh-CN" altLang="en-US" sz="1200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教学实践</a:t>
            </a:r>
            <a:endParaRPr lang="en-US" sz="1200">
              <a:solidFill>
                <a:srgbClr val="D2B38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-147">
            <a:extLst>
              <a:ext uri="{FF2B5EF4-FFF2-40B4-BE49-F238E27FC236}">
                <a16:creationId xmlns:a16="http://schemas.microsoft.com/office/drawing/2014/main" id="{4314D8F3-3E2B-B42B-D7B0-995841FD70D1}"/>
              </a:ext>
            </a:extLst>
          </p:cNvPr>
          <p:cNvSpPr txBox="1"/>
          <p:nvPr/>
        </p:nvSpPr>
        <p:spPr>
          <a:xfrm>
            <a:off x="584200" y="787399"/>
            <a:ext cx="9525000" cy="698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3200">
                <a:solidFill>
                  <a:srgbClr val="F0E9D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PICO-8 </a:t>
            </a:r>
            <a:r>
              <a:rPr lang="zh-CN" altLang="en-US" sz="3200">
                <a:solidFill>
                  <a:srgbClr val="F0E9D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入门培训</a:t>
            </a:r>
            <a:endParaRPr lang="en-US" sz="3200">
              <a:solidFill>
                <a:srgbClr val="F0E9D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5EDAE9DE-4BD7-E774-B876-B6DD86C0D8A7}"/>
              </a:ext>
            </a:extLst>
          </p:cNvPr>
          <p:cNvCxnSpPr/>
          <p:nvPr/>
        </p:nvCxnSpPr>
        <p:spPr>
          <a:xfrm>
            <a:off x="584200" y="1600200"/>
            <a:ext cx="9525000" cy="0"/>
          </a:xfrm>
          <a:prstGeom prst="line">
            <a:avLst/>
          </a:prstGeom>
          <a:ln w="11430">
            <a:solidFill>
              <a:srgbClr val="D2B3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B719D676-40F9-3808-7CD8-3A66E75D9D69}"/>
              </a:ext>
            </a:extLst>
          </p:cNvPr>
          <p:cNvCxnSpPr/>
          <p:nvPr/>
        </p:nvCxnSpPr>
        <p:spPr>
          <a:xfrm>
            <a:off x="584200" y="6985000"/>
            <a:ext cx="9525000" cy="0"/>
          </a:xfrm>
          <a:prstGeom prst="line">
            <a:avLst/>
          </a:prstGeom>
          <a:ln w="8255">
            <a:solidFill>
              <a:srgbClr val="3944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-148">
            <a:extLst>
              <a:ext uri="{FF2B5EF4-FFF2-40B4-BE49-F238E27FC236}">
                <a16:creationId xmlns:a16="http://schemas.microsoft.com/office/drawing/2014/main" id="{2DBBBA31-D270-AB5F-893F-9953524B1376}"/>
              </a:ext>
            </a:extLst>
          </p:cNvPr>
          <p:cNvSpPr txBox="1"/>
          <p:nvPr/>
        </p:nvSpPr>
        <p:spPr>
          <a:xfrm>
            <a:off x="584200" y="7137400"/>
            <a:ext cx="8128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105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周尚礼  </a:t>
            </a:r>
            <a:r>
              <a:rPr lang="en-US" altLang="zh-CN" sz="105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 </a:t>
            </a:r>
            <a:r>
              <a:rPr lang="zh-CN" altLang="en-US" sz="105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游戏开发与教学实践</a:t>
            </a:r>
            <a:endParaRPr lang="en-US" sz="1050">
              <a:solidFill>
                <a:srgbClr val="BBB9B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-149">
            <a:extLst>
              <a:ext uri="{FF2B5EF4-FFF2-40B4-BE49-F238E27FC236}">
                <a16:creationId xmlns:a16="http://schemas.microsoft.com/office/drawing/2014/main" id="{54D97BF9-4838-50DC-B595-2E6221BD3927}"/>
              </a:ext>
            </a:extLst>
          </p:cNvPr>
          <p:cNvSpPr txBox="1"/>
          <p:nvPr/>
        </p:nvSpPr>
        <p:spPr>
          <a:xfrm>
            <a:off x="9550400" y="7111999"/>
            <a:ext cx="762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100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09 / 10</a:t>
            </a:r>
          </a:p>
        </p:txBody>
      </p:sp>
      <p:sp>
        <p:nvSpPr>
          <p:cNvPr id="10" name="Text-150">
            <a:extLst>
              <a:ext uri="{FF2B5EF4-FFF2-40B4-BE49-F238E27FC236}">
                <a16:creationId xmlns:a16="http://schemas.microsoft.com/office/drawing/2014/main" id="{E749250E-D2B2-437F-127E-8E6BEEE64AF5}"/>
              </a:ext>
            </a:extLst>
          </p:cNvPr>
          <p:cNvSpPr txBox="1"/>
          <p:nvPr/>
        </p:nvSpPr>
        <p:spPr>
          <a:xfrm>
            <a:off x="584200" y="1955799"/>
            <a:ext cx="3175000" cy="863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2300">
                <a:solidFill>
                  <a:srgbClr val="F0E9D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面向游戏社新成员的
社团入门培训</a:t>
            </a:r>
            <a:endParaRPr lang="en-US" sz="2300">
              <a:solidFill>
                <a:srgbClr val="F0E9D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" name="Text-151">
            <a:extLst>
              <a:ext uri="{FF2B5EF4-FFF2-40B4-BE49-F238E27FC236}">
                <a16:creationId xmlns:a16="http://schemas.microsoft.com/office/drawing/2014/main" id="{5081CF60-8541-31F8-202F-6A5821C75178}"/>
              </a:ext>
            </a:extLst>
          </p:cNvPr>
          <p:cNvSpPr txBox="1"/>
          <p:nvPr/>
        </p:nvSpPr>
        <p:spPr>
          <a:xfrm>
            <a:off x="584200" y="3060699"/>
            <a:ext cx="3175000" cy="1206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160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我主讲 </a:t>
            </a:r>
            <a:r>
              <a:rPr lang="en-US" altLang="zh-CN" sz="160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Intro </a:t>
            </a:r>
            <a:r>
              <a:rPr lang="zh-CN" altLang="en-US" sz="160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与三次正课，每次约 </a:t>
            </a:r>
            <a:r>
              <a:rPr lang="en-US" altLang="zh-CN" sz="160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90 </a:t>
            </a:r>
            <a:r>
              <a:rPr lang="zh-CN" altLang="en-US" sz="160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分钟。课堂结合讲解与跟随操作，课后安排答疑与练习。</a:t>
            </a:r>
            <a:endParaRPr lang="en-US" sz="1600">
              <a:solidFill>
                <a:srgbClr val="BBB9B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Text-152">
            <a:extLst>
              <a:ext uri="{FF2B5EF4-FFF2-40B4-BE49-F238E27FC236}">
                <a16:creationId xmlns:a16="http://schemas.microsoft.com/office/drawing/2014/main" id="{95097ED0-5339-062C-D1D3-101DAD31841F}"/>
              </a:ext>
            </a:extLst>
          </p:cNvPr>
          <p:cNvSpPr txBox="1"/>
          <p:nvPr/>
        </p:nvSpPr>
        <p:spPr>
          <a:xfrm>
            <a:off x="584200" y="4648199"/>
            <a:ext cx="3175000" cy="393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2000">
                <a:solidFill>
                  <a:srgbClr val="D2B38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配套练习：打砖块</a:t>
            </a:r>
            <a:endParaRPr lang="en-US" sz="2000">
              <a:solidFill>
                <a:srgbClr val="D2B387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" name="Text-153">
            <a:extLst>
              <a:ext uri="{FF2B5EF4-FFF2-40B4-BE49-F238E27FC236}">
                <a16:creationId xmlns:a16="http://schemas.microsoft.com/office/drawing/2014/main" id="{6187604B-3332-944E-A93B-AA5993DEAFA7}"/>
              </a:ext>
            </a:extLst>
          </p:cNvPr>
          <p:cNvSpPr txBox="1"/>
          <p:nvPr/>
        </p:nvSpPr>
        <p:spPr>
          <a:xfrm>
            <a:off x="584200" y="5219699"/>
            <a:ext cx="3175000" cy="825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150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以小球移动、边缘碰撞和声音为练习，逐步完善游戏。</a:t>
            </a:r>
            <a:endParaRPr lang="en-US" sz="1500">
              <a:solidFill>
                <a:srgbClr val="BBB9B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Text-154">
            <a:extLst>
              <a:ext uri="{FF2B5EF4-FFF2-40B4-BE49-F238E27FC236}">
                <a16:creationId xmlns:a16="http://schemas.microsoft.com/office/drawing/2014/main" id="{39209F2E-1604-8BB7-4E7E-B17CA6A206A7}"/>
              </a:ext>
            </a:extLst>
          </p:cNvPr>
          <p:cNvSpPr txBox="1"/>
          <p:nvPr/>
        </p:nvSpPr>
        <p:spPr>
          <a:xfrm>
            <a:off x="584200" y="6210300"/>
            <a:ext cx="33655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110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助教与其他分享者也参与支持。</a:t>
            </a:r>
            <a:endParaRPr lang="en-US" sz="1100">
              <a:solidFill>
                <a:srgbClr val="BBB9B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Text-155">
            <a:extLst>
              <a:ext uri="{FF2B5EF4-FFF2-40B4-BE49-F238E27FC236}">
                <a16:creationId xmlns:a16="http://schemas.microsoft.com/office/drawing/2014/main" id="{385FF786-168B-473C-D85D-3D3CD42A7A03}"/>
              </a:ext>
            </a:extLst>
          </p:cNvPr>
          <p:cNvSpPr txBox="1"/>
          <p:nvPr/>
        </p:nvSpPr>
        <p:spPr>
          <a:xfrm>
            <a:off x="4191000" y="1955799"/>
            <a:ext cx="7366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en-US">
                <a:solidFill>
                  <a:srgbClr val="D2B38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Intro</a:t>
            </a:r>
          </a:p>
        </p:txBody>
      </p:sp>
      <p:sp>
        <p:nvSpPr>
          <p:cNvPr id="16" name="Text-156">
            <a:extLst>
              <a:ext uri="{FF2B5EF4-FFF2-40B4-BE49-F238E27FC236}">
                <a16:creationId xmlns:a16="http://schemas.microsoft.com/office/drawing/2014/main" id="{1D3B1708-EA5E-D59A-B445-07C0D37EA07A}"/>
              </a:ext>
            </a:extLst>
          </p:cNvPr>
          <p:cNvSpPr txBox="1"/>
          <p:nvPr/>
        </p:nvSpPr>
        <p:spPr>
          <a:xfrm>
            <a:off x="5054600" y="1955799"/>
            <a:ext cx="50546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1900">
                <a:solidFill>
                  <a:srgbClr val="F0E9D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认识工具与制作流程</a:t>
            </a:r>
            <a:endParaRPr lang="en-US" sz="1900">
              <a:solidFill>
                <a:srgbClr val="F0E9D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7" name="Text-157">
            <a:extLst>
              <a:ext uri="{FF2B5EF4-FFF2-40B4-BE49-F238E27FC236}">
                <a16:creationId xmlns:a16="http://schemas.microsoft.com/office/drawing/2014/main" id="{4311D736-1FE0-7748-1745-3B68267B1B74}"/>
              </a:ext>
            </a:extLst>
          </p:cNvPr>
          <p:cNvSpPr txBox="1"/>
          <p:nvPr/>
        </p:nvSpPr>
        <p:spPr>
          <a:xfrm>
            <a:off x="5054600" y="2362199"/>
            <a:ext cx="5054600" cy="482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150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保存、运行项目，了解课程与 </a:t>
            </a:r>
            <a:r>
              <a:rPr lang="en-US" sz="150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Gamejam </a:t>
            </a:r>
            <a:r>
              <a:rPr lang="zh-CN" altLang="en-US" sz="150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安排。</a:t>
            </a:r>
            <a:endParaRPr lang="en-US" sz="1500">
              <a:solidFill>
                <a:srgbClr val="BBB9B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83FBC798-30F1-19A2-DEA6-9683DFEB0C9D}"/>
              </a:ext>
            </a:extLst>
          </p:cNvPr>
          <p:cNvCxnSpPr/>
          <p:nvPr/>
        </p:nvCxnSpPr>
        <p:spPr>
          <a:xfrm>
            <a:off x="4191000" y="2895600"/>
            <a:ext cx="5918200" cy="0"/>
          </a:xfrm>
          <a:prstGeom prst="line">
            <a:avLst/>
          </a:prstGeom>
          <a:ln w="8255">
            <a:solidFill>
              <a:srgbClr val="3944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-158">
            <a:extLst>
              <a:ext uri="{FF2B5EF4-FFF2-40B4-BE49-F238E27FC236}">
                <a16:creationId xmlns:a16="http://schemas.microsoft.com/office/drawing/2014/main" id="{7640D348-4B5F-A9BD-7B46-86B7DC938ACE}"/>
              </a:ext>
            </a:extLst>
          </p:cNvPr>
          <p:cNvSpPr txBox="1"/>
          <p:nvPr/>
        </p:nvSpPr>
        <p:spPr>
          <a:xfrm>
            <a:off x="4191000" y="3022599"/>
            <a:ext cx="7366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en-US">
                <a:solidFill>
                  <a:srgbClr val="D2B38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L01</a:t>
            </a:r>
          </a:p>
        </p:txBody>
      </p:sp>
      <p:sp>
        <p:nvSpPr>
          <p:cNvPr id="20" name="Text-159">
            <a:extLst>
              <a:ext uri="{FF2B5EF4-FFF2-40B4-BE49-F238E27FC236}">
                <a16:creationId xmlns:a16="http://schemas.microsoft.com/office/drawing/2014/main" id="{C4B8AB42-C415-9708-3564-1E98780060CC}"/>
              </a:ext>
            </a:extLst>
          </p:cNvPr>
          <p:cNvSpPr txBox="1"/>
          <p:nvPr/>
        </p:nvSpPr>
        <p:spPr>
          <a:xfrm>
            <a:off x="5054600" y="3022599"/>
            <a:ext cx="50546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1900">
                <a:solidFill>
                  <a:srgbClr val="F0E9D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绘制、输入与角色移动</a:t>
            </a:r>
            <a:endParaRPr lang="en-US" sz="1900">
              <a:solidFill>
                <a:srgbClr val="F0E9D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1" name="Text-160">
            <a:extLst>
              <a:ext uri="{FF2B5EF4-FFF2-40B4-BE49-F238E27FC236}">
                <a16:creationId xmlns:a16="http://schemas.microsoft.com/office/drawing/2014/main" id="{7B4ED037-F66D-F01C-91F2-59EC9BA56F02}"/>
              </a:ext>
            </a:extLst>
          </p:cNvPr>
          <p:cNvSpPr txBox="1"/>
          <p:nvPr/>
        </p:nvSpPr>
        <p:spPr>
          <a:xfrm>
            <a:off x="5054600" y="3428999"/>
            <a:ext cx="5054600" cy="482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150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连接变量、按钮输入与角色在画面中的移动。</a:t>
            </a:r>
            <a:endParaRPr lang="en-US" sz="1500">
              <a:solidFill>
                <a:srgbClr val="BBB9B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E42F4752-C2F6-6E9B-E9B7-647DD2902197}"/>
              </a:ext>
            </a:extLst>
          </p:cNvPr>
          <p:cNvCxnSpPr/>
          <p:nvPr/>
        </p:nvCxnSpPr>
        <p:spPr>
          <a:xfrm>
            <a:off x="4191000" y="3962400"/>
            <a:ext cx="5918200" cy="0"/>
          </a:xfrm>
          <a:prstGeom prst="line">
            <a:avLst/>
          </a:prstGeom>
          <a:ln w="8255">
            <a:solidFill>
              <a:srgbClr val="3944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-161">
            <a:extLst>
              <a:ext uri="{FF2B5EF4-FFF2-40B4-BE49-F238E27FC236}">
                <a16:creationId xmlns:a16="http://schemas.microsoft.com/office/drawing/2014/main" id="{F0A7F365-FDDD-3E77-4CF5-180AE83139E0}"/>
              </a:ext>
            </a:extLst>
          </p:cNvPr>
          <p:cNvSpPr txBox="1"/>
          <p:nvPr/>
        </p:nvSpPr>
        <p:spPr>
          <a:xfrm>
            <a:off x="4191000" y="4089399"/>
            <a:ext cx="7366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en-US">
                <a:solidFill>
                  <a:srgbClr val="D2B38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L02</a:t>
            </a:r>
          </a:p>
        </p:txBody>
      </p:sp>
      <p:sp>
        <p:nvSpPr>
          <p:cNvPr id="24" name="Text-162">
            <a:extLst>
              <a:ext uri="{FF2B5EF4-FFF2-40B4-BE49-F238E27FC236}">
                <a16:creationId xmlns:a16="http://schemas.microsoft.com/office/drawing/2014/main" id="{1F7A82B2-EB89-213C-11CF-2F3F019D77EC}"/>
              </a:ext>
            </a:extLst>
          </p:cNvPr>
          <p:cNvSpPr txBox="1"/>
          <p:nvPr/>
        </p:nvSpPr>
        <p:spPr>
          <a:xfrm>
            <a:off x="5054600" y="4089399"/>
            <a:ext cx="50546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1900">
                <a:solidFill>
                  <a:srgbClr val="F0E9D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调试、移动函数与动画</a:t>
            </a:r>
            <a:endParaRPr lang="en-US" sz="1900">
              <a:solidFill>
                <a:srgbClr val="F0E9D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5" name="Text-163">
            <a:extLst>
              <a:ext uri="{FF2B5EF4-FFF2-40B4-BE49-F238E27FC236}">
                <a16:creationId xmlns:a16="http://schemas.microsoft.com/office/drawing/2014/main" id="{B8C2DD8C-DF69-E18D-0DA8-58882135953D}"/>
              </a:ext>
            </a:extLst>
          </p:cNvPr>
          <p:cNvSpPr txBox="1"/>
          <p:nvPr/>
        </p:nvSpPr>
        <p:spPr>
          <a:xfrm>
            <a:off x="5054600" y="4495799"/>
            <a:ext cx="5054600" cy="482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150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练习移动函数与动画，通过调试定位问题。</a:t>
            </a:r>
            <a:endParaRPr lang="en-US" sz="1500">
              <a:solidFill>
                <a:srgbClr val="BBB9B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57BAEA4F-E660-5115-5CA9-D30F87FA10E6}"/>
              </a:ext>
            </a:extLst>
          </p:cNvPr>
          <p:cNvCxnSpPr/>
          <p:nvPr/>
        </p:nvCxnSpPr>
        <p:spPr>
          <a:xfrm>
            <a:off x="4191000" y="5029200"/>
            <a:ext cx="5918200" cy="0"/>
          </a:xfrm>
          <a:prstGeom prst="line">
            <a:avLst/>
          </a:prstGeom>
          <a:ln w="8255">
            <a:solidFill>
              <a:srgbClr val="3944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-164">
            <a:extLst>
              <a:ext uri="{FF2B5EF4-FFF2-40B4-BE49-F238E27FC236}">
                <a16:creationId xmlns:a16="http://schemas.microsoft.com/office/drawing/2014/main" id="{D3ADB0F4-63D7-1215-56CC-B11183849122}"/>
              </a:ext>
            </a:extLst>
          </p:cNvPr>
          <p:cNvSpPr txBox="1"/>
          <p:nvPr/>
        </p:nvSpPr>
        <p:spPr>
          <a:xfrm>
            <a:off x="4191000" y="5156199"/>
            <a:ext cx="7366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en-US">
                <a:solidFill>
                  <a:srgbClr val="D2B38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L03</a:t>
            </a:r>
          </a:p>
        </p:txBody>
      </p:sp>
      <p:sp>
        <p:nvSpPr>
          <p:cNvPr id="28" name="Text-165">
            <a:extLst>
              <a:ext uri="{FF2B5EF4-FFF2-40B4-BE49-F238E27FC236}">
                <a16:creationId xmlns:a16="http://schemas.microsoft.com/office/drawing/2014/main" id="{0B66EE2D-83BE-7600-BAA8-F8D3F887A9F7}"/>
              </a:ext>
            </a:extLst>
          </p:cNvPr>
          <p:cNvSpPr txBox="1"/>
          <p:nvPr/>
        </p:nvSpPr>
        <p:spPr>
          <a:xfrm>
            <a:off x="5054600" y="5156199"/>
            <a:ext cx="50546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1900">
                <a:solidFill>
                  <a:srgbClr val="F0E9D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对象、地图与关卡</a:t>
            </a:r>
            <a:endParaRPr lang="en-US" sz="1900">
              <a:solidFill>
                <a:srgbClr val="F0E9D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9" name="Text-166">
            <a:extLst>
              <a:ext uri="{FF2B5EF4-FFF2-40B4-BE49-F238E27FC236}">
                <a16:creationId xmlns:a16="http://schemas.microsoft.com/office/drawing/2014/main" id="{2D62CDF2-A385-D203-A34B-BAB786E92B1E}"/>
              </a:ext>
            </a:extLst>
          </p:cNvPr>
          <p:cNvSpPr txBox="1"/>
          <p:nvPr/>
        </p:nvSpPr>
        <p:spPr>
          <a:xfrm>
            <a:off x="5054600" y="5562599"/>
            <a:ext cx="5054600" cy="482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150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使用对象与地图组织内容，制作游戏关卡。</a:t>
            </a:r>
            <a:endParaRPr lang="en-US" sz="1500">
              <a:solidFill>
                <a:srgbClr val="BBB9B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3E9A77EE-91A0-52B1-5F1D-3083DE94DAC4}"/>
              </a:ext>
            </a:extLst>
          </p:cNvPr>
          <p:cNvCxnSpPr/>
          <p:nvPr/>
        </p:nvCxnSpPr>
        <p:spPr>
          <a:xfrm>
            <a:off x="4191000" y="6096000"/>
            <a:ext cx="5918200" cy="0"/>
          </a:xfrm>
          <a:prstGeom prst="line">
            <a:avLst/>
          </a:prstGeom>
          <a:ln w="8255">
            <a:solidFill>
              <a:srgbClr val="3944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-167">
            <a:hlinkClick r:id="rId3"/>
            <a:extLst>
              <a:ext uri="{FF2B5EF4-FFF2-40B4-BE49-F238E27FC236}">
                <a16:creationId xmlns:a16="http://schemas.microsoft.com/office/drawing/2014/main" id="{B0E547A3-4E0F-A2F3-B86B-6E6206CE31B4}"/>
              </a:ext>
            </a:extLst>
          </p:cNvPr>
          <p:cNvSpPr txBox="1"/>
          <p:nvPr/>
        </p:nvSpPr>
        <p:spPr>
          <a:xfrm>
            <a:off x="584200" y="6667499"/>
            <a:ext cx="9525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1150" u="sng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3"/>
              </a:rPr>
              <a:t>培训与录制  </a:t>
            </a:r>
            <a:r>
              <a:rPr lang="en-US" altLang="zh-CN" sz="1150" u="sng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3"/>
              </a:rPr>
              <a:t>/  </a:t>
            </a:r>
            <a:r>
              <a:rPr lang="en-US" sz="1150" u="sng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3"/>
              </a:rPr>
              <a:t>zhoushangli.github.io/teaching/pico8-2026/</a:t>
            </a:r>
            <a:endParaRPr lang="en-US" sz="1150" u="sng">
              <a:solidFill>
                <a:srgbClr val="D2B38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769022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7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eometry-1">
            <a:extLst>
              <a:ext uri="{FF2B5EF4-FFF2-40B4-BE49-F238E27FC236}">
                <a16:creationId xmlns:a16="http://schemas.microsoft.com/office/drawing/2014/main" id="{E68CF0F6-9A3A-9830-289F-98045BE876ED}"/>
              </a:ext>
            </a:extLst>
          </p:cNvPr>
          <p:cNvSpPr/>
          <p:nvPr/>
        </p:nvSpPr>
        <p:spPr>
          <a:xfrm>
            <a:off x="8890000" y="-431800"/>
            <a:ext cx="1651000" cy="1651000"/>
          </a:xfrm>
          <a:prstGeom prst="ellipse">
            <a:avLst/>
          </a:prstGeom>
          <a:noFill/>
          <a:ln w="8255" cap="flat" cmpd="sng" algn="ctr">
            <a:solidFill>
              <a:srgbClr val="D2B387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Geometry-2">
            <a:extLst>
              <a:ext uri="{FF2B5EF4-FFF2-40B4-BE49-F238E27FC236}">
                <a16:creationId xmlns:a16="http://schemas.microsoft.com/office/drawing/2014/main" id="{5A038A64-5FF7-EF9B-326B-92A2D0C79E02}"/>
              </a:ext>
            </a:extLst>
          </p:cNvPr>
          <p:cNvSpPr/>
          <p:nvPr/>
        </p:nvSpPr>
        <p:spPr>
          <a:xfrm>
            <a:off x="9639300" y="-431800"/>
            <a:ext cx="1651000" cy="1651000"/>
          </a:xfrm>
          <a:prstGeom prst="ellipse">
            <a:avLst/>
          </a:prstGeom>
          <a:noFill/>
          <a:ln w="8255" cap="flat" cmpd="sng" algn="ctr">
            <a:solidFill>
              <a:srgbClr val="D2B387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-168">
            <a:extLst>
              <a:ext uri="{FF2B5EF4-FFF2-40B4-BE49-F238E27FC236}">
                <a16:creationId xmlns:a16="http://schemas.microsoft.com/office/drawing/2014/main" id="{FA512DF1-F2C6-1BB6-288A-3BDD732F46C2}"/>
              </a:ext>
            </a:extLst>
          </p:cNvPr>
          <p:cNvSpPr txBox="1"/>
          <p:nvPr/>
        </p:nvSpPr>
        <p:spPr>
          <a:xfrm>
            <a:off x="584200" y="368299"/>
            <a:ext cx="8255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1200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第三章  </a:t>
            </a:r>
            <a:r>
              <a:rPr lang="en-US" altLang="zh-CN" sz="1200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 </a:t>
            </a:r>
            <a:r>
              <a:rPr lang="zh-CN" altLang="en-US" sz="1200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教学实践</a:t>
            </a:r>
            <a:endParaRPr lang="en-US" sz="1200">
              <a:solidFill>
                <a:srgbClr val="D2B38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-169">
            <a:extLst>
              <a:ext uri="{FF2B5EF4-FFF2-40B4-BE49-F238E27FC236}">
                <a16:creationId xmlns:a16="http://schemas.microsoft.com/office/drawing/2014/main" id="{E7C602E7-A5FC-2307-36D5-95BB8F00E3BB}"/>
              </a:ext>
            </a:extLst>
          </p:cNvPr>
          <p:cNvSpPr txBox="1"/>
          <p:nvPr/>
        </p:nvSpPr>
        <p:spPr>
          <a:xfrm>
            <a:off x="584200" y="787399"/>
            <a:ext cx="9525000" cy="698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en-US" altLang="zh-CN" sz="3200">
                <a:solidFill>
                  <a:srgbClr val="F0E9D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PICO-8 </a:t>
            </a:r>
            <a:r>
              <a:rPr lang="zh-CN" altLang="en-US" sz="3200">
                <a:solidFill>
                  <a:srgbClr val="F0E9D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培训后的学生作品</a:t>
            </a:r>
            <a:endParaRPr lang="en-US" sz="3200">
              <a:solidFill>
                <a:srgbClr val="F0E9D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2B45024A-44E1-296D-574C-7ADAFF6C7B85}"/>
              </a:ext>
            </a:extLst>
          </p:cNvPr>
          <p:cNvCxnSpPr/>
          <p:nvPr/>
        </p:nvCxnSpPr>
        <p:spPr>
          <a:xfrm>
            <a:off x="584200" y="1600200"/>
            <a:ext cx="9525000" cy="0"/>
          </a:xfrm>
          <a:prstGeom prst="line">
            <a:avLst/>
          </a:prstGeom>
          <a:ln w="11430">
            <a:solidFill>
              <a:srgbClr val="D2B3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42073D93-5733-E9FF-0B7C-27446B257B23}"/>
              </a:ext>
            </a:extLst>
          </p:cNvPr>
          <p:cNvCxnSpPr/>
          <p:nvPr/>
        </p:nvCxnSpPr>
        <p:spPr>
          <a:xfrm>
            <a:off x="584200" y="6985000"/>
            <a:ext cx="9525000" cy="0"/>
          </a:xfrm>
          <a:prstGeom prst="line">
            <a:avLst/>
          </a:prstGeom>
          <a:ln w="8255">
            <a:solidFill>
              <a:srgbClr val="3944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-170">
            <a:extLst>
              <a:ext uri="{FF2B5EF4-FFF2-40B4-BE49-F238E27FC236}">
                <a16:creationId xmlns:a16="http://schemas.microsoft.com/office/drawing/2014/main" id="{F2E93067-746D-5CB5-EE7D-B80B2E2E65D8}"/>
              </a:ext>
            </a:extLst>
          </p:cNvPr>
          <p:cNvSpPr txBox="1"/>
          <p:nvPr/>
        </p:nvSpPr>
        <p:spPr>
          <a:xfrm>
            <a:off x="584200" y="7137400"/>
            <a:ext cx="8128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105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周尚礼  </a:t>
            </a:r>
            <a:r>
              <a:rPr lang="en-US" altLang="zh-CN" sz="105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 </a:t>
            </a:r>
            <a:r>
              <a:rPr lang="zh-CN" altLang="en-US" sz="105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游戏开发与教学实践</a:t>
            </a:r>
            <a:endParaRPr lang="en-US" sz="1050">
              <a:solidFill>
                <a:srgbClr val="BBB9B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-171">
            <a:extLst>
              <a:ext uri="{FF2B5EF4-FFF2-40B4-BE49-F238E27FC236}">
                <a16:creationId xmlns:a16="http://schemas.microsoft.com/office/drawing/2014/main" id="{257FD023-75DA-8187-054D-4AED02BEE6F9}"/>
              </a:ext>
            </a:extLst>
          </p:cNvPr>
          <p:cNvSpPr txBox="1"/>
          <p:nvPr/>
        </p:nvSpPr>
        <p:spPr>
          <a:xfrm>
            <a:off x="9550400" y="7111999"/>
            <a:ext cx="762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100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 / 10</a:t>
            </a:r>
          </a:p>
        </p:txBody>
      </p:sp>
      <p:sp>
        <p:nvSpPr>
          <p:cNvPr id="10" name="Text-172">
            <a:extLst>
              <a:ext uri="{FF2B5EF4-FFF2-40B4-BE49-F238E27FC236}">
                <a16:creationId xmlns:a16="http://schemas.microsoft.com/office/drawing/2014/main" id="{B31B2B32-380B-C3B4-5CE8-F36939A05FEB}"/>
              </a:ext>
            </a:extLst>
          </p:cNvPr>
          <p:cNvSpPr txBox="1"/>
          <p:nvPr/>
        </p:nvSpPr>
        <p:spPr>
          <a:xfrm>
            <a:off x="584200" y="1879599"/>
            <a:ext cx="95250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150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培训结束后，社团举办了一周 </a:t>
            </a:r>
            <a:r>
              <a:rPr lang="en-US" altLang="zh-CN" sz="150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Gamejam</a:t>
            </a:r>
            <a:r>
              <a:rPr lang="zh-CN" altLang="en-US" sz="1500">
                <a:solidFill>
                  <a:srgbClr val="BBB9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。以下作品归各自创作者。</a:t>
            </a:r>
            <a:endParaRPr lang="en-US" sz="1500">
              <a:solidFill>
                <a:srgbClr val="BBB9B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" name="Image-7" descr="chess.p8.png">
            <a:extLst>
              <a:ext uri="{FF2B5EF4-FFF2-40B4-BE49-F238E27FC236}">
                <a16:creationId xmlns:a16="http://schemas.microsoft.com/office/drawing/2014/main" id="{99AC80E8-395F-D3EF-39AF-A0E34125E471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739" y="2235200"/>
            <a:ext cx="911922" cy="1168400"/>
          </a:xfrm>
          <a:prstGeom prst="rect">
            <a:avLst/>
          </a:prstGeom>
        </p:spPr>
      </p:pic>
      <p:sp>
        <p:nvSpPr>
          <p:cNvPr id="13" name="Text-173">
            <a:extLst>
              <a:ext uri="{FF2B5EF4-FFF2-40B4-BE49-F238E27FC236}">
                <a16:creationId xmlns:a16="http://schemas.microsoft.com/office/drawing/2014/main" id="{BFEE9E27-B4CD-0550-6CC0-B97064163FEA}"/>
              </a:ext>
            </a:extLst>
          </p:cNvPr>
          <p:cNvSpPr txBox="1"/>
          <p:nvPr/>
        </p:nvSpPr>
        <p:spPr>
          <a:xfrm>
            <a:off x="647700" y="3467099"/>
            <a:ext cx="1778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18000"/>
              </a:lnSpc>
            </a:pPr>
            <a:r>
              <a:rPr lang="en-US" sz="1150">
                <a:solidFill>
                  <a:srgbClr val="F0E9D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Chess</a:t>
            </a:r>
          </a:p>
        </p:txBody>
      </p:sp>
      <p:pic>
        <p:nvPicPr>
          <p:cNvPr id="15" name="Image-8" descr="craft-the-possibility.p8.png">
            <a:extLst>
              <a:ext uri="{FF2B5EF4-FFF2-40B4-BE49-F238E27FC236}">
                <a16:creationId xmlns:a16="http://schemas.microsoft.com/office/drawing/2014/main" id="{39DF34F0-2BF5-22C4-BEBF-0D2B76CEE903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5739" y="2235200"/>
            <a:ext cx="911922" cy="1168400"/>
          </a:xfrm>
          <a:prstGeom prst="rect">
            <a:avLst/>
          </a:prstGeom>
        </p:spPr>
      </p:pic>
      <p:sp>
        <p:nvSpPr>
          <p:cNvPr id="16" name="Text-174">
            <a:extLst>
              <a:ext uri="{FF2B5EF4-FFF2-40B4-BE49-F238E27FC236}">
                <a16:creationId xmlns:a16="http://schemas.microsoft.com/office/drawing/2014/main" id="{B7CAD76D-615E-B549-8729-AA644B6066A1}"/>
              </a:ext>
            </a:extLst>
          </p:cNvPr>
          <p:cNvSpPr txBox="1"/>
          <p:nvPr/>
        </p:nvSpPr>
        <p:spPr>
          <a:xfrm>
            <a:off x="2552700" y="3467099"/>
            <a:ext cx="1778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18000"/>
              </a:lnSpc>
            </a:pPr>
            <a:r>
              <a:rPr lang="en-US" sz="1150">
                <a:solidFill>
                  <a:srgbClr val="F0E9D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CraftThePossibility</a:t>
            </a:r>
          </a:p>
        </p:txBody>
      </p:sp>
      <p:pic>
        <p:nvPicPr>
          <p:cNvPr id="18" name="Image-9" descr="flipside.p8.png">
            <a:extLst>
              <a:ext uri="{FF2B5EF4-FFF2-40B4-BE49-F238E27FC236}">
                <a16:creationId xmlns:a16="http://schemas.microsoft.com/office/drawing/2014/main" id="{44CDA7EF-AA5F-C37A-0486-A2D9DE58A893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0739" y="2235200"/>
            <a:ext cx="911922" cy="1168400"/>
          </a:xfrm>
          <a:prstGeom prst="rect">
            <a:avLst/>
          </a:prstGeom>
        </p:spPr>
      </p:pic>
      <p:sp>
        <p:nvSpPr>
          <p:cNvPr id="19" name="Text-175">
            <a:extLst>
              <a:ext uri="{FF2B5EF4-FFF2-40B4-BE49-F238E27FC236}">
                <a16:creationId xmlns:a16="http://schemas.microsoft.com/office/drawing/2014/main" id="{A348EAEF-CC42-D2FA-681F-21C70914C38D}"/>
              </a:ext>
            </a:extLst>
          </p:cNvPr>
          <p:cNvSpPr txBox="1"/>
          <p:nvPr/>
        </p:nvSpPr>
        <p:spPr>
          <a:xfrm>
            <a:off x="4457700" y="3467099"/>
            <a:ext cx="1778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18000"/>
              </a:lnSpc>
            </a:pPr>
            <a:r>
              <a:rPr lang="en-US" sz="1150">
                <a:solidFill>
                  <a:srgbClr val="F0E9D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Flipside</a:t>
            </a:r>
          </a:p>
        </p:txBody>
      </p:sp>
      <p:pic>
        <p:nvPicPr>
          <p:cNvPr id="21" name="Image-10" descr="flip-the-grid.p8.png">
            <a:extLst>
              <a:ext uri="{FF2B5EF4-FFF2-40B4-BE49-F238E27FC236}">
                <a16:creationId xmlns:a16="http://schemas.microsoft.com/office/drawing/2014/main" id="{E42F6EAD-AC4A-73A8-3D19-C5413CC1CD92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5739" y="2235200"/>
            <a:ext cx="911922" cy="1168400"/>
          </a:xfrm>
          <a:prstGeom prst="rect">
            <a:avLst/>
          </a:prstGeom>
        </p:spPr>
      </p:pic>
      <p:sp>
        <p:nvSpPr>
          <p:cNvPr id="22" name="Text-176">
            <a:extLst>
              <a:ext uri="{FF2B5EF4-FFF2-40B4-BE49-F238E27FC236}">
                <a16:creationId xmlns:a16="http://schemas.microsoft.com/office/drawing/2014/main" id="{3320E00B-B104-CC14-C6CF-46E5EE6CDDD6}"/>
              </a:ext>
            </a:extLst>
          </p:cNvPr>
          <p:cNvSpPr txBox="1"/>
          <p:nvPr/>
        </p:nvSpPr>
        <p:spPr>
          <a:xfrm>
            <a:off x="6362700" y="3467099"/>
            <a:ext cx="1778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18000"/>
              </a:lnSpc>
            </a:pPr>
            <a:r>
              <a:rPr lang="en-US" sz="1150">
                <a:solidFill>
                  <a:srgbClr val="F0E9D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Flip the Grid</a:t>
            </a:r>
          </a:p>
        </p:txBody>
      </p:sp>
      <p:pic>
        <p:nvPicPr>
          <p:cNvPr id="24" name="Image-11" descr="lost.p8.png">
            <a:extLst>
              <a:ext uri="{FF2B5EF4-FFF2-40B4-BE49-F238E27FC236}">
                <a16:creationId xmlns:a16="http://schemas.microsoft.com/office/drawing/2014/main" id="{BF5421EA-5A62-4567-C615-BFE4AA1D1EC9}"/>
              </a:ext>
            </a:extLst>
          </p:cNvPr>
          <p:cNvPicPr>
            <a:picLocks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0739" y="2235200"/>
            <a:ext cx="911922" cy="1168400"/>
          </a:xfrm>
          <a:prstGeom prst="rect">
            <a:avLst/>
          </a:prstGeom>
        </p:spPr>
      </p:pic>
      <p:sp>
        <p:nvSpPr>
          <p:cNvPr id="25" name="Text-177">
            <a:extLst>
              <a:ext uri="{FF2B5EF4-FFF2-40B4-BE49-F238E27FC236}">
                <a16:creationId xmlns:a16="http://schemas.microsoft.com/office/drawing/2014/main" id="{1473F338-D6E7-3032-B6F4-5AFDEBF2B1FD}"/>
              </a:ext>
            </a:extLst>
          </p:cNvPr>
          <p:cNvSpPr txBox="1"/>
          <p:nvPr/>
        </p:nvSpPr>
        <p:spPr>
          <a:xfrm>
            <a:off x="8267700" y="3467099"/>
            <a:ext cx="1778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18000"/>
              </a:lnSpc>
            </a:pPr>
            <a:r>
              <a:rPr lang="en-US" sz="1150">
                <a:solidFill>
                  <a:srgbClr val="F0E9D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Lost</a:t>
            </a:r>
          </a:p>
        </p:txBody>
      </p:sp>
      <p:pic>
        <p:nvPicPr>
          <p:cNvPr id="27" name="Image-12" descr="mirrip.png">
            <a:extLst>
              <a:ext uri="{FF2B5EF4-FFF2-40B4-BE49-F238E27FC236}">
                <a16:creationId xmlns:a16="http://schemas.microsoft.com/office/drawing/2014/main" id="{AF33B83B-D401-639D-D2F2-69D4EA9B58C7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739" y="3632200"/>
            <a:ext cx="911922" cy="1168400"/>
          </a:xfrm>
          <a:prstGeom prst="rect">
            <a:avLst/>
          </a:prstGeom>
        </p:spPr>
      </p:pic>
      <p:sp>
        <p:nvSpPr>
          <p:cNvPr id="28" name="Text-178">
            <a:extLst>
              <a:ext uri="{FF2B5EF4-FFF2-40B4-BE49-F238E27FC236}">
                <a16:creationId xmlns:a16="http://schemas.microsoft.com/office/drawing/2014/main" id="{29A281E0-CA23-8D98-447E-0ECC79504D1D}"/>
              </a:ext>
            </a:extLst>
          </p:cNvPr>
          <p:cNvSpPr txBox="1"/>
          <p:nvPr/>
        </p:nvSpPr>
        <p:spPr>
          <a:xfrm>
            <a:off x="647700" y="4864099"/>
            <a:ext cx="1778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18000"/>
              </a:lnSpc>
            </a:pPr>
            <a:r>
              <a:rPr lang="en-US" sz="1150">
                <a:solidFill>
                  <a:srgbClr val="F0E9D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MIRRIP</a:t>
            </a:r>
          </a:p>
        </p:txBody>
      </p:sp>
      <p:pic>
        <p:nvPicPr>
          <p:cNvPr id="30" name="Image-13" descr="negative.p8.png">
            <a:extLst>
              <a:ext uri="{FF2B5EF4-FFF2-40B4-BE49-F238E27FC236}">
                <a16:creationId xmlns:a16="http://schemas.microsoft.com/office/drawing/2014/main" id="{05F1A3B5-9686-2C17-8CE3-C11FDAB3EDA1}"/>
              </a:ext>
            </a:extLst>
          </p:cNvPr>
          <p:cNvPicPr>
            <a:picLocks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5739" y="3632200"/>
            <a:ext cx="911922" cy="1168400"/>
          </a:xfrm>
          <a:prstGeom prst="rect">
            <a:avLst/>
          </a:prstGeom>
        </p:spPr>
      </p:pic>
      <p:sp>
        <p:nvSpPr>
          <p:cNvPr id="31" name="Text-179">
            <a:extLst>
              <a:ext uri="{FF2B5EF4-FFF2-40B4-BE49-F238E27FC236}">
                <a16:creationId xmlns:a16="http://schemas.microsoft.com/office/drawing/2014/main" id="{A7F726C8-588B-636F-02AA-2D3FEFCC78AB}"/>
              </a:ext>
            </a:extLst>
          </p:cNvPr>
          <p:cNvSpPr txBox="1"/>
          <p:nvPr/>
        </p:nvSpPr>
        <p:spPr>
          <a:xfrm>
            <a:off x="2552700" y="4864099"/>
            <a:ext cx="1778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18000"/>
              </a:lnSpc>
            </a:pPr>
            <a:r>
              <a:rPr lang="en-US" sz="1150">
                <a:solidFill>
                  <a:srgbClr val="F0E9D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Negative</a:t>
            </a:r>
          </a:p>
        </p:txBody>
      </p:sp>
      <p:pic>
        <p:nvPicPr>
          <p:cNvPr id="33" name="Image-14" descr="night-shift.p8.png">
            <a:extLst>
              <a:ext uri="{FF2B5EF4-FFF2-40B4-BE49-F238E27FC236}">
                <a16:creationId xmlns:a16="http://schemas.microsoft.com/office/drawing/2014/main" id="{1604D992-70BD-4E5B-58AB-8B91CF5405F6}"/>
              </a:ext>
            </a:extLst>
          </p:cNvPr>
          <p:cNvPicPr>
            <a:picLocks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0739" y="3632200"/>
            <a:ext cx="911922" cy="1168400"/>
          </a:xfrm>
          <a:prstGeom prst="rect">
            <a:avLst/>
          </a:prstGeom>
        </p:spPr>
      </p:pic>
      <p:sp>
        <p:nvSpPr>
          <p:cNvPr id="34" name="Text-180">
            <a:extLst>
              <a:ext uri="{FF2B5EF4-FFF2-40B4-BE49-F238E27FC236}">
                <a16:creationId xmlns:a16="http://schemas.microsoft.com/office/drawing/2014/main" id="{EDBDE37F-5176-1F48-4A2D-25EBE7DD9DFF}"/>
              </a:ext>
            </a:extLst>
          </p:cNvPr>
          <p:cNvSpPr txBox="1"/>
          <p:nvPr/>
        </p:nvSpPr>
        <p:spPr>
          <a:xfrm>
            <a:off x="4457700" y="4864099"/>
            <a:ext cx="1778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18000"/>
              </a:lnSpc>
            </a:pPr>
            <a:r>
              <a:rPr lang="en-US" sz="1150">
                <a:solidFill>
                  <a:srgbClr val="F0E9D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Night Shift</a:t>
            </a:r>
          </a:p>
        </p:txBody>
      </p:sp>
      <p:pic>
        <p:nvPicPr>
          <p:cNvPr id="36" name="Image-15" descr="pixel-workshop.png">
            <a:extLst>
              <a:ext uri="{FF2B5EF4-FFF2-40B4-BE49-F238E27FC236}">
                <a16:creationId xmlns:a16="http://schemas.microsoft.com/office/drawing/2014/main" id="{36001442-AC85-BC65-5004-6C4176DF8BE4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5739" y="3632200"/>
            <a:ext cx="911922" cy="1168400"/>
          </a:xfrm>
          <a:prstGeom prst="rect">
            <a:avLst/>
          </a:prstGeom>
        </p:spPr>
      </p:pic>
      <p:sp>
        <p:nvSpPr>
          <p:cNvPr id="37" name="Text-181">
            <a:extLst>
              <a:ext uri="{FF2B5EF4-FFF2-40B4-BE49-F238E27FC236}">
                <a16:creationId xmlns:a16="http://schemas.microsoft.com/office/drawing/2014/main" id="{C1FB1266-47CC-80B9-DB96-E18BF1505B92}"/>
              </a:ext>
            </a:extLst>
          </p:cNvPr>
          <p:cNvSpPr txBox="1"/>
          <p:nvPr/>
        </p:nvSpPr>
        <p:spPr>
          <a:xfrm>
            <a:off x="6362700" y="4864099"/>
            <a:ext cx="1778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18000"/>
              </a:lnSpc>
            </a:pPr>
            <a:r>
              <a:rPr lang="en-US" sz="1150">
                <a:solidFill>
                  <a:srgbClr val="F0E9D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Pixel Workshop</a:t>
            </a:r>
          </a:p>
        </p:txBody>
      </p:sp>
      <p:pic>
        <p:nvPicPr>
          <p:cNvPr id="39" name="Image-16" descr="reverse-realm.p8.png">
            <a:extLst>
              <a:ext uri="{FF2B5EF4-FFF2-40B4-BE49-F238E27FC236}">
                <a16:creationId xmlns:a16="http://schemas.microsoft.com/office/drawing/2014/main" id="{4ECA3F02-DEBC-B3E3-2AE3-320F49BD39BD}"/>
              </a:ext>
            </a:extLst>
          </p:cNvPr>
          <p:cNvPicPr>
            <a:picLocks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0739" y="3632200"/>
            <a:ext cx="911922" cy="1168400"/>
          </a:xfrm>
          <a:prstGeom prst="rect">
            <a:avLst/>
          </a:prstGeom>
        </p:spPr>
      </p:pic>
      <p:sp>
        <p:nvSpPr>
          <p:cNvPr id="40" name="Text-182">
            <a:extLst>
              <a:ext uri="{FF2B5EF4-FFF2-40B4-BE49-F238E27FC236}">
                <a16:creationId xmlns:a16="http://schemas.microsoft.com/office/drawing/2014/main" id="{F1EBA2B1-9BDA-D480-FE6C-66DD7668AE8F}"/>
              </a:ext>
            </a:extLst>
          </p:cNvPr>
          <p:cNvSpPr txBox="1"/>
          <p:nvPr/>
        </p:nvSpPr>
        <p:spPr>
          <a:xfrm>
            <a:off x="8267700" y="4864099"/>
            <a:ext cx="1778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18000"/>
              </a:lnSpc>
            </a:pPr>
            <a:r>
              <a:rPr lang="en-US" sz="1150">
                <a:solidFill>
                  <a:srgbClr val="F0E9D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Reverse Realm</a:t>
            </a:r>
          </a:p>
        </p:txBody>
      </p:sp>
      <p:pic>
        <p:nvPicPr>
          <p:cNvPr id="42" name="Image-17" descr="tenet.p8.png">
            <a:extLst>
              <a:ext uri="{FF2B5EF4-FFF2-40B4-BE49-F238E27FC236}">
                <a16:creationId xmlns:a16="http://schemas.microsoft.com/office/drawing/2014/main" id="{0DAF1DF4-DE63-6520-0DC6-306C53CE4F1E}"/>
              </a:ext>
            </a:extLst>
          </p:cNvPr>
          <p:cNvPicPr>
            <a:picLocks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739" y="5029200"/>
            <a:ext cx="911922" cy="1168400"/>
          </a:xfrm>
          <a:prstGeom prst="rect">
            <a:avLst/>
          </a:prstGeom>
        </p:spPr>
      </p:pic>
      <p:sp>
        <p:nvSpPr>
          <p:cNvPr id="43" name="Text-183">
            <a:extLst>
              <a:ext uri="{FF2B5EF4-FFF2-40B4-BE49-F238E27FC236}">
                <a16:creationId xmlns:a16="http://schemas.microsoft.com/office/drawing/2014/main" id="{FA737B29-4C20-83CB-A224-0FC2FDB0415A}"/>
              </a:ext>
            </a:extLst>
          </p:cNvPr>
          <p:cNvSpPr txBox="1"/>
          <p:nvPr/>
        </p:nvSpPr>
        <p:spPr>
          <a:xfrm>
            <a:off x="647700" y="6261099"/>
            <a:ext cx="1778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18000"/>
              </a:lnSpc>
            </a:pPr>
            <a:r>
              <a:rPr lang="en-US" sz="1150">
                <a:solidFill>
                  <a:srgbClr val="F0E9D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TENET</a:t>
            </a:r>
          </a:p>
        </p:txBody>
      </p:sp>
      <p:pic>
        <p:nvPicPr>
          <p:cNvPr id="45" name="Image-18" descr="the-tide.p8.png">
            <a:extLst>
              <a:ext uri="{FF2B5EF4-FFF2-40B4-BE49-F238E27FC236}">
                <a16:creationId xmlns:a16="http://schemas.microsoft.com/office/drawing/2014/main" id="{6017044C-84AD-C4B3-3509-C00E466A7EF6}"/>
              </a:ext>
            </a:extLst>
          </p:cNvPr>
          <p:cNvPicPr>
            <a:picLocks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5739" y="5029200"/>
            <a:ext cx="911922" cy="1168400"/>
          </a:xfrm>
          <a:prstGeom prst="rect">
            <a:avLst/>
          </a:prstGeom>
        </p:spPr>
      </p:pic>
      <p:sp>
        <p:nvSpPr>
          <p:cNvPr id="46" name="Text-184">
            <a:extLst>
              <a:ext uri="{FF2B5EF4-FFF2-40B4-BE49-F238E27FC236}">
                <a16:creationId xmlns:a16="http://schemas.microsoft.com/office/drawing/2014/main" id="{3813FD62-3795-DC53-9DE9-24B54A44A662}"/>
              </a:ext>
            </a:extLst>
          </p:cNvPr>
          <p:cNvSpPr txBox="1"/>
          <p:nvPr/>
        </p:nvSpPr>
        <p:spPr>
          <a:xfrm>
            <a:off x="2552700" y="6261099"/>
            <a:ext cx="1778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18000"/>
              </a:lnSpc>
            </a:pPr>
            <a:r>
              <a:rPr lang="en-US" sz="1150">
                <a:solidFill>
                  <a:srgbClr val="F0E9D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The Tide</a:t>
            </a:r>
          </a:p>
        </p:txBody>
      </p:sp>
      <p:pic>
        <p:nvPicPr>
          <p:cNvPr id="48" name="Image-19" descr="the-cliffside.p8.png">
            <a:extLst>
              <a:ext uri="{FF2B5EF4-FFF2-40B4-BE49-F238E27FC236}">
                <a16:creationId xmlns:a16="http://schemas.microsoft.com/office/drawing/2014/main" id="{C40A38B2-9213-52CB-AF18-DE27FFBB07D9}"/>
              </a:ext>
            </a:extLst>
          </p:cNvPr>
          <p:cNvPicPr>
            <a:picLocks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0739" y="5029200"/>
            <a:ext cx="911922" cy="1168400"/>
          </a:xfrm>
          <a:prstGeom prst="rect">
            <a:avLst/>
          </a:prstGeom>
        </p:spPr>
      </p:pic>
      <p:sp>
        <p:nvSpPr>
          <p:cNvPr id="49" name="Text-185">
            <a:extLst>
              <a:ext uri="{FF2B5EF4-FFF2-40B4-BE49-F238E27FC236}">
                <a16:creationId xmlns:a16="http://schemas.microsoft.com/office/drawing/2014/main" id="{EBD6C55D-A92A-3407-4DAE-93A2A64EE19C}"/>
              </a:ext>
            </a:extLst>
          </p:cNvPr>
          <p:cNvSpPr txBox="1"/>
          <p:nvPr/>
        </p:nvSpPr>
        <p:spPr>
          <a:xfrm>
            <a:off x="4457700" y="6261099"/>
            <a:ext cx="1778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18000"/>
              </a:lnSpc>
            </a:pPr>
            <a:r>
              <a:rPr lang="en-US" sz="1150">
                <a:solidFill>
                  <a:srgbClr val="F0E9D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The Cliffside</a:t>
            </a:r>
          </a:p>
        </p:txBody>
      </p:sp>
      <p:pic>
        <p:nvPicPr>
          <p:cNvPr id="51" name="Image-20" descr="descent.p8.png">
            <a:extLst>
              <a:ext uri="{FF2B5EF4-FFF2-40B4-BE49-F238E27FC236}">
                <a16:creationId xmlns:a16="http://schemas.microsoft.com/office/drawing/2014/main" id="{F75BA23D-1036-BE18-96B1-0F8A1F42F861}"/>
              </a:ext>
            </a:extLst>
          </p:cNvPr>
          <p:cNvPicPr>
            <a:picLocks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5739" y="5029200"/>
            <a:ext cx="911922" cy="1168400"/>
          </a:xfrm>
          <a:prstGeom prst="rect">
            <a:avLst/>
          </a:prstGeom>
        </p:spPr>
      </p:pic>
      <p:sp>
        <p:nvSpPr>
          <p:cNvPr id="52" name="Text-186">
            <a:extLst>
              <a:ext uri="{FF2B5EF4-FFF2-40B4-BE49-F238E27FC236}">
                <a16:creationId xmlns:a16="http://schemas.microsoft.com/office/drawing/2014/main" id="{B9ACC04E-F281-D3A6-9A3F-58AD8E2380AD}"/>
              </a:ext>
            </a:extLst>
          </p:cNvPr>
          <p:cNvSpPr txBox="1"/>
          <p:nvPr/>
        </p:nvSpPr>
        <p:spPr>
          <a:xfrm>
            <a:off x="6362700" y="6261099"/>
            <a:ext cx="1778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18000"/>
              </a:lnSpc>
            </a:pPr>
            <a:r>
              <a:rPr lang="en-US" sz="1150">
                <a:solidFill>
                  <a:srgbClr val="F0E9D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Descent</a:t>
            </a:r>
          </a:p>
        </p:txBody>
      </p:sp>
      <p:pic>
        <p:nvPicPr>
          <p:cNvPr id="54" name="Image-21" descr="urfish.p8.png">
            <a:extLst>
              <a:ext uri="{FF2B5EF4-FFF2-40B4-BE49-F238E27FC236}">
                <a16:creationId xmlns:a16="http://schemas.microsoft.com/office/drawing/2014/main" id="{6787C7EA-8106-3556-4FE3-D6EE49CCC2CE}"/>
              </a:ext>
            </a:extLst>
          </p:cNvPr>
          <p:cNvPicPr>
            <a:picLocks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0739" y="5029200"/>
            <a:ext cx="911922" cy="1168400"/>
          </a:xfrm>
          <a:prstGeom prst="rect">
            <a:avLst/>
          </a:prstGeom>
        </p:spPr>
      </p:pic>
      <p:sp>
        <p:nvSpPr>
          <p:cNvPr id="55" name="Text-187">
            <a:extLst>
              <a:ext uri="{FF2B5EF4-FFF2-40B4-BE49-F238E27FC236}">
                <a16:creationId xmlns:a16="http://schemas.microsoft.com/office/drawing/2014/main" id="{87B5BE60-E7DB-0602-E7E2-BE9696565152}"/>
              </a:ext>
            </a:extLst>
          </p:cNvPr>
          <p:cNvSpPr txBox="1"/>
          <p:nvPr/>
        </p:nvSpPr>
        <p:spPr>
          <a:xfrm>
            <a:off x="8267700" y="6261099"/>
            <a:ext cx="1778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18000"/>
              </a:lnSpc>
            </a:pPr>
            <a:r>
              <a:rPr lang="en-US" sz="1150">
                <a:solidFill>
                  <a:srgbClr val="F0E9D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urfish</a:t>
            </a:r>
          </a:p>
        </p:txBody>
      </p:sp>
      <p:sp>
        <p:nvSpPr>
          <p:cNvPr id="56" name="Text-188">
            <a:hlinkClick r:id="rId18"/>
            <a:extLst>
              <a:ext uri="{FF2B5EF4-FFF2-40B4-BE49-F238E27FC236}">
                <a16:creationId xmlns:a16="http://schemas.microsoft.com/office/drawing/2014/main" id="{A8D405AF-ED30-52C1-8CFE-B0BD0BF308F1}"/>
              </a:ext>
            </a:extLst>
          </p:cNvPr>
          <p:cNvSpPr txBox="1"/>
          <p:nvPr/>
        </p:nvSpPr>
        <p:spPr>
          <a:xfrm>
            <a:off x="584200" y="6667499"/>
            <a:ext cx="9525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zh-CN" altLang="en-US" sz="1150" u="sng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8"/>
              </a:rPr>
              <a:t>完整作品展  </a:t>
            </a:r>
            <a:r>
              <a:rPr lang="en-US" altLang="zh-CN" sz="1150" u="sng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8"/>
              </a:rPr>
              <a:t>/  </a:t>
            </a:r>
            <a:r>
              <a:rPr lang="en-US" sz="1150" u="sng">
                <a:solidFill>
                  <a:srgbClr val="D2B387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8"/>
              </a:rPr>
              <a:t>zhoushangli.github.io/teaching/pico8-game-jam/</a:t>
            </a:r>
            <a:endParaRPr lang="en-US" sz="1150" u="sng">
              <a:solidFill>
                <a:srgbClr val="D2B38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720132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D2B387"/>
      </a:hlink>
      <a:folHlink>
        <a:srgbClr val="D2B387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2572</Words>
  <Application>Microsoft Office PowerPoint</Application>
  <PresentationFormat>自定义</PresentationFormat>
  <Paragraphs>208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6" baseType="lpstr">
      <vt:lpstr>微软雅黑</vt:lpstr>
      <vt:lpstr>宋体</vt:lpstr>
      <vt:lpstr>Aptos</vt:lpstr>
      <vt:lpstr>Aptos Display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Zhou, Shangli</dc:creator>
  <cp:lastModifiedBy>Zhou, Shangli</cp:lastModifiedBy>
  <cp:revision>1</cp:revision>
  <dcterms:created xsi:type="dcterms:W3CDTF">2026-10-28T00:25:42Z</dcterms:created>
  <dcterms:modified xsi:type="dcterms:W3CDTF">2026-10-28T00:25:42Z</dcterms:modified>
</cp:coreProperties>
</file>