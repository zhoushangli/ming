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91813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E779E-B2D7-48B1-8B49-7292FE8C168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54AEA-39BC-4B3E-A72C-D0674CBA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19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封面按用户指定，只展示姓名、作品集身份、网站说明和真实超链接，不放具体作品图片。个人主页：</a:t>
            </a:r>
            <a:r>
              <a:rPr lang="en-US"/>
              <a:t>https://zhoushangli.github.io/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7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章节与个人</a:t>
            </a:r>
            <a:r>
              <a:rPr lang="en-US" altLang="zh-CN"/>
              <a:t>/</a:t>
            </a:r>
            <a:r>
              <a:rPr lang="zh-CN" altLang="en-US"/>
              <a:t>团队顺序依据用户指定。项目顺序依据 </a:t>
            </a:r>
            <a:r>
              <a:rPr lang="en-US"/>
              <a:t>C:\Work\zhoushangli.github.io\src\data\projects.ts </a:t>
            </a:r>
            <a:r>
              <a:rPr lang="zh-CN" altLang="en-US"/>
              <a:t>及</a:t>
            </a:r>
            <a:r>
              <a:rPr lang="en-US"/>
              <a:t>src\pages\projects\index.astro</a:t>
            </a:r>
            <a:r>
              <a:rPr lang="zh-CN" altLang="en-US"/>
              <a:t>按</a:t>
            </a:r>
            <a:r>
              <a:rPr lang="en-US"/>
              <a:t>personal、team</a:t>
            </a:r>
            <a:r>
              <a:rPr lang="zh-CN" altLang="en-US"/>
              <a:t>分类后的原始顺序。各条目和页码设置内部跳转，完整版本目标为第</a:t>
            </a:r>
            <a:r>
              <a:rPr lang="en-US" altLang="zh-CN"/>
              <a:t>3</a:t>
            </a:r>
            <a:r>
              <a:rPr lang="zh-CN" altLang="en-US"/>
              <a:t>至</a:t>
            </a:r>
            <a:r>
              <a:rPr lang="en-US" altLang="zh-CN"/>
              <a:t>10</a:t>
            </a:r>
            <a:r>
              <a:rPr lang="zh-CN" altLang="en-US"/>
              <a:t>页。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99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C:\Work\zhoushangli.github.io\src\pages\index.astro、src\components\ExperienceTimeline.astro。</a:t>
            </a:r>
            <a:r>
              <a:rPr lang="zh-CN" altLang="en-US"/>
              <a:t>保留预计</a:t>
            </a:r>
            <a:r>
              <a:rPr lang="en-US" altLang="zh-CN"/>
              <a:t>2027</a:t>
            </a:r>
            <a:r>
              <a:rPr lang="zh-CN" altLang="en-US"/>
              <a:t>年</a:t>
            </a:r>
            <a:r>
              <a:rPr lang="en-US" altLang="zh-CN"/>
              <a:t>5</a:t>
            </a:r>
            <a:r>
              <a:rPr lang="zh-CN" altLang="en-US"/>
              <a:t>月毕业表述，不推定已获得学位；实习职责按已发布内容整理。头像为网站原图。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2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事实与职责来源：</a:t>
            </a:r>
            <a:r>
              <a:rPr lang="en-US"/>
              <a:t>C:\Work\zhoushangli.github.io\src\data\projects.ts，ming-engine</a:t>
            </a:r>
            <a:r>
              <a:rPr lang="zh-CN" altLang="en-US"/>
              <a:t>条目。图片：</a:t>
            </a:r>
            <a:r>
              <a:rPr lang="en-US"/>
              <a:t>src\content\images\ming_engine.png，</a:t>
            </a:r>
            <a:r>
              <a:rPr lang="zh-CN" altLang="en-US"/>
              <a:t>较早开发阶段。</a:t>
            </a:r>
            <a:r>
              <a:rPr lang="en-US"/>
              <a:t>https://zhoushangli.github.io/projects/ming-engine/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82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C:\Work\zhoushangli.github.io\src\data\projects.ts，doomenstein</a:t>
            </a:r>
            <a:r>
              <a:rPr lang="zh-CN" altLang="en-US"/>
              <a:t>条目。原图</a:t>
            </a:r>
            <a:r>
              <a:rPr lang="en-US"/>
              <a:t>src\content\images\doomenstein_game.png，</a:t>
            </a:r>
            <a:r>
              <a:rPr lang="zh-CN" altLang="en-US"/>
              <a:t>仅去除系统窗口边框，不修改游戏内容。不将该项目的自研引擎未经证实地等同于</a:t>
            </a:r>
            <a:r>
              <a:rPr lang="en-US"/>
              <a:t>MingEngine。https://zhoushangli.github.io/projects/doomenstein/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79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C:\Work\zhoushangli.github.io\src\data\projects.ts，the-primary-colors</a:t>
            </a:r>
            <a:r>
              <a:rPr lang="zh-CN" altLang="en-US"/>
              <a:t>条目。原图</a:t>
            </a:r>
            <a:r>
              <a:rPr lang="en-US"/>
              <a:t>src\content\images\the_primary_colors.png。30</a:t>
            </a:r>
            <a:r>
              <a:rPr lang="zh-CN" altLang="en-US"/>
              <a:t>个关卡和独立制作范围按网站已发布内容保留。</a:t>
            </a:r>
            <a:r>
              <a:rPr lang="en-US"/>
              <a:t>https://zhoushangli.github.io/projects/the-primary-colors/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57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C:\Work\zhoushangli.github.io\src\data\projects.ts，spectrex</a:t>
            </a:r>
            <a:r>
              <a:rPr lang="zh-CN" altLang="en-US"/>
              <a:t>条目。团队整体成果与个人职责分开。约</a:t>
            </a:r>
            <a:r>
              <a:rPr lang="en-US" altLang="zh-CN"/>
              <a:t>10</a:t>
            </a:r>
            <a:r>
              <a:rPr lang="zh-CN" altLang="en-US"/>
              <a:t>小时指本人观察深度试玩的时长，不是测试者数量。分层渲染采用</a:t>
            </a:r>
            <a:r>
              <a:rPr lang="en-US"/>
              <a:t>SubViewport</a:t>
            </a:r>
            <a:r>
              <a:rPr lang="zh-CN" altLang="en-US"/>
              <a:t>与</a:t>
            </a:r>
            <a:r>
              <a:rPr lang="en-US"/>
              <a:t>CanvasItem Shader。https://zhoushangli.github.io/projects/spectrex/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85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C:\Work\zhoushangli.github.io\src\data\projects.ts，hamsterballin</a:t>
            </a:r>
            <a:r>
              <a:rPr lang="zh-CN" altLang="en-US"/>
              <a:t>条目。图片为团队游戏封面，原始</a:t>
            </a:r>
            <a:r>
              <a:rPr lang="en-US" altLang="zh-CN"/>
              <a:t>460</a:t>
            </a:r>
            <a:r>
              <a:rPr lang="en-US"/>
              <a:t>x215，</a:t>
            </a:r>
            <a:r>
              <a:rPr lang="zh-CN" altLang="en-US"/>
              <a:t>未用生成图补造实际游戏画面或性能指标。</a:t>
            </a:r>
            <a:r>
              <a:rPr lang="en-US"/>
              <a:t>https://zhoushangli.github.io/projects/hamsterballin/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26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C:\Work\zhoushangli.github.io\src\content\published\teaching\pico8-2026.zh.md（draft:false）。</a:t>
            </a:r>
            <a:r>
              <a:rPr lang="zh-CN" altLang="en-US"/>
              <a:t>仅整理实际社团培训经历，不加入拟授课程或未经证实的学习成效。</a:t>
            </a:r>
            <a:r>
              <a:rPr lang="en-US"/>
              <a:t>https://zhoushangli.github.io/teaching/pico8-2026/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50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C:\Work\zhoushangli.github.io\src\content\published\teaching\pico8-game-jam.zh.md</a:t>
            </a:r>
            <a:r>
              <a:rPr lang="zh-CN" altLang="en-US"/>
              <a:t>与</a:t>
            </a:r>
            <a:r>
              <a:rPr lang="en-US"/>
              <a:t>src\data\gamejam.ts。</a:t>
            </a:r>
            <a:r>
              <a:rPr lang="zh-CN" altLang="en-US"/>
              <a:t>按博客清单原顺序嵌入全部</a:t>
            </a:r>
            <a:r>
              <a:rPr lang="en-US" altLang="zh-CN"/>
              <a:t>15</a:t>
            </a:r>
            <a:r>
              <a:rPr lang="zh-CN" altLang="en-US"/>
              <a:t>个封面，图像未修改。作品归各自创作者，不冒充本人独立作品。</a:t>
            </a:r>
            <a:r>
              <a:rPr lang="en-US"/>
              <a:t>https://zhoushangli.github.io/teaching/pico8-game-jam/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4AEA-39BC-4B3E-A72C-D0674CBAD8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9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FDAD0-6F2C-7BDE-D987-4D21ED924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7"/>
            <a:ext cx="8018860" cy="2631887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44CC54-BDC1-1F5E-076C-AB40BB4E7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00711E-8B39-64EE-ABB1-70882A02C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BBD758-DC9A-95EB-1411-F0BBDC1D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1E864-70C1-A353-126E-969B937D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6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A89E1-8AD7-3D60-89BB-6D9F2C42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DE31A-440D-5454-0EAA-9872E8550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7F6BFB-BCAF-7CF2-136F-655E8E2B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3A408-ED00-8767-F424-E1CCFAA2C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874B5B-285B-8D2E-3718-723E8732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4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D8CB0F-1947-DAB2-E168-C894A442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C7D4A-04CE-B897-B9A6-658758CE7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82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295837-DAA2-9768-EBDB-BB72CD9D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05B793-5A79-C712-A8C0-C6516E3B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C57627-7A95-C0B4-3B1B-BB81EFAF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1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080B3-AA32-BD8E-BC21-07D6E96D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0F9DE-7BBB-5608-1F74-5BADCBF80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3" y="2012414"/>
            <a:ext cx="4544021" cy="47965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0DF52A-BE11-CDB2-9AE7-5CA6D48D7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1" y="2012414"/>
            <a:ext cx="4544021" cy="47965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16559A-F670-C764-CB22-1D8E2595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EE172D-BB7C-83D1-62E1-099B2522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10E181-B21B-7A14-0048-C80F7F6F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4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750D5-2E28-A2B3-780A-D502C142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6" y="402484"/>
            <a:ext cx="9221689" cy="14611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EE0D16-FACA-9AEE-1021-7983C89C1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1853171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A60305-0F81-0DF5-A97D-23EF2E133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2761381"/>
            <a:ext cx="4523138" cy="40615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545BE2-D4AF-4B7E-857B-CE1673667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F4AAE0-EA75-121A-16AD-A9550961B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D6F809-1A12-7D3B-A708-C1B061CE6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8F0AEA-CDC3-0365-37A8-4A5ED2A5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886D2A-4CE5-2075-833A-AF52CBB3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93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2B6B4-9262-CE58-7610-A078E98F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D5D687-2754-5FA4-99F7-4121AC80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CC7609-5AF4-1C8B-828B-DD960615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E42405-7986-77FE-C14B-2970A178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6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F84118-0086-3D37-4910-2DC825D24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7483C2-303C-4D99-31E3-F7D7BAB5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C2A528-C071-CE9D-484E-EB5BE414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6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AC1D6-AA76-EBEC-0FC4-DF64C8C1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2119E-0E43-405B-744F-C359B14F7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418C24-A86A-7D5E-414E-5A986D64E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D6BB60-3831-62EA-F314-66FC3B4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D718AE-700C-62AC-FBBD-94777104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5F4DD1-B982-80FC-2139-7BCF42CF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9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D745E-8E2D-A53C-A679-DD6A9B3E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AA5873-BB4B-AC55-4883-3CCCE9F8851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6F652-1E52-ED72-3865-14C92CC11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B1D919-A83B-B14D-69EC-388A9CD5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6D1B3B-B4C7-4C8D-BD96-08F81BF2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22E161-77F7-8290-EA1B-8DE4255C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8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4C537-D02C-4DD2-117E-7A58F8CA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3B5150-EE09-EBBC-1FBF-6627FA84A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8E82B7-61E5-AF42-29CE-625AD5FE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A2C711-21BC-DCA3-42CA-722A87200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1C77F-C9F3-D099-7C30-06D16D1F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0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23893E8-A20C-ACBE-79EF-47A5A033C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527FDE-FF70-663B-8C90-F3748D4BF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639E7E-158D-2D42-7361-F0A38A17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5B4BCD-7E33-D977-5F55-02EDA6852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83EFDA-F41C-8890-D855-1CD3CA15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5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0ED1B8-60F4-AA8D-5849-01CF90249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3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0E9999-75E9-16EF-D466-6B22BDF0C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3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749A7-020B-5607-B9B4-19E247D2A7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C809C-E60A-4C4B-A9C1-CACC10562F0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0AF496-4EFF-81B5-31E2-808E3D974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4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077B8E-B27B-3761-934F-14B4E3EEE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8B0E4-7290-4079-A888-C4E9A739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20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zhoushangli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ming-engin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doomenstein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the-primary-color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spectrex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hamsterballin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zhoushangli.github.io/teaching/pico8-2026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hyperlink" Target="https://zhoushangli.github.io/teaching/pico8-game-jam/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ometry-1">
            <a:extLst>
              <a:ext uri="{FF2B5EF4-FFF2-40B4-BE49-F238E27FC236}">
                <a16:creationId xmlns:a16="http://schemas.microsoft.com/office/drawing/2014/main" id="{D2ED0E6E-C04F-01DE-AB93-D9C774E66D1F}"/>
              </a:ext>
            </a:extLst>
          </p:cNvPr>
          <p:cNvCxnSpPr/>
          <p:nvPr/>
        </p:nvCxnSpPr>
        <p:spPr>
          <a:xfrm>
            <a:off x="584200" y="584200"/>
            <a:ext cx="736600" cy="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ometry-2">
            <a:extLst>
              <a:ext uri="{FF2B5EF4-FFF2-40B4-BE49-F238E27FC236}">
                <a16:creationId xmlns:a16="http://schemas.microsoft.com/office/drawing/2014/main" id="{CBDEF8DC-99CC-7124-BF73-8D46A12199A7}"/>
              </a:ext>
            </a:extLst>
          </p:cNvPr>
          <p:cNvCxnSpPr/>
          <p:nvPr/>
        </p:nvCxnSpPr>
        <p:spPr>
          <a:xfrm>
            <a:off x="584200" y="584200"/>
            <a:ext cx="0" cy="43180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ometry-3">
            <a:extLst>
              <a:ext uri="{FF2B5EF4-FFF2-40B4-BE49-F238E27FC236}">
                <a16:creationId xmlns:a16="http://schemas.microsoft.com/office/drawing/2014/main" id="{49BC3139-B311-1D24-BC14-B22D8FD24B79}"/>
              </a:ext>
            </a:extLst>
          </p:cNvPr>
          <p:cNvCxnSpPr/>
          <p:nvPr/>
        </p:nvCxnSpPr>
        <p:spPr>
          <a:xfrm>
            <a:off x="9372600" y="6959600"/>
            <a:ext cx="736600" cy="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ometry-4">
            <a:extLst>
              <a:ext uri="{FF2B5EF4-FFF2-40B4-BE49-F238E27FC236}">
                <a16:creationId xmlns:a16="http://schemas.microsoft.com/office/drawing/2014/main" id="{3B5D4444-B9C5-01CC-1509-EA3BF8C72C0E}"/>
              </a:ext>
            </a:extLst>
          </p:cNvPr>
          <p:cNvCxnSpPr/>
          <p:nvPr/>
        </p:nvCxnSpPr>
        <p:spPr>
          <a:xfrm>
            <a:off x="10109200" y="6527800"/>
            <a:ext cx="0" cy="43180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-1">
            <a:extLst>
              <a:ext uri="{FF2B5EF4-FFF2-40B4-BE49-F238E27FC236}">
                <a16:creationId xmlns:a16="http://schemas.microsoft.com/office/drawing/2014/main" id="{A47AB1C4-3FFF-6B16-E37D-444FABCA1581}"/>
              </a:ext>
            </a:extLst>
          </p:cNvPr>
          <p:cNvSpPr txBox="1"/>
          <p:nvPr/>
        </p:nvSpPr>
        <p:spPr>
          <a:xfrm>
            <a:off x="1168400" y="1943099"/>
            <a:ext cx="82550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46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周尚礼</a:t>
            </a:r>
            <a:endParaRPr lang="en-US" sz="46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-2">
            <a:extLst>
              <a:ext uri="{FF2B5EF4-FFF2-40B4-BE49-F238E27FC236}">
                <a16:creationId xmlns:a16="http://schemas.microsoft.com/office/drawing/2014/main" id="{21D757DA-4A91-ECFD-AC6A-8D532F6DEDC6}"/>
              </a:ext>
            </a:extLst>
          </p:cNvPr>
          <p:cNvSpPr txBox="1"/>
          <p:nvPr/>
        </p:nvSpPr>
        <p:spPr>
          <a:xfrm>
            <a:off x="1193800" y="3136899"/>
            <a:ext cx="82550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36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个人作品集</a:t>
            </a:r>
            <a:endParaRPr lang="en-US" sz="36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F4E9B44-D650-A875-E02D-C195C6BF582A}"/>
              </a:ext>
            </a:extLst>
          </p:cNvPr>
          <p:cNvCxnSpPr/>
          <p:nvPr/>
        </p:nvCxnSpPr>
        <p:spPr>
          <a:xfrm>
            <a:off x="1193800" y="4356100"/>
            <a:ext cx="1270000" cy="0"/>
          </a:xfrm>
          <a:prstGeom prst="line">
            <a:avLst/>
          </a:prstGeom>
          <a:ln w="1016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-3">
            <a:extLst>
              <a:ext uri="{FF2B5EF4-FFF2-40B4-BE49-F238E27FC236}">
                <a16:creationId xmlns:a16="http://schemas.microsoft.com/office/drawing/2014/main" id="{F912EEE0-EE49-E16C-068D-2DF88ECAF5BE}"/>
              </a:ext>
            </a:extLst>
          </p:cNvPr>
          <p:cNvSpPr txBox="1"/>
          <p:nvPr/>
        </p:nvSpPr>
        <p:spPr>
          <a:xfrm>
            <a:off x="1193800" y="4851399"/>
            <a:ext cx="82550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我的个人网站收录了作品的完整介绍、演示与相关记录：</a:t>
            </a:r>
            <a:endParaRPr lang="en-US" sz="16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-4">
            <a:hlinkClick r:id="rId3"/>
            <a:extLst>
              <a:ext uri="{FF2B5EF4-FFF2-40B4-BE49-F238E27FC236}">
                <a16:creationId xmlns:a16="http://schemas.microsoft.com/office/drawing/2014/main" id="{C3C76779-8F83-3F14-621A-6FE07E4F9BAF}"/>
              </a:ext>
            </a:extLst>
          </p:cNvPr>
          <p:cNvSpPr txBox="1"/>
          <p:nvPr/>
        </p:nvSpPr>
        <p:spPr>
          <a:xfrm>
            <a:off x="1193800" y="5765799"/>
            <a:ext cx="825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https://zhoushangli.github.io/</a:t>
            </a:r>
            <a:endParaRPr lang="en-US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-5">
            <a:extLst>
              <a:ext uri="{FF2B5EF4-FFF2-40B4-BE49-F238E27FC236}">
                <a16:creationId xmlns:a16="http://schemas.microsoft.com/office/drawing/2014/main" id="{D9D9453B-6590-AAB7-11D8-533E300B115C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329128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ometry-1">
            <a:extLst>
              <a:ext uri="{FF2B5EF4-FFF2-40B4-BE49-F238E27FC236}">
                <a16:creationId xmlns:a16="http://schemas.microsoft.com/office/drawing/2014/main" id="{7664EC3A-7B0D-6DA4-EECC-6FE27941CDD1}"/>
              </a:ext>
            </a:extLst>
          </p:cNvPr>
          <p:cNvCxnSpPr/>
          <p:nvPr/>
        </p:nvCxnSpPr>
        <p:spPr>
          <a:xfrm>
            <a:off x="584200" y="584200"/>
            <a:ext cx="736600" cy="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ometry-2">
            <a:extLst>
              <a:ext uri="{FF2B5EF4-FFF2-40B4-BE49-F238E27FC236}">
                <a16:creationId xmlns:a16="http://schemas.microsoft.com/office/drawing/2014/main" id="{BC6DD6BC-4CA3-ADDE-A050-088B43B949C2}"/>
              </a:ext>
            </a:extLst>
          </p:cNvPr>
          <p:cNvCxnSpPr/>
          <p:nvPr/>
        </p:nvCxnSpPr>
        <p:spPr>
          <a:xfrm>
            <a:off x="584200" y="584200"/>
            <a:ext cx="0" cy="43180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ometry-3">
            <a:extLst>
              <a:ext uri="{FF2B5EF4-FFF2-40B4-BE49-F238E27FC236}">
                <a16:creationId xmlns:a16="http://schemas.microsoft.com/office/drawing/2014/main" id="{07241600-F80B-8D3A-8307-06F398F1827F}"/>
              </a:ext>
            </a:extLst>
          </p:cNvPr>
          <p:cNvCxnSpPr/>
          <p:nvPr/>
        </p:nvCxnSpPr>
        <p:spPr>
          <a:xfrm>
            <a:off x="9372600" y="6959600"/>
            <a:ext cx="736600" cy="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ometry-4">
            <a:extLst>
              <a:ext uri="{FF2B5EF4-FFF2-40B4-BE49-F238E27FC236}">
                <a16:creationId xmlns:a16="http://schemas.microsoft.com/office/drawing/2014/main" id="{B5758E9F-A158-38DE-7C21-8DC7E02E31F3}"/>
              </a:ext>
            </a:extLst>
          </p:cNvPr>
          <p:cNvCxnSpPr/>
          <p:nvPr/>
        </p:nvCxnSpPr>
        <p:spPr>
          <a:xfrm>
            <a:off x="10109200" y="6527800"/>
            <a:ext cx="0" cy="43180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-6">
            <a:extLst>
              <a:ext uri="{FF2B5EF4-FFF2-40B4-BE49-F238E27FC236}">
                <a16:creationId xmlns:a16="http://schemas.microsoft.com/office/drawing/2014/main" id="{F7B8830A-877B-650C-A55D-AE016454DBFD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阅读导航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225A54D5-12C8-9E9E-EE1F-98D901DC2678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作品集大纲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0B29BE4-7372-A4B5-4315-B76965BEB471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212BA8B-AF26-74AB-B2C1-2074F94A652B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-8">
            <a:extLst>
              <a:ext uri="{FF2B5EF4-FFF2-40B4-BE49-F238E27FC236}">
                <a16:creationId xmlns:a16="http://schemas.microsoft.com/office/drawing/2014/main" id="{7E8632CF-0DF9-A12A-A6AA-5D2AB393B0A4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93768ED8-524E-6345-00BA-AB8B947FE223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/ 10</a:t>
            </a:r>
          </a:p>
        </p:txBody>
      </p:sp>
      <p:sp>
        <p:nvSpPr>
          <p:cNvPr id="12" name="Text-10">
            <a:hlinkClick r:id="rId3" action="ppaction://hlinksldjump"/>
            <a:extLst>
              <a:ext uri="{FF2B5EF4-FFF2-40B4-BE49-F238E27FC236}">
                <a16:creationId xmlns:a16="http://schemas.microsoft.com/office/drawing/2014/main" id="{5140A9C8-61A8-5CEE-4F07-4D694EFB2430}"/>
              </a:ext>
            </a:extLst>
          </p:cNvPr>
          <p:cNvSpPr txBox="1"/>
          <p:nvPr/>
        </p:nvSpPr>
        <p:spPr>
          <a:xfrm>
            <a:off x="584200" y="1993899"/>
            <a:ext cx="57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200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</a:p>
        </p:txBody>
      </p:sp>
      <p:sp>
        <p:nvSpPr>
          <p:cNvPr id="13" name="Text-11">
            <a:hlinkClick r:id="rId3" action="ppaction://hlinksldjump"/>
            <a:extLst>
              <a:ext uri="{FF2B5EF4-FFF2-40B4-BE49-F238E27FC236}">
                <a16:creationId xmlns:a16="http://schemas.microsoft.com/office/drawing/2014/main" id="{8128FCA6-8A9A-D59B-C77D-47AEC418A4A5}"/>
              </a:ext>
            </a:extLst>
          </p:cNvPr>
          <p:cNvSpPr txBox="1"/>
          <p:nvPr/>
        </p:nvSpPr>
        <p:spPr>
          <a:xfrm>
            <a:off x="1308100" y="1981199"/>
            <a:ext cx="25019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4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个人经历</a:t>
            </a:r>
            <a:endParaRPr lang="en-US" sz="24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-12">
            <a:hlinkClick r:id="rId3" action="ppaction://hlinksldjump"/>
            <a:extLst>
              <a:ext uri="{FF2B5EF4-FFF2-40B4-BE49-F238E27FC236}">
                <a16:creationId xmlns:a16="http://schemas.microsoft.com/office/drawing/2014/main" id="{83CA1F05-3748-F426-9769-2FDD46C40E4B}"/>
              </a:ext>
            </a:extLst>
          </p:cNvPr>
          <p:cNvSpPr txBox="1"/>
          <p:nvPr/>
        </p:nvSpPr>
        <p:spPr>
          <a:xfrm>
            <a:off x="4191000" y="20319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教育、实习与个人总览</a:t>
            </a:r>
            <a:endParaRPr lang="en-US" sz="16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-13">
            <a:hlinkClick r:id="rId3" action="ppaction://hlinksldjump"/>
            <a:extLst>
              <a:ext uri="{FF2B5EF4-FFF2-40B4-BE49-F238E27FC236}">
                <a16:creationId xmlns:a16="http://schemas.microsoft.com/office/drawing/2014/main" id="{007A0787-DB8F-AA16-E6E2-899B9A3B2FD3}"/>
              </a:ext>
            </a:extLst>
          </p:cNvPr>
          <p:cNvSpPr txBox="1"/>
          <p:nvPr/>
        </p:nvSpPr>
        <p:spPr>
          <a:xfrm>
            <a:off x="9575800" y="20319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8E6EA63-D5DE-3BDD-41B2-FA283DD04833}"/>
              </a:ext>
            </a:extLst>
          </p:cNvPr>
          <p:cNvCxnSpPr/>
          <p:nvPr/>
        </p:nvCxnSpPr>
        <p:spPr>
          <a:xfrm>
            <a:off x="584200" y="27178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-14">
            <a:hlinkClick r:id="rId4" action="ppaction://hlinksldjump"/>
            <a:extLst>
              <a:ext uri="{FF2B5EF4-FFF2-40B4-BE49-F238E27FC236}">
                <a16:creationId xmlns:a16="http://schemas.microsoft.com/office/drawing/2014/main" id="{3254D567-82AA-AF5D-B89B-E08C8EBFE66F}"/>
              </a:ext>
            </a:extLst>
          </p:cNvPr>
          <p:cNvSpPr txBox="1"/>
          <p:nvPr/>
        </p:nvSpPr>
        <p:spPr>
          <a:xfrm>
            <a:off x="584200" y="3022599"/>
            <a:ext cx="57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200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</a:p>
        </p:txBody>
      </p:sp>
      <p:sp>
        <p:nvSpPr>
          <p:cNvPr id="18" name="Text-15">
            <a:hlinkClick r:id="rId4" action="ppaction://hlinksldjump"/>
            <a:extLst>
              <a:ext uri="{FF2B5EF4-FFF2-40B4-BE49-F238E27FC236}">
                <a16:creationId xmlns:a16="http://schemas.microsoft.com/office/drawing/2014/main" id="{14E8D43A-042B-F1CE-DB57-C21AC38DBD69}"/>
              </a:ext>
            </a:extLst>
          </p:cNvPr>
          <p:cNvSpPr txBox="1"/>
          <p:nvPr/>
        </p:nvSpPr>
        <p:spPr>
          <a:xfrm>
            <a:off x="1308100" y="3009899"/>
            <a:ext cx="25019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4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具体作品</a:t>
            </a:r>
            <a:endParaRPr lang="en-US" sz="24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16">
            <a:hlinkClick r:id="rId4" action="ppaction://hlinksldjump"/>
            <a:extLst>
              <a:ext uri="{FF2B5EF4-FFF2-40B4-BE49-F238E27FC236}">
                <a16:creationId xmlns:a16="http://schemas.microsoft.com/office/drawing/2014/main" id="{6CB531E4-A52D-6DFD-8B3A-DEF3F48BD054}"/>
              </a:ext>
            </a:extLst>
          </p:cNvPr>
          <p:cNvSpPr txBox="1"/>
          <p:nvPr/>
        </p:nvSpPr>
        <p:spPr>
          <a:xfrm>
            <a:off x="4191000" y="2984499"/>
            <a:ext cx="5080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4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</a:t>
            </a:r>
            <a:endParaRPr lang="en-US" sz="14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17">
            <a:hlinkClick r:id="rId4" action="ppaction://hlinksldjump"/>
            <a:extLst>
              <a:ext uri="{FF2B5EF4-FFF2-40B4-BE49-F238E27FC236}">
                <a16:creationId xmlns:a16="http://schemas.microsoft.com/office/drawing/2014/main" id="{67C32FC3-F412-D2C1-1DCE-25B7B9E3EF94}"/>
              </a:ext>
            </a:extLst>
          </p:cNvPr>
          <p:cNvSpPr txBox="1"/>
          <p:nvPr/>
        </p:nvSpPr>
        <p:spPr>
          <a:xfrm>
            <a:off x="4191000" y="34035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MingEngine</a:t>
            </a:r>
          </a:p>
        </p:txBody>
      </p:sp>
      <p:sp>
        <p:nvSpPr>
          <p:cNvPr id="21" name="Text-18">
            <a:hlinkClick r:id="rId4" action="ppaction://hlinksldjump"/>
            <a:extLst>
              <a:ext uri="{FF2B5EF4-FFF2-40B4-BE49-F238E27FC236}">
                <a16:creationId xmlns:a16="http://schemas.microsoft.com/office/drawing/2014/main" id="{D1A8541A-E8CD-26A5-C1E7-607852E2C688}"/>
              </a:ext>
            </a:extLst>
          </p:cNvPr>
          <p:cNvSpPr txBox="1"/>
          <p:nvPr/>
        </p:nvSpPr>
        <p:spPr>
          <a:xfrm>
            <a:off x="9575800" y="34035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2" name="Text-19">
            <a:hlinkClick r:id="rId5" action="ppaction://hlinksldjump"/>
            <a:extLst>
              <a:ext uri="{FF2B5EF4-FFF2-40B4-BE49-F238E27FC236}">
                <a16:creationId xmlns:a16="http://schemas.microsoft.com/office/drawing/2014/main" id="{BBEE9DD4-16F8-AC71-C6A7-F37B3106FE51}"/>
              </a:ext>
            </a:extLst>
          </p:cNvPr>
          <p:cNvSpPr txBox="1"/>
          <p:nvPr/>
        </p:nvSpPr>
        <p:spPr>
          <a:xfrm>
            <a:off x="4191000" y="38099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Doomenstein</a:t>
            </a:r>
          </a:p>
        </p:txBody>
      </p:sp>
      <p:sp>
        <p:nvSpPr>
          <p:cNvPr id="23" name="Text-20">
            <a:hlinkClick r:id="rId5" action="ppaction://hlinksldjump"/>
            <a:extLst>
              <a:ext uri="{FF2B5EF4-FFF2-40B4-BE49-F238E27FC236}">
                <a16:creationId xmlns:a16="http://schemas.microsoft.com/office/drawing/2014/main" id="{581CAC90-2EFC-4057-7DE7-F65D413CFD16}"/>
              </a:ext>
            </a:extLst>
          </p:cNvPr>
          <p:cNvSpPr txBox="1"/>
          <p:nvPr/>
        </p:nvSpPr>
        <p:spPr>
          <a:xfrm>
            <a:off x="9575800" y="38099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</a:p>
        </p:txBody>
      </p:sp>
      <p:sp>
        <p:nvSpPr>
          <p:cNvPr id="24" name="Text-21">
            <a:hlinkClick r:id="rId6" action="ppaction://hlinksldjump"/>
            <a:extLst>
              <a:ext uri="{FF2B5EF4-FFF2-40B4-BE49-F238E27FC236}">
                <a16:creationId xmlns:a16="http://schemas.microsoft.com/office/drawing/2014/main" id="{EC0EC593-B887-DB6A-8B0B-45E62F6BB7A0}"/>
              </a:ext>
            </a:extLst>
          </p:cNvPr>
          <p:cNvSpPr txBox="1"/>
          <p:nvPr/>
        </p:nvSpPr>
        <p:spPr>
          <a:xfrm>
            <a:off x="4191000" y="42163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Primary Colors / </a:t>
            </a:r>
            <a:r>
              <a:rPr lang="zh-CN" alt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三原色</a:t>
            </a:r>
            <a:endParaRPr lang="en-US" sz="16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-22">
            <a:hlinkClick r:id="rId6" action="ppaction://hlinksldjump"/>
            <a:extLst>
              <a:ext uri="{FF2B5EF4-FFF2-40B4-BE49-F238E27FC236}">
                <a16:creationId xmlns:a16="http://schemas.microsoft.com/office/drawing/2014/main" id="{AD6FA214-5650-B3D3-E874-C59668A33D74}"/>
              </a:ext>
            </a:extLst>
          </p:cNvPr>
          <p:cNvSpPr txBox="1"/>
          <p:nvPr/>
        </p:nvSpPr>
        <p:spPr>
          <a:xfrm>
            <a:off x="9575800" y="42163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</a:p>
        </p:txBody>
      </p:sp>
      <p:sp>
        <p:nvSpPr>
          <p:cNvPr id="26" name="Text-23">
            <a:hlinkClick r:id="rId7" action="ppaction://hlinksldjump"/>
            <a:extLst>
              <a:ext uri="{FF2B5EF4-FFF2-40B4-BE49-F238E27FC236}">
                <a16:creationId xmlns:a16="http://schemas.microsoft.com/office/drawing/2014/main" id="{D76AB507-F785-3345-9B23-5D3ADFBA9062}"/>
              </a:ext>
            </a:extLst>
          </p:cNvPr>
          <p:cNvSpPr txBox="1"/>
          <p:nvPr/>
        </p:nvSpPr>
        <p:spPr>
          <a:xfrm>
            <a:off x="4191000" y="4749799"/>
            <a:ext cx="5080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4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团队作品</a:t>
            </a:r>
            <a:endParaRPr lang="en-US" sz="14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24">
            <a:hlinkClick r:id="rId7" action="ppaction://hlinksldjump"/>
            <a:extLst>
              <a:ext uri="{FF2B5EF4-FFF2-40B4-BE49-F238E27FC236}">
                <a16:creationId xmlns:a16="http://schemas.microsoft.com/office/drawing/2014/main" id="{3F0052A3-D37B-D141-650E-10F63CB7F4C4}"/>
              </a:ext>
            </a:extLst>
          </p:cNvPr>
          <p:cNvSpPr txBox="1"/>
          <p:nvPr/>
        </p:nvSpPr>
        <p:spPr>
          <a:xfrm>
            <a:off x="4191000" y="51561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SpectreX</a:t>
            </a:r>
          </a:p>
        </p:txBody>
      </p:sp>
      <p:sp>
        <p:nvSpPr>
          <p:cNvPr id="28" name="Text-25">
            <a:hlinkClick r:id="rId7" action="ppaction://hlinksldjump"/>
            <a:extLst>
              <a:ext uri="{FF2B5EF4-FFF2-40B4-BE49-F238E27FC236}">
                <a16:creationId xmlns:a16="http://schemas.microsoft.com/office/drawing/2014/main" id="{F4B17CA1-4A73-CC1C-6F9A-F808071509D7}"/>
              </a:ext>
            </a:extLst>
          </p:cNvPr>
          <p:cNvSpPr txBox="1"/>
          <p:nvPr/>
        </p:nvSpPr>
        <p:spPr>
          <a:xfrm>
            <a:off x="9575800" y="51561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</a:p>
        </p:txBody>
      </p:sp>
      <p:sp>
        <p:nvSpPr>
          <p:cNvPr id="29" name="Text-26">
            <a:hlinkClick r:id="rId8" action="ppaction://hlinksldjump"/>
            <a:extLst>
              <a:ext uri="{FF2B5EF4-FFF2-40B4-BE49-F238E27FC236}">
                <a16:creationId xmlns:a16="http://schemas.microsoft.com/office/drawing/2014/main" id="{09671A65-1101-5558-AE9D-4129ED906397}"/>
              </a:ext>
            </a:extLst>
          </p:cNvPr>
          <p:cNvSpPr txBox="1"/>
          <p:nvPr/>
        </p:nvSpPr>
        <p:spPr>
          <a:xfrm>
            <a:off x="4191000" y="55625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Hamsterballin'</a:t>
            </a:r>
          </a:p>
        </p:txBody>
      </p:sp>
      <p:sp>
        <p:nvSpPr>
          <p:cNvPr id="30" name="Text-27">
            <a:hlinkClick r:id="rId8" action="ppaction://hlinksldjump"/>
            <a:extLst>
              <a:ext uri="{FF2B5EF4-FFF2-40B4-BE49-F238E27FC236}">
                <a16:creationId xmlns:a16="http://schemas.microsoft.com/office/drawing/2014/main" id="{F2BBDD1A-38B1-162F-49D0-AB61740031DE}"/>
              </a:ext>
            </a:extLst>
          </p:cNvPr>
          <p:cNvSpPr txBox="1"/>
          <p:nvPr/>
        </p:nvSpPr>
        <p:spPr>
          <a:xfrm>
            <a:off x="9575800" y="55625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0D19CE9-245A-C7E4-7518-6621926DA1A0}"/>
              </a:ext>
            </a:extLst>
          </p:cNvPr>
          <p:cNvCxnSpPr/>
          <p:nvPr/>
        </p:nvCxnSpPr>
        <p:spPr>
          <a:xfrm>
            <a:off x="584200" y="60706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-28">
            <a:hlinkClick r:id="rId9" action="ppaction://hlinksldjump"/>
            <a:extLst>
              <a:ext uri="{FF2B5EF4-FFF2-40B4-BE49-F238E27FC236}">
                <a16:creationId xmlns:a16="http://schemas.microsoft.com/office/drawing/2014/main" id="{75C96B23-4790-10AF-7768-031803DB4CC5}"/>
              </a:ext>
            </a:extLst>
          </p:cNvPr>
          <p:cNvSpPr txBox="1"/>
          <p:nvPr/>
        </p:nvSpPr>
        <p:spPr>
          <a:xfrm>
            <a:off x="584200" y="6273799"/>
            <a:ext cx="57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200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</a:p>
        </p:txBody>
      </p:sp>
      <p:sp>
        <p:nvSpPr>
          <p:cNvPr id="33" name="Text-29">
            <a:hlinkClick r:id="rId9" action="ppaction://hlinksldjump"/>
            <a:extLst>
              <a:ext uri="{FF2B5EF4-FFF2-40B4-BE49-F238E27FC236}">
                <a16:creationId xmlns:a16="http://schemas.microsoft.com/office/drawing/2014/main" id="{1559B2D0-D18A-F199-1157-C9998F28FE24}"/>
              </a:ext>
            </a:extLst>
          </p:cNvPr>
          <p:cNvSpPr txBox="1"/>
          <p:nvPr/>
        </p:nvSpPr>
        <p:spPr>
          <a:xfrm>
            <a:off x="1308100" y="6261099"/>
            <a:ext cx="25019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4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教学实践</a:t>
            </a:r>
            <a:endParaRPr lang="en-US" sz="24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-30">
            <a:hlinkClick r:id="rId9" action="ppaction://hlinksldjump"/>
            <a:extLst>
              <a:ext uri="{FF2B5EF4-FFF2-40B4-BE49-F238E27FC236}">
                <a16:creationId xmlns:a16="http://schemas.microsoft.com/office/drawing/2014/main" id="{9895300F-0005-6F5C-9843-BD5685E4BBFD}"/>
              </a:ext>
            </a:extLst>
          </p:cNvPr>
          <p:cNvSpPr txBox="1"/>
          <p:nvPr/>
        </p:nvSpPr>
        <p:spPr>
          <a:xfrm>
            <a:off x="4191000" y="62483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PICO-8 </a:t>
            </a:r>
            <a:r>
              <a:rPr lang="zh-CN" alt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培训总览</a:t>
            </a:r>
            <a:endParaRPr lang="en-US" sz="16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-31">
            <a:hlinkClick r:id="rId9" action="ppaction://hlinksldjump"/>
            <a:extLst>
              <a:ext uri="{FF2B5EF4-FFF2-40B4-BE49-F238E27FC236}">
                <a16:creationId xmlns:a16="http://schemas.microsoft.com/office/drawing/2014/main" id="{E1E97C9E-B36B-3CDE-E1B6-3F3754AA8BE0}"/>
              </a:ext>
            </a:extLst>
          </p:cNvPr>
          <p:cNvSpPr txBox="1"/>
          <p:nvPr/>
        </p:nvSpPr>
        <p:spPr>
          <a:xfrm>
            <a:off x="9575800" y="62483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</a:p>
        </p:txBody>
      </p:sp>
      <p:sp>
        <p:nvSpPr>
          <p:cNvPr id="36" name="Text-32">
            <a:hlinkClick r:id="rId10" action="ppaction://hlinksldjump"/>
            <a:extLst>
              <a:ext uri="{FF2B5EF4-FFF2-40B4-BE49-F238E27FC236}">
                <a16:creationId xmlns:a16="http://schemas.microsoft.com/office/drawing/2014/main" id="{F73F2813-857B-0447-A0B3-5FDE125A8C1C}"/>
              </a:ext>
            </a:extLst>
          </p:cNvPr>
          <p:cNvSpPr txBox="1"/>
          <p:nvPr/>
        </p:nvSpPr>
        <p:spPr>
          <a:xfrm>
            <a:off x="4191000" y="66166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培训后的学生作品</a:t>
            </a:r>
            <a:endParaRPr lang="en-US" sz="16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-33">
            <a:hlinkClick r:id="rId10" action="ppaction://hlinksldjump"/>
            <a:extLst>
              <a:ext uri="{FF2B5EF4-FFF2-40B4-BE49-F238E27FC236}">
                <a16:creationId xmlns:a16="http://schemas.microsoft.com/office/drawing/2014/main" id="{73B8F0C1-85A2-24CD-73B4-138B1243700E}"/>
              </a:ext>
            </a:extLst>
          </p:cNvPr>
          <p:cNvSpPr txBox="1"/>
          <p:nvPr/>
        </p:nvSpPr>
        <p:spPr>
          <a:xfrm>
            <a:off x="9575800" y="66166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530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D10191E9-469D-CFB0-5BB5-CEA4371D215B}"/>
              </a:ext>
            </a:extLst>
          </p:cNvPr>
          <p:cNvSpPr/>
          <p:nvPr/>
        </p:nvSpPr>
        <p:spPr>
          <a:xfrm>
            <a:off x="8763000" y="-825500"/>
            <a:ext cx="2413000" cy="2413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A8D3578F-CD49-80B4-78A9-2C3F77BE0A86}"/>
              </a:ext>
            </a:extLst>
          </p:cNvPr>
          <p:cNvSpPr/>
          <p:nvPr/>
        </p:nvSpPr>
        <p:spPr>
          <a:xfrm>
            <a:off x="9067800" y="-520700"/>
            <a:ext cx="1803400" cy="18034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34">
            <a:extLst>
              <a:ext uri="{FF2B5EF4-FFF2-40B4-BE49-F238E27FC236}">
                <a16:creationId xmlns:a16="http://schemas.microsoft.com/office/drawing/2014/main" id="{D5E9D5EF-21F8-C164-B2B3-A4440C3DA2C0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个人经历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35">
            <a:extLst>
              <a:ext uri="{FF2B5EF4-FFF2-40B4-BE49-F238E27FC236}">
                <a16:creationId xmlns:a16="http://schemas.microsoft.com/office/drawing/2014/main" id="{5124910E-B623-5AB7-4C51-447FB632D851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个人经历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238CA69-1D6E-7A3C-DD13-432BE62764DB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EEBBE5-6D4A-1AA5-7A1B-4436BAAD0B3F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36">
            <a:extLst>
              <a:ext uri="{FF2B5EF4-FFF2-40B4-BE49-F238E27FC236}">
                <a16:creationId xmlns:a16="http://schemas.microsoft.com/office/drawing/2014/main" id="{79216EBF-CDAE-F869-1265-B9D9A3AC4F20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37">
            <a:extLst>
              <a:ext uri="{FF2B5EF4-FFF2-40B4-BE49-F238E27FC236}">
                <a16:creationId xmlns:a16="http://schemas.microsoft.com/office/drawing/2014/main" id="{F028DC41-0E8C-035D-EF03-184E093DF220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/ 10</a:t>
            </a:r>
          </a:p>
        </p:txBody>
      </p:sp>
      <p:pic>
        <p:nvPicPr>
          <p:cNvPr id="11" name="Image-1" descr="hero_image.jpg">
            <a:extLst>
              <a:ext uri="{FF2B5EF4-FFF2-40B4-BE49-F238E27FC236}">
                <a16:creationId xmlns:a16="http://schemas.microsoft.com/office/drawing/2014/main" id="{CD3E013A-905A-A069-B4B9-AB0E5ED91D4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55" y="1943100"/>
            <a:ext cx="2170590" cy="3238500"/>
          </a:xfrm>
          <a:prstGeom prst="rect">
            <a:avLst/>
          </a:prstGeom>
        </p:spPr>
      </p:pic>
      <p:sp>
        <p:nvSpPr>
          <p:cNvPr id="12" name="Text-38">
            <a:extLst>
              <a:ext uri="{FF2B5EF4-FFF2-40B4-BE49-F238E27FC236}">
                <a16:creationId xmlns:a16="http://schemas.microsoft.com/office/drawing/2014/main" id="{357B922A-D156-5B58-7CFE-DEB4F210708B}"/>
              </a:ext>
            </a:extLst>
          </p:cNvPr>
          <p:cNvSpPr txBox="1"/>
          <p:nvPr/>
        </p:nvSpPr>
        <p:spPr>
          <a:xfrm>
            <a:off x="3187700" y="1943099"/>
            <a:ext cx="692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游戏程序、玩法与关卡设计</a:t>
            </a:r>
            <a:endParaRPr lang="en-US" sz="2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-39">
            <a:extLst>
              <a:ext uri="{FF2B5EF4-FFF2-40B4-BE49-F238E27FC236}">
                <a16:creationId xmlns:a16="http://schemas.microsoft.com/office/drawing/2014/main" id="{C3D17C56-7F7B-409D-D910-BAC4AE52A709}"/>
              </a:ext>
            </a:extLst>
          </p:cNvPr>
          <p:cNvSpPr txBox="1"/>
          <p:nvPr/>
        </p:nvSpPr>
        <p:spPr>
          <a:xfrm>
            <a:off x="3187700" y="2552699"/>
            <a:ext cx="6921500" cy="119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我本科就读于上海科技大学计算机科学专业，目前在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SMU Guildhall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学习游戏开发。我使用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MingEngine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，也在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Godot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Unity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Unreal Engine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中参与个人与团队制作，并为游戏社新成员主讲入门培训。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01E53CC-9201-0589-3C6F-E2F29BC2C491}"/>
              </a:ext>
            </a:extLst>
          </p:cNvPr>
          <p:cNvCxnSpPr/>
          <p:nvPr/>
        </p:nvCxnSpPr>
        <p:spPr>
          <a:xfrm>
            <a:off x="3187700" y="3911600"/>
            <a:ext cx="69215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-40">
            <a:extLst>
              <a:ext uri="{FF2B5EF4-FFF2-40B4-BE49-F238E27FC236}">
                <a16:creationId xmlns:a16="http://schemas.microsoft.com/office/drawing/2014/main" id="{B23576E5-C644-F3B2-2022-04DE78652F59}"/>
              </a:ext>
            </a:extLst>
          </p:cNvPr>
          <p:cNvSpPr txBox="1"/>
          <p:nvPr/>
        </p:nvSpPr>
        <p:spPr>
          <a:xfrm>
            <a:off x="3187700" y="4140199"/>
            <a:ext cx="3048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教育经历</a:t>
            </a:r>
            <a:endParaRPr lang="en-US">
              <a:solidFill>
                <a:srgbClr val="D2B38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41">
            <a:extLst>
              <a:ext uri="{FF2B5EF4-FFF2-40B4-BE49-F238E27FC236}">
                <a16:creationId xmlns:a16="http://schemas.microsoft.com/office/drawing/2014/main" id="{146BE40A-BFE5-58CC-3166-31AA1958D25F}"/>
              </a:ext>
            </a:extLst>
          </p:cNvPr>
          <p:cNvSpPr txBox="1"/>
          <p:nvPr/>
        </p:nvSpPr>
        <p:spPr>
          <a:xfrm>
            <a:off x="3187700" y="4635499"/>
            <a:ext cx="34290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zh-CN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2025–2027  SMU Guildhall
</a:t>
            </a:r>
            <a:r>
              <a:rPr lang="zh-CN" altLang="en-US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游戏开发研究生课程，程序方向
预计 </a:t>
            </a:r>
            <a:r>
              <a:rPr lang="en-US" altLang="zh-CN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2027 </a:t>
            </a:r>
            <a:r>
              <a:rPr lang="zh-CN" altLang="en-US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月毕业</a:t>
            </a:r>
            <a:endParaRPr lang="en-US" sz="14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42">
            <a:extLst>
              <a:ext uri="{FF2B5EF4-FFF2-40B4-BE49-F238E27FC236}">
                <a16:creationId xmlns:a16="http://schemas.microsoft.com/office/drawing/2014/main" id="{B28C3FDF-C2EC-1DCC-B65C-97C956D1491C}"/>
              </a:ext>
            </a:extLst>
          </p:cNvPr>
          <p:cNvSpPr txBox="1"/>
          <p:nvPr/>
        </p:nvSpPr>
        <p:spPr>
          <a:xfrm>
            <a:off x="7010400" y="4635499"/>
            <a:ext cx="30988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zh-CN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2021–2025  </a:t>
            </a:r>
            <a:r>
              <a:rPr lang="zh-CN" altLang="en-US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上海科技大学
计算机科学本科</a:t>
            </a:r>
            <a:endParaRPr lang="en-US" sz="14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FA3758F-C9C0-A334-4A17-AAF3E56919F8}"/>
              </a:ext>
            </a:extLst>
          </p:cNvPr>
          <p:cNvCxnSpPr/>
          <p:nvPr/>
        </p:nvCxnSpPr>
        <p:spPr>
          <a:xfrm>
            <a:off x="584200" y="59436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-43">
            <a:extLst>
              <a:ext uri="{FF2B5EF4-FFF2-40B4-BE49-F238E27FC236}">
                <a16:creationId xmlns:a16="http://schemas.microsoft.com/office/drawing/2014/main" id="{24D450F4-8661-6AFE-8C43-AFBB033824F1}"/>
              </a:ext>
            </a:extLst>
          </p:cNvPr>
          <p:cNvSpPr txBox="1"/>
          <p:nvPr/>
        </p:nvSpPr>
        <p:spPr>
          <a:xfrm>
            <a:off x="584200" y="6184899"/>
            <a:ext cx="2159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实习经历</a:t>
            </a:r>
            <a:endParaRPr lang="en-US">
              <a:solidFill>
                <a:srgbClr val="D2B38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-44">
            <a:extLst>
              <a:ext uri="{FF2B5EF4-FFF2-40B4-BE49-F238E27FC236}">
                <a16:creationId xmlns:a16="http://schemas.microsoft.com/office/drawing/2014/main" id="{307AD99C-282E-E99D-8646-0CCA3229DE17}"/>
              </a:ext>
            </a:extLst>
          </p:cNvPr>
          <p:cNvSpPr txBox="1"/>
          <p:nvPr/>
        </p:nvSpPr>
        <p:spPr>
          <a:xfrm>
            <a:off x="2997200" y="6172199"/>
            <a:ext cx="37465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腾讯魔方工作室群 </a:t>
            </a:r>
            <a:r>
              <a:rPr lang="en-US" altLang="zh-CN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战斗策划实习
</a:t>
            </a:r>
            <a:r>
              <a:rPr lang="en-US" altLang="zh-CN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2024.01–02  </a:t>
            </a: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音效与敌人战斗动画配置</a:t>
            </a:r>
            <a:endParaRPr lang="en-US" sz="13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-45">
            <a:extLst>
              <a:ext uri="{FF2B5EF4-FFF2-40B4-BE49-F238E27FC236}">
                <a16:creationId xmlns:a16="http://schemas.microsoft.com/office/drawing/2014/main" id="{F4ED6FE2-89DC-E61B-AD0F-A803EBD45986}"/>
              </a:ext>
            </a:extLst>
          </p:cNvPr>
          <p:cNvSpPr txBox="1"/>
          <p:nvPr/>
        </p:nvSpPr>
        <p:spPr>
          <a:xfrm>
            <a:off x="7010400" y="6172199"/>
            <a:ext cx="3098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朝夕光年 </a:t>
            </a:r>
            <a:r>
              <a:rPr lang="en-US" altLang="zh-CN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软件开发实习
</a:t>
            </a:r>
            <a:r>
              <a:rPr lang="en-US" altLang="zh-CN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2023.08–12  PyQt </a:t>
            </a: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引擎工具链界面</a:t>
            </a:r>
            <a:endParaRPr lang="en-US" sz="13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560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E8489D94-202F-79B6-5680-96AB77D19882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0AB9EC99-5A5F-C767-11AD-047520AA0F4C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46">
            <a:extLst>
              <a:ext uri="{FF2B5EF4-FFF2-40B4-BE49-F238E27FC236}">
                <a16:creationId xmlns:a16="http://schemas.microsoft.com/office/drawing/2014/main" id="{96939937-0A64-5E2C-06CD-FA9E83633B51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47">
            <a:extLst>
              <a:ext uri="{FF2B5EF4-FFF2-40B4-BE49-F238E27FC236}">
                <a16:creationId xmlns:a16="http://schemas.microsoft.com/office/drawing/2014/main" id="{D48F0D5F-0F17-01D5-1628-8720D70E537B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MingEngine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CDB1008-17AB-859F-DBB8-4A25E902D2F3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99CF768-CB8A-F9F2-2CFB-9FF77F761CA6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48">
            <a:extLst>
              <a:ext uri="{FF2B5EF4-FFF2-40B4-BE49-F238E27FC236}">
                <a16:creationId xmlns:a16="http://schemas.microsoft.com/office/drawing/2014/main" id="{E4F79545-680A-CCFC-331E-1D8E95E0A3EC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49">
            <a:extLst>
              <a:ext uri="{FF2B5EF4-FFF2-40B4-BE49-F238E27FC236}">
                <a16:creationId xmlns:a16="http://schemas.microsoft.com/office/drawing/2014/main" id="{42C18D56-9B25-BD75-7396-7A0CD6E40BCC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/ 10</a:t>
            </a:r>
          </a:p>
        </p:txBody>
      </p:sp>
      <p:sp>
        <p:nvSpPr>
          <p:cNvPr id="10" name="Text-50">
            <a:extLst>
              <a:ext uri="{FF2B5EF4-FFF2-40B4-BE49-F238E27FC236}">
                <a16:creationId xmlns:a16="http://schemas.microsoft.com/office/drawing/2014/main" id="{1B6657D3-0548-818F-80CB-E4A285A53EE3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我使用 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引擎与编辑器，采用 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DirectX 11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渲染，支持 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C#/.NET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2" descr="ming_engine.png">
            <a:extLst>
              <a:ext uri="{FF2B5EF4-FFF2-40B4-BE49-F238E27FC236}">
                <a16:creationId xmlns:a16="http://schemas.microsoft.com/office/drawing/2014/main" id="{4E93606A-8DE2-0AB5-ABCB-EDF9B7FB030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823220"/>
            <a:ext cx="5168900" cy="2786360"/>
          </a:xfrm>
          <a:prstGeom prst="rect">
            <a:avLst/>
          </a:prstGeom>
        </p:spPr>
      </p:pic>
      <p:sp>
        <p:nvSpPr>
          <p:cNvPr id="13" name="Text-51">
            <a:extLst>
              <a:ext uri="{FF2B5EF4-FFF2-40B4-BE49-F238E27FC236}">
                <a16:creationId xmlns:a16="http://schemas.microsoft.com/office/drawing/2014/main" id="{AC45A8C2-6A22-50F7-C485-271A18CB4D65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较早开发阶段的编辑器截图。
原生 </a:t>
            </a:r>
            <a:r>
              <a:rPr lang="en-US" altLang="zh-CN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</a:t>
            </a: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与导出流程仍在完善。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52">
            <a:extLst>
              <a:ext uri="{FF2B5EF4-FFF2-40B4-BE49-F238E27FC236}">
                <a16:creationId xmlns:a16="http://schemas.microsoft.com/office/drawing/2014/main" id="{FB9FD1C5-AB55-8FBE-D3A6-292532B7822F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53">
            <a:extLst>
              <a:ext uri="{FF2B5EF4-FFF2-40B4-BE49-F238E27FC236}">
                <a16:creationId xmlns:a16="http://schemas.microsoft.com/office/drawing/2014/main" id="{D71EE3D1-86D4-7A7B-0810-B78DA15FE2D2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节点与资源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54">
            <a:extLst>
              <a:ext uri="{FF2B5EF4-FFF2-40B4-BE49-F238E27FC236}">
                <a16:creationId xmlns:a16="http://schemas.microsoft.com/office/drawing/2014/main" id="{914BD282-BB7F-82D8-2C99-E1C328EA9E9D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将场景对象、序列化数据和渲染提交分开。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55">
            <a:extLst>
              <a:ext uri="{FF2B5EF4-FFF2-40B4-BE49-F238E27FC236}">
                <a16:creationId xmlns:a16="http://schemas.microsoft.com/office/drawing/2014/main" id="{765EEE9A-971A-C85A-8B02-8EBA0C8D1BC0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56">
            <a:extLst>
              <a:ext uri="{FF2B5EF4-FFF2-40B4-BE49-F238E27FC236}">
                <a16:creationId xmlns:a16="http://schemas.microsoft.com/office/drawing/2014/main" id="{412BBDD8-9485-62BB-43CC-6B1A06FF647A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DirectX 11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57">
            <a:extLst>
              <a:ext uri="{FF2B5EF4-FFF2-40B4-BE49-F238E27FC236}">
                <a16:creationId xmlns:a16="http://schemas.microsoft.com/office/drawing/2014/main" id="{62A91971-E5C1-16F8-4A36-7A311ECB9667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材质纹理、方向光与点光源、粒子及后处理。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58">
            <a:extLst>
              <a:ext uri="{FF2B5EF4-FFF2-40B4-BE49-F238E27FC236}">
                <a16:creationId xmlns:a16="http://schemas.microsoft.com/office/drawing/2014/main" id="{87D98B5F-87C3-4A6C-6B00-0D50A88F4834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59">
            <a:extLst>
              <a:ext uri="{FF2B5EF4-FFF2-40B4-BE49-F238E27FC236}">
                <a16:creationId xmlns:a16="http://schemas.microsoft.com/office/drawing/2014/main" id="{A03D1501-D02E-541D-A52E-1510C29DA7CA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编辑器与资源导入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-60">
            <a:extLst>
              <a:ext uri="{FF2B5EF4-FFF2-40B4-BE49-F238E27FC236}">
                <a16:creationId xmlns:a16="http://schemas.microsoft.com/office/drawing/2014/main" id="{6CF79BDC-6DE8-29A4-F413-3154CCE10EDD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层级、属性检查与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Gizmo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，支持资源导入。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61">
            <a:extLst>
              <a:ext uri="{FF2B5EF4-FFF2-40B4-BE49-F238E27FC236}">
                <a16:creationId xmlns:a16="http://schemas.microsoft.com/office/drawing/2014/main" id="{151B285D-BD3D-85A3-26A7-F4F0BFE8FAE7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62">
            <a:extLst>
              <a:ext uri="{FF2B5EF4-FFF2-40B4-BE49-F238E27FC236}">
                <a16:creationId xmlns:a16="http://schemas.microsoft.com/office/drawing/2014/main" id="{BB475E37-7505-10E8-3673-10007D01343C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C#/.NET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集成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63">
            <a:extLst>
              <a:ext uri="{FF2B5EF4-FFF2-40B4-BE49-F238E27FC236}">
                <a16:creationId xmlns:a16="http://schemas.microsoft.com/office/drawing/2014/main" id="{90F17C00-0E48-8861-8951-DA1C64EB65F3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hostfxr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与生成绑定接入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C#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64">
            <a:extLst>
              <a:ext uri="{FF2B5EF4-FFF2-40B4-BE49-F238E27FC236}">
                <a16:creationId xmlns:a16="http://schemas.microsoft.com/office/drawing/2014/main" id="{11617AA8-97D2-5F5E-8091-9C0FAB0A47C3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独立完成架构、渲染、资源管线、编辑器与脚本集成。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65">
            <a:hlinkClick r:id="rId4"/>
            <a:extLst>
              <a:ext uri="{FF2B5EF4-FFF2-40B4-BE49-F238E27FC236}">
                <a16:creationId xmlns:a16="http://schemas.microsoft.com/office/drawing/2014/main" id="{2638CF30-8C3B-6415-2CFB-D6F1EDE15976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zhoushangli.github.io/projects/ming-engine/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6579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0AF32F25-58DC-7530-3DA4-1D34682CF4FA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B695EF78-5481-A6B2-DB9E-0E0B9AAE5DD8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66">
            <a:extLst>
              <a:ext uri="{FF2B5EF4-FFF2-40B4-BE49-F238E27FC236}">
                <a16:creationId xmlns:a16="http://schemas.microsoft.com/office/drawing/2014/main" id="{76DF61D3-33F5-F42B-4D2B-8690C59666AC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67">
            <a:extLst>
              <a:ext uri="{FF2B5EF4-FFF2-40B4-BE49-F238E27FC236}">
                <a16:creationId xmlns:a16="http://schemas.microsoft.com/office/drawing/2014/main" id="{978BB7D0-464F-2F3D-B470-8028D69DB497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Doomenstein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D99C25D-A8FE-0681-9D7F-DDEF6F5A3A1D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E23863F-C1C7-440E-A20A-21E03ECAAF3F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68">
            <a:extLst>
              <a:ext uri="{FF2B5EF4-FFF2-40B4-BE49-F238E27FC236}">
                <a16:creationId xmlns:a16="http://schemas.microsoft.com/office/drawing/2014/main" id="{00E275FF-8B05-A296-7375-4E5FC8858AAF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69">
            <a:extLst>
              <a:ext uri="{FF2B5EF4-FFF2-40B4-BE49-F238E27FC236}">
                <a16:creationId xmlns:a16="http://schemas.microsoft.com/office/drawing/2014/main" id="{57317808-8A9E-6124-D81E-5DACEADB75AA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/ 10</a:t>
            </a:r>
          </a:p>
        </p:txBody>
      </p:sp>
      <p:sp>
        <p:nvSpPr>
          <p:cNvPr id="10" name="Text-70">
            <a:extLst>
              <a:ext uri="{FF2B5EF4-FFF2-40B4-BE49-F238E27FC236}">
                <a16:creationId xmlns:a16="http://schemas.microsoft.com/office/drawing/2014/main" id="{94067D4D-6B89-EAEB-81E1-3F66EDF0EB1C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基于自研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引擎制作的复古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第一人称射击原型，支持本地双人游玩。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3" descr="doomenstein_game-cropped.png">
            <a:extLst>
              <a:ext uri="{FF2B5EF4-FFF2-40B4-BE49-F238E27FC236}">
                <a16:creationId xmlns:a16="http://schemas.microsoft.com/office/drawing/2014/main" id="{C074ACA7-A187-DFD0-6412-49EAAC13B3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762647"/>
            <a:ext cx="5168900" cy="2907506"/>
          </a:xfrm>
          <a:prstGeom prst="rect">
            <a:avLst/>
          </a:prstGeom>
        </p:spPr>
      </p:pic>
      <p:sp>
        <p:nvSpPr>
          <p:cNvPr id="13" name="Text-71">
            <a:extLst>
              <a:ext uri="{FF2B5EF4-FFF2-40B4-BE49-F238E27FC236}">
                <a16:creationId xmlns:a16="http://schemas.microsoft.com/office/drawing/2014/main" id="{4EA591D0-4891-DE8F-60BD-49A9D8EEB43D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自研引擎中的游戏画面。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72">
            <a:extLst>
              <a:ext uri="{FF2B5EF4-FFF2-40B4-BE49-F238E27FC236}">
                <a16:creationId xmlns:a16="http://schemas.microsoft.com/office/drawing/2014/main" id="{9C216504-D4C3-B1D8-DF72-70AF9AC521A2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73">
            <a:extLst>
              <a:ext uri="{FF2B5EF4-FFF2-40B4-BE49-F238E27FC236}">
                <a16:creationId xmlns:a16="http://schemas.microsoft.com/office/drawing/2014/main" id="{94CCA44C-DEDD-B72D-F64E-EB7C9C73E48B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八方向精灵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74">
            <a:extLst>
              <a:ext uri="{FF2B5EF4-FFF2-40B4-BE49-F238E27FC236}">
                <a16:creationId xmlns:a16="http://schemas.microsoft.com/office/drawing/2014/main" id="{67518C53-159E-95C1-F681-F92411729A29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用不同朝向的精灵表现复古角色与敌人。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75">
            <a:extLst>
              <a:ext uri="{FF2B5EF4-FFF2-40B4-BE49-F238E27FC236}">
                <a16:creationId xmlns:a16="http://schemas.microsoft.com/office/drawing/2014/main" id="{DF12A7A2-57A8-BE71-9283-5A278E35AD56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76">
            <a:extLst>
              <a:ext uri="{FF2B5EF4-FFF2-40B4-BE49-F238E27FC236}">
                <a16:creationId xmlns:a16="http://schemas.microsoft.com/office/drawing/2014/main" id="{1D23AC48-FB54-1FA3-C786-87515020C58D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本地双人输入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77">
            <a:extLst>
              <a:ext uri="{FF2B5EF4-FFF2-40B4-BE49-F238E27FC236}">
                <a16:creationId xmlns:a16="http://schemas.microsoft.com/office/drawing/2014/main" id="{D142C935-7F88-E349-9160-C01AEF0891E5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组织玩家实例，支持键鼠与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Xbox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手柄。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78">
            <a:extLst>
              <a:ext uri="{FF2B5EF4-FFF2-40B4-BE49-F238E27FC236}">
                <a16:creationId xmlns:a16="http://schemas.microsoft.com/office/drawing/2014/main" id="{1C28385E-E5D4-8621-0C98-BC9C3B3E5F78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79">
            <a:extLst>
              <a:ext uri="{FF2B5EF4-FFF2-40B4-BE49-F238E27FC236}">
                <a16:creationId xmlns:a16="http://schemas.microsoft.com/office/drawing/2014/main" id="{1495B7BC-3F4B-DBB7-C16B-A8ACCCCE5C06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模型与简单 </a:t>
            </a: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IK</a:t>
            </a:r>
          </a:p>
        </p:txBody>
      </p:sp>
      <p:sp>
        <p:nvSpPr>
          <p:cNvPr id="22" name="Text-80">
            <a:extLst>
              <a:ext uri="{FF2B5EF4-FFF2-40B4-BE49-F238E27FC236}">
                <a16:creationId xmlns:a16="http://schemas.microsoft.com/office/drawing/2014/main" id="{2FF11E0F-FD90-7F7E-2FC0-116013E901B2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模型，为蜘蛛敌人实现简单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IK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81">
            <a:extLst>
              <a:ext uri="{FF2B5EF4-FFF2-40B4-BE49-F238E27FC236}">
                <a16:creationId xmlns:a16="http://schemas.microsoft.com/office/drawing/2014/main" id="{5195686D-A6C3-8E94-3B5C-B377D4A34F47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82">
            <a:extLst>
              <a:ext uri="{FF2B5EF4-FFF2-40B4-BE49-F238E27FC236}">
                <a16:creationId xmlns:a16="http://schemas.microsoft.com/office/drawing/2014/main" id="{C702FF42-5EB9-4010-CFE0-916EE617D459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粒子与后处理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83">
            <a:extLst>
              <a:ext uri="{FF2B5EF4-FFF2-40B4-BE49-F238E27FC236}">
                <a16:creationId xmlns:a16="http://schemas.microsoft.com/office/drawing/2014/main" id="{E4AECC77-9966-BFAA-5181-ED00DD1C5050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粒子、体积云和自发光塑造场景。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84">
            <a:extLst>
              <a:ext uri="{FF2B5EF4-FFF2-40B4-BE49-F238E27FC236}">
                <a16:creationId xmlns:a16="http://schemas.microsoft.com/office/drawing/2014/main" id="{0C8BEC1C-4033-C138-B790-1296AE9F08C0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独立完成玩法框架、渲染、输入、敌人行为与场景内容。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85">
            <a:hlinkClick r:id="rId4"/>
            <a:extLst>
              <a:ext uri="{FF2B5EF4-FFF2-40B4-BE49-F238E27FC236}">
                <a16:creationId xmlns:a16="http://schemas.microsoft.com/office/drawing/2014/main" id="{4C7AEA9B-7017-2B78-3537-6E3387B0AF53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zhoushangli.github.io/projects/doomenstein/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50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D3AFF167-40FA-47A7-28D8-8B0272F012BC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F6517637-5A14-5C2E-96CA-AA93920FA5D3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86">
            <a:extLst>
              <a:ext uri="{FF2B5EF4-FFF2-40B4-BE49-F238E27FC236}">
                <a16:creationId xmlns:a16="http://schemas.microsoft.com/office/drawing/2014/main" id="{D8192901-9286-1F11-1648-32E49E6C321A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87">
            <a:extLst>
              <a:ext uri="{FF2B5EF4-FFF2-40B4-BE49-F238E27FC236}">
                <a16:creationId xmlns:a16="http://schemas.microsoft.com/office/drawing/2014/main" id="{6CB6DA4E-D97E-677E-7012-F7857CD62DD9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 Primary Colors / </a:t>
            </a: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三原色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C0ECD01-07B0-E80A-766F-3704143483CB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7DACF05-9461-D5C6-3E8F-BE58BC41E2D3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88">
            <a:extLst>
              <a:ext uri="{FF2B5EF4-FFF2-40B4-BE49-F238E27FC236}">
                <a16:creationId xmlns:a16="http://schemas.microsoft.com/office/drawing/2014/main" id="{C7C8B3C0-7400-52C3-D9E5-42F2D758DED0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89">
            <a:extLst>
              <a:ext uri="{FF2B5EF4-FFF2-40B4-BE49-F238E27FC236}">
                <a16:creationId xmlns:a16="http://schemas.microsoft.com/office/drawing/2014/main" id="{96658D42-3213-3DCD-6EB1-0B6B63EC69CC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 / 10</a:t>
            </a:r>
          </a:p>
        </p:txBody>
      </p:sp>
      <p:sp>
        <p:nvSpPr>
          <p:cNvPr id="10" name="Text-90">
            <a:extLst>
              <a:ext uri="{FF2B5EF4-FFF2-40B4-BE49-F238E27FC236}">
                <a16:creationId xmlns:a16="http://schemas.microsoft.com/office/drawing/2014/main" id="{8DFB9102-9048-89E1-976C-8CF5DBDECBB7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独立开发的平台解谜游戏：通过接触不同颜色改变能力，再运用能力解决关卡中的挑战。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4" descr="the_primary_colors.png">
            <a:extLst>
              <a:ext uri="{FF2B5EF4-FFF2-40B4-BE49-F238E27FC236}">
                <a16:creationId xmlns:a16="http://schemas.microsoft.com/office/drawing/2014/main" id="{1044C0E0-6AD4-A5B9-2F23-18C29E41909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763993"/>
            <a:ext cx="5168900" cy="2904814"/>
          </a:xfrm>
          <a:prstGeom prst="rect">
            <a:avLst/>
          </a:prstGeom>
        </p:spPr>
      </p:pic>
      <p:sp>
        <p:nvSpPr>
          <p:cNvPr id="13" name="Text-91">
            <a:extLst>
              <a:ext uri="{FF2B5EF4-FFF2-40B4-BE49-F238E27FC236}">
                <a16:creationId xmlns:a16="http://schemas.microsoft.com/office/drawing/2014/main" id="{10C58528-1F5B-F856-5B21-810BCC867D0E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游戏中的关卡选择画面。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92">
            <a:extLst>
              <a:ext uri="{FF2B5EF4-FFF2-40B4-BE49-F238E27FC236}">
                <a16:creationId xmlns:a16="http://schemas.microsoft.com/office/drawing/2014/main" id="{4DAF3343-8DE5-B173-A10D-D5EBCC689026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93">
            <a:extLst>
              <a:ext uri="{FF2B5EF4-FFF2-40B4-BE49-F238E27FC236}">
                <a16:creationId xmlns:a16="http://schemas.microsoft.com/office/drawing/2014/main" id="{F8CBDAC2-2253-50AC-FF4A-7D356D8AFE0D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颜色能力机制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94">
            <a:extLst>
              <a:ext uri="{FF2B5EF4-FFF2-40B4-BE49-F238E27FC236}">
                <a16:creationId xmlns:a16="http://schemas.microsoft.com/office/drawing/2014/main" id="{78AA419B-0EBC-6EE1-2209-EACE2B36E271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将颜色切换与移动、场景交互结合。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95">
            <a:extLst>
              <a:ext uri="{FF2B5EF4-FFF2-40B4-BE49-F238E27FC236}">
                <a16:creationId xmlns:a16="http://schemas.microsoft.com/office/drawing/2014/main" id="{115CA4DD-6D27-872E-0B44-A946D41FFD48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96">
            <a:extLst>
              <a:ext uri="{FF2B5EF4-FFF2-40B4-BE49-F238E27FC236}">
                <a16:creationId xmlns:a16="http://schemas.microsoft.com/office/drawing/2014/main" id="{D72E042A-B1AE-F573-EF8E-F1495EA579C7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zh-CN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个手工关卡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97">
            <a:extLst>
              <a:ext uri="{FF2B5EF4-FFF2-40B4-BE49-F238E27FC236}">
                <a16:creationId xmlns:a16="http://schemas.microsoft.com/office/drawing/2014/main" id="{D7AF5A1C-2327-D080-6ABF-8A6497CD2B3E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逐步引入机制，再组织不同规则的组合。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98">
            <a:extLst>
              <a:ext uri="{FF2B5EF4-FFF2-40B4-BE49-F238E27FC236}">
                <a16:creationId xmlns:a16="http://schemas.microsoft.com/office/drawing/2014/main" id="{63BE1193-D45E-CAF3-76B2-8687DD2D7AE8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99">
            <a:extLst>
              <a:ext uri="{FF2B5EF4-FFF2-40B4-BE49-F238E27FC236}">
                <a16:creationId xmlns:a16="http://schemas.microsoft.com/office/drawing/2014/main" id="{D56BFD24-E10E-8690-12F1-5E7A16A552CB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MVC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 </a:t>
            </a: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QFramework</a:t>
            </a:r>
          </a:p>
        </p:txBody>
      </p:sp>
      <p:sp>
        <p:nvSpPr>
          <p:cNvPr id="22" name="Text-100">
            <a:extLst>
              <a:ext uri="{FF2B5EF4-FFF2-40B4-BE49-F238E27FC236}">
                <a16:creationId xmlns:a16="http://schemas.microsoft.com/office/drawing/2014/main" id="{1D0CF0AA-1573-ECC1-69B4-BB7A93B18466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分开组织数据、表现与游戏控制逻辑。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101">
            <a:extLst>
              <a:ext uri="{FF2B5EF4-FFF2-40B4-BE49-F238E27FC236}">
                <a16:creationId xmlns:a16="http://schemas.microsoft.com/office/drawing/2014/main" id="{D5976F29-24F9-9945-B054-0A7F7B5B6FA8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102">
            <a:extLst>
              <a:ext uri="{FF2B5EF4-FFF2-40B4-BE49-F238E27FC236}">
                <a16:creationId xmlns:a16="http://schemas.microsoft.com/office/drawing/2014/main" id="{96ACF3A1-9C51-5106-1269-3DB32DA1B5BD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事件与命令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103">
            <a:extLst>
              <a:ext uri="{FF2B5EF4-FFF2-40B4-BE49-F238E27FC236}">
                <a16:creationId xmlns:a16="http://schemas.microsoft.com/office/drawing/2014/main" id="{030218F9-326D-6209-AA25-738B11D5ED4E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通过事件解耦系统，以命令封装游戏行为。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104">
            <a:extLst>
              <a:ext uri="{FF2B5EF4-FFF2-40B4-BE49-F238E27FC236}">
                <a16:creationId xmlns:a16="http://schemas.microsoft.com/office/drawing/2014/main" id="{1DE95F28-7A1D-C57D-9FB8-D5CF3AA9CA66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独立完成机制、程序架构、表现层和全部 </a:t>
            </a:r>
            <a:r>
              <a:rPr lang="en-US" altLang="zh-CN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个关卡。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105">
            <a:hlinkClick r:id="rId4"/>
            <a:extLst>
              <a:ext uri="{FF2B5EF4-FFF2-40B4-BE49-F238E27FC236}">
                <a16:creationId xmlns:a16="http://schemas.microsoft.com/office/drawing/2014/main" id="{90368A84-1356-A43C-C55C-104A201BF681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zhoushangli.github.io/projects/the-primary-colors/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6368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20315F9B-0D6B-86AB-7EB7-FA5D10B900AC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C3235525-A953-3DAE-4B2D-13F18BA65E2E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106">
            <a:extLst>
              <a:ext uri="{FF2B5EF4-FFF2-40B4-BE49-F238E27FC236}">
                <a16:creationId xmlns:a16="http://schemas.microsoft.com/office/drawing/2014/main" id="{3673B075-51E2-61A5-37A6-6256F938C834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107">
            <a:extLst>
              <a:ext uri="{FF2B5EF4-FFF2-40B4-BE49-F238E27FC236}">
                <a16:creationId xmlns:a16="http://schemas.microsoft.com/office/drawing/2014/main" id="{B0C17FFC-268F-13CC-7D31-264A3431F29E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SpectreX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393E18-EF9A-D0BB-C255-6D8DDA9A5436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63DC0C6-5B7B-F7FF-41AC-16AEFE5824C4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108">
            <a:extLst>
              <a:ext uri="{FF2B5EF4-FFF2-40B4-BE49-F238E27FC236}">
                <a16:creationId xmlns:a16="http://schemas.microsoft.com/office/drawing/2014/main" id="{452B55B2-B1A2-8C3A-15CD-9E6ED7DACA60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109">
            <a:extLst>
              <a:ext uri="{FF2B5EF4-FFF2-40B4-BE49-F238E27FC236}">
                <a16:creationId xmlns:a16="http://schemas.microsoft.com/office/drawing/2014/main" id="{13DBE43B-544D-9502-D654-8D51FC565C36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 / 10</a:t>
            </a:r>
          </a:p>
        </p:txBody>
      </p:sp>
      <p:sp>
        <p:nvSpPr>
          <p:cNvPr id="10" name="Text-110">
            <a:extLst>
              <a:ext uri="{FF2B5EF4-FFF2-40B4-BE49-F238E27FC236}">
                <a16:creationId xmlns:a16="http://schemas.microsoft.com/office/drawing/2014/main" id="{CC0EAFD2-2DED-34ED-E0F8-1BC2DF8BD721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团队使用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Godot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C#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制作的光学解谜游戏，通过反射、分光与合光组织机关和探索。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5" descr="spectrex-cover.jpg">
            <a:extLst>
              <a:ext uri="{FF2B5EF4-FFF2-40B4-BE49-F238E27FC236}">
                <a16:creationId xmlns:a16="http://schemas.microsoft.com/office/drawing/2014/main" id="{2D24A463-9D7F-BEA1-8010-080FB97DFEA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762647"/>
            <a:ext cx="5168900" cy="2907506"/>
          </a:xfrm>
          <a:prstGeom prst="rect">
            <a:avLst/>
          </a:prstGeom>
        </p:spPr>
      </p:pic>
      <p:sp>
        <p:nvSpPr>
          <p:cNvPr id="13" name="Text-111">
            <a:extLst>
              <a:ext uri="{FF2B5EF4-FFF2-40B4-BE49-F238E27FC236}">
                <a16:creationId xmlns:a16="http://schemas.microsoft.com/office/drawing/2014/main" id="{7E09C1DF-A1DD-8C88-3A98-8CC3D6081232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团队项目宣传封面。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112">
            <a:extLst>
              <a:ext uri="{FF2B5EF4-FFF2-40B4-BE49-F238E27FC236}">
                <a16:creationId xmlns:a16="http://schemas.microsoft.com/office/drawing/2014/main" id="{106863E2-D36C-5FDE-B84D-5C4BF44B1AA4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113">
            <a:extLst>
              <a:ext uri="{FF2B5EF4-FFF2-40B4-BE49-F238E27FC236}">
                <a16:creationId xmlns:a16="http://schemas.microsoft.com/office/drawing/2014/main" id="{A77C242D-D65B-DD2C-DA1B-583086064A49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光学解谜规则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114">
            <a:extLst>
              <a:ext uri="{FF2B5EF4-FFF2-40B4-BE49-F238E27FC236}">
                <a16:creationId xmlns:a16="http://schemas.microsoft.com/office/drawing/2014/main" id="{689BB657-3910-3A4F-8468-E3765A383D20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参与玩法简化，将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个光频率减少到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115">
            <a:extLst>
              <a:ext uri="{FF2B5EF4-FFF2-40B4-BE49-F238E27FC236}">
                <a16:creationId xmlns:a16="http://schemas.microsoft.com/office/drawing/2014/main" id="{DE35E93F-2E4A-0EDA-3081-EE1D8059DE4E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116">
            <a:extLst>
              <a:ext uri="{FF2B5EF4-FFF2-40B4-BE49-F238E27FC236}">
                <a16:creationId xmlns:a16="http://schemas.microsoft.com/office/drawing/2014/main" id="{B4F248F2-F757-82EF-BF0C-445B18E479B8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三章关卡设计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117">
            <a:extLst>
              <a:ext uri="{FF2B5EF4-FFF2-40B4-BE49-F238E27FC236}">
                <a16:creationId xmlns:a16="http://schemas.microsoft.com/office/drawing/2014/main" id="{4672E054-2C2A-477C-B6BE-119D89A12653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组织章节行进方式、房间教学与挑战变化。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118">
            <a:extLst>
              <a:ext uri="{FF2B5EF4-FFF2-40B4-BE49-F238E27FC236}">
                <a16:creationId xmlns:a16="http://schemas.microsoft.com/office/drawing/2014/main" id="{F2000EA9-810A-3F31-4362-A9E1B74C35FF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119">
            <a:extLst>
              <a:ext uri="{FF2B5EF4-FFF2-40B4-BE49-F238E27FC236}">
                <a16:creationId xmlns:a16="http://schemas.microsoft.com/office/drawing/2014/main" id="{397D6615-CCB9-4E5D-9B0A-1972527BB719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试玩与迭代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-120">
            <a:extLst>
              <a:ext uri="{FF2B5EF4-FFF2-40B4-BE49-F238E27FC236}">
                <a16:creationId xmlns:a16="http://schemas.microsoft.com/office/drawing/2014/main" id="{B815D5F4-148A-8F8E-6927-1E9ED9E3F310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观察约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小时深度试玩，调整难度与引导。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121">
            <a:extLst>
              <a:ext uri="{FF2B5EF4-FFF2-40B4-BE49-F238E27FC236}">
                <a16:creationId xmlns:a16="http://schemas.microsoft.com/office/drawing/2014/main" id="{CF689983-743C-B483-258A-0B15C0C8CD8B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122">
            <a:extLst>
              <a:ext uri="{FF2B5EF4-FFF2-40B4-BE49-F238E27FC236}">
                <a16:creationId xmlns:a16="http://schemas.microsoft.com/office/drawing/2014/main" id="{A29CDFC2-95D0-2359-5F98-84F51DA0FF3E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多阶段 </a:t>
            </a:r>
            <a:r>
              <a:rPr lang="en-US" altLang="zh-CN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123">
            <a:extLst>
              <a:ext uri="{FF2B5EF4-FFF2-40B4-BE49-F238E27FC236}">
                <a16:creationId xmlns:a16="http://schemas.microsoft.com/office/drawing/2014/main" id="{1641F26E-5998-75E9-77D6-0FB48B0D5B54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SubViewport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Shader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分层处理及合成。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124">
            <a:extLst>
              <a:ext uri="{FF2B5EF4-FFF2-40B4-BE49-F238E27FC236}">
                <a16:creationId xmlns:a16="http://schemas.microsoft.com/office/drawing/2014/main" id="{92B1E10E-AF68-BB41-7CBD-1A8A55426BFB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全部三章的关卡设计，参与玩法简化、程序与技术美术。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125">
            <a:hlinkClick r:id="rId4"/>
            <a:extLst>
              <a:ext uri="{FF2B5EF4-FFF2-40B4-BE49-F238E27FC236}">
                <a16:creationId xmlns:a16="http://schemas.microsoft.com/office/drawing/2014/main" id="{59F13B3C-A9D1-CDFF-770A-7C1436292FF2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zhoushangli.github.io/projects/spectrex/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575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DC998B4B-977E-8627-9715-9E9114EE16B8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50A04C49-8781-8B0A-6F2A-9D902F192E89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126">
            <a:extLst>
              <a:ext uri="{FF2B5EF4-FFF2-40B4-BE49-F238E27FC236}">
                <a16:creationId xmlns:a16="http://schemas.microsoft.com/office/drawing/2014/main" id="{6C24A3FA-AC86-D0A1-1F7B-E014F3CBA22D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127">
            <a:extLst>
              <a:ext uri="{FF2B5EF4-FFF2-40B4-BE49-F238E27FC236}">
                <a16:creationId xmlns:a16="http://schemas.microsoft.com/office/drawing/2014/main" id="{6D1DD71E-11BF-924C-3C3D-1F0516D935CF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Hamsterballin'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AA027F3-5AE0-69F6-FB8E-D7AF121379E4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12B85D6-C49A-9CCF-849A-22ADF1124CFB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128">
            <a:extLst>
              <a:ext uri="{FF2B5EF4-FFF2-40B4-BE49-F238E27FC236}">
                <a16:creationId xmlns:a16="http://schemas.microsoft.com/office/drawing/2014/main" id="{42A63FCE-EC5F-AC6B-8066-3976CCB21143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129">
            <a:extLst>
              <a:ext uri="{FF2B5EF4-FFF2-40B4-BE49-F238E27FC236}">
                <a16:creationId xmlns:a16="http://schemas.microsoft.com/office/drawing/2014/main" id="{7E1D28B4-0830-96FC-808B-37961337F389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 / 10</a:t>
            </a:r>
          </a:p>
        </p:txBody>
      </p:sp>
      <p:sp>
        <p:nvSpPr>
          <p:cNvPr id="10" name="Text-130">
            <a:extLst>
              <a:ext uri="{FF2B5EF4-FFF2-40B4-BE49-F238E27FC236}">
                <a16:creationId xmlns:a16="http://schemas.microsoft.com/office/drawing/2014/main" id="{746C6893-5FFA-8767-4C1E-D0988B7C843A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SMU Guildhall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团队使用 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Unreal Engine 5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制作的竞技街机赛车游戏。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6" descr="hamsterballin.jpg">
            <a:extLst>
              <a:ext uri="{FF2B5EF4-FFF2-40B4-BE49-F238E27FC236}">
                <a16:creationId xmlns:a16="http://schemas.microsoft.com/office/drawing/2014/main" id="{D414D3E6-3AC1-925A-BCE6-A8F1BABD70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3127306"/>
            <a:ext cx="4279900" cy="2000388"/>
          </a:xfrm>
          <a:prstGeom prst="rect">
            <a:avLst/>
          </a:prstGeom>
        </p:spPr>
      </p:pic>
      <p:sp>
        <p:nvSpPr>
          <p:cNvPr id="13" name="Text-131">
            <a:extLst>
              <a:ext uri="{FF2B5EF4-FFF2-40B4-BE49-F238E27FC236}">
                <a16:creationId xmlns:a16="http://schemas.microsoft.com/office/drawing/2014/main" id="{A66C3993-420B-4049-6240-C1222EC99FEB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团队游戏宣传封面。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132">
            <a:extLst>
              <a:ext uri="{FF2B5EF4-FFF2-40B4-BE49-F238E27FC236}">
                <a16:creationId xmlns:a16="http://schemas.microsoft.com/office/drawing/2014/main" id="{804D0EEA-5127-5E4E-5EE0-827826E7BD08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133">
            <a:extLst>
              <a:ext uri="{FF2B5EF4-FFF2-40B4-BE49-F238E27FC236}">
                <a16:creationId xmlns:a16="http://schemas.microsoft.com/office/drawing/2014/main" id="{F09D9FCB-3978-5BD6-EDC1-F4DA37A73D26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PCG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道路生成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134">
            <a:extLst>
              <a:ext uri="{FF2B5EF4-FFF2-40B4-BE49-F238E27FC236}">
                <a16:creationId xmlns:a16="http://schemas.microsoft.com/office/drawing/2014/main" id="{23D942CE-0FD0-A1C7-E07E-65C2825A2943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开发程序化道路生成流程，支持赛道制作。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135">
            <a:extLst>
              <a:ext uri="{FF2B5EF4-FFF2-40B4-BE49-F238E27FC236}">
                <a16:creationId xmlns:a16="http://schemas.microsoft.com/office/drawing/2014/main" id="{62133904-8C33-25A0-376E-612EEAFA3D2D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136">
            <a:extLst>
              <a:ext uri="{FF2B5EF4-FFF2-40B4-BE49-F238E27FC236}">
                <a16:creationId xmlns:a16="http://schemas.microsoft.com/office/drawing/2014/main" id="{6DF9FC7D-DC05-DE12-5F9B-3785E728D146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生成性能优化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137">
            <a:extLst>
              <a:ext uri="{FF2B5EF4-FFF2-40B4-BE49-F238E27FC236}">
                <a16:creationId xmlns:a16="http://schemas.microsoft.com/office/drawing/2014/main" id="{47ADA0C2-16BB-6721-1256-47DB2AA4972A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流程，使其能够用于内容生产。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138">
            <a:extLst>
              <a:ext uri="{FF2B5EF4-FFF2-40B4-BE49-F238E27FC236}">
                <a16:creationId xmlns:a16="http://schemas.microsoft.com/office/drawing/2014/main" id="{CD522BED-9482-4F3D-D718-8096EE34603C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139">
            <a:extLst>
              <a:ext uri="{FF2B5EF4-FFF2-40B4-BE49-F238E27FC236}">
                <a16:creationId xmlns:a16="http://schemas.microsoft.com/office/drawing/2014/main" id="{BD856412-E042-E373-73BC-4F1AF41F28F9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材质与视觉效果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-140">
            <a:extLst>
              <a:ext uri="{FF2B5EF4-FFF2-40B4-BE49-F238E27FC236}">
                <a16:creationId xmlns:a16="http://schemas.microsoft.com/office/drawing/2014/main" id="{12E9C27F-1F3F-522B-7328-80B6E6B17564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与美术合作搭建材质，并提供技术支持。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141">
            <a:extLst>
              <a:ext uri="{FF2B5EF4-FFF2-40B4-BE49-F238E27FC236}">
                <a16:creationId xmlns:a16="http://schemas.microsoft.com/office/drawing/2014/main" id="{45291184-465B-685E-6D7B-65961A0E89CA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142">
            <a:extLst>
              <a:ext uri="{FF2B5EF4-FFF2-40B4-BE49-F238E27FC236}">
                <a16:creationId xmlns:a16="http://schemas.microsoft.com/office/drawing/2014/main" id="{AF302900-DFB8-0EA9-B348-E8BEC0553CDF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部分 </a:t>
            </a: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UI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143">
            <a:extLst>
              <a:ext uri="{FF2B5EF4-FFF2-40B4-BE49-F238E27FC236}">
                <a16:creationId xmlns:a16="http://schemas.microsoft.com/office/drawing/2014/main" id="{B8789832-8869-BEB9-934D-6E858F396796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实现并协助完善选定的界面功能。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144">
            <a:extLst>
              <a:ext uri="{FF2B5EF4-FFF2-40B4-BE49-F238E27FC236}">
                <a16:creationId xmlns:a16="http://schemas.microsoft.com/office/drawing/2014/main" id="{314AAB7C-9304-BB17-FE39-5CD0E97EE68D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游戏程序，主要负责 </a:t>
            </a:r>
            <a:r>
              <a:rPr lang="en-US" altLang="zh-CN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 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道路工具与优化，并参与技术美术和 </a:t>
            </a:r>
            <a:r>
              <a:rPr lang="en-US" altLang="zh-CN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145">
            <a:hlinkClick r:id="rId4"/>
            <a:extLst>
              <a:ext uri="{FF2B5EF4-FFF2-40B4-BE49-F238E27FC236}">
                <a16:creationId xmlns:a16="http://schemas.microsoft.com/office/drawing/2014/main" id="{EE1C642F-07A2-1EEC-EC49-DA8D4A4CBF59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zhoushangli.github.io/projects/hamsterballin/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3995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9372CDF6-6748-E7A2-6F56-298E7456F8E7}"/>
              </a:ext>
            </a:extLst>
          </p:cNvPr>
          <p:cNvSpPr/>
          <p:nvPr/>
        </p:nvSpPr>
        <p:spPr>
          <a:xfrm>
            <a:off x="8890000" y="-431800"/>
            <a:ext cx="1651000" cy="1651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402D8116-A66E-B9E4-CA09-4F2A02D059E4}"/>
              </a:ext>
            </a:extLst>
          </p:cNvPr>
          <p:cNvSpPr/>
          <p:nvPr/>
        </p:nvSpPr>
        <p:spPr>
          <a:xfrm>
            <a:off x="9639300" y="-431800"/>
            <a:ext cx="1651000" cy="1651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146">
            <a:extLst>
              <a:ext uri="{FF2B5EF4-FFF2-40B4-BE49-F238E27FC236}">
                <a16:creationId xmlns:a16="http://schemas.microsoft.com/office/drawing/2014/main" id="{E0064DB3-99FD-4923-3194-FDEFD85ADA6D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教学实践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147">
            <a:extLst>
              <a:ext uri="{FF2B5EF4-FFF2-40B4-BE49-F238E27FC236}">
                <a16:creationId xmlns:a16="http://schemas.microsoft.com/office/drawing/2014/main" id="{C699AA47-C69E-29FD-DDCC-EC234E9F5DA0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PICO-8 </a:t>
            </a: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入门培训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80B78A2-C32E-8249-7037-9279BCC7587F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70182E3-7586-0347-D79D-EBE788FE6023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148">
            <a:extLst>
              <a:ext uri="{FF2B5EF4-FFF2-40B4-BE49-F238E27FC236}">
                <a16:creationId xmlns:a16="http://schemas.microsoft.com/office/drawing/2014/main" id="{240E9764-9607-3704-6C42-CF48BE70356E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149">
            <a:extLst>
              <a:ext uri="{FF2B5EF4-FFF2-40B4-BE49-F238E27FC236}">
                <a16:creationId xmlns:a16="http://schemas.microsoft.com/office/drawing/2014/main" id="{4BFDBE30-8F9A-0C38-948F-2794D63F8F24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 / 10</a:t>
            </a:r>
          </a:p>
        </p:txBody>
      </p:sp>
      <p:sp>
        <p:nvSpPr>
          <p:cNvPr id="10" name="Text-150">
            <a:extLst>
              <a:ext uri="{FF2B5EF4-FFF2-40B4-BE49-F238E27FC236}">
                <a16:creationId xmlns:a16="http://schemas.microsoft.com/office/drawing/2014/main" id="{E3987A9D-AC4B-FA2B-B436-A0AC85EF81A9}"/>
              </a:ext>
            </a:extLst>
          </p:cNvPr>
          <p:cNvSpPr txBox="1"/>
          <p:nvPr/>
        </p:nvSpPr>
        <p:spPr>
          <a:xfrm>
            <a:off x="584200" y="1955799"/>
            <a:ext cx="3175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3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面向游戏社新成员的
社团入门培训</a:t>
            </a:r>
            <a:endParaRPr lang="en-US" sz="23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-151">
            <a:extLst>
              <a:ext uri="{FF2B5EF4-FFF2-40B4-BE49-F238E27FC236}">
                <a16:creationId xmlns:a16="http://schemas.microsoft.com/office/drawing/2014/main" id="{3A7BB264-52B9-34D4-F0F9-DFCCED6848E2}"/>
              </a:ext>
            </a:extLst>
          </p:cNvPr>
          <p:cNvSpPr txBox="1"/>
          <p:nvPr/>
        </p:nvSpPr>
        <p:spPr>
          <a:xfrm>
            <a:off x="584200" y="3060699"/>
            <a:ext cx="31750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我主讲 </a:t>
            </a:r>
            <a:r>
              <a:rPr lang="en-US" altLang="zh-CN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 </a:t>
            </a:r>
            <a:r>
              <a:rPr lang="zh-CN" altLang="en-US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与三次正课，每次约 </a:t>
            </a:r>
            <a:r>
              <a:rPr lang="en-US" altLang="zh-CN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 </a:t>
            </a:r>
            <a:r>
              <a:rPr lang="zh-CN" altLang="en-US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分钟。课堂结合讲解与跟随操作，课后安排答疑与练习。</a:t>
            </a:r>
            <a:endParaRPr lang="en-US" sz="16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-152">
            <a:extLst>
              <a:ext uri="{FF2B5EF4-FFF2-40B4-BE49-F238E27FC236}">
                <a16:creationId xmlns:a16="http://schemas.microsoft.com/office/drawing/2014/main" id="{1823C61B-41F2-D255-134A-288180175FC7}"/>
              </a:ext>
            </a:extLst>
          </p:cNvPr>
          <p:cNvSpPr txBox="1"/>
          <p:nvPr/>
        </p:nvSpPr>
        <p:spPr>
          <a:xfrm>
            <a:off x="584200" y="4648199"/>
            <a:ext cx="3175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000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配套练习：打砖块</a:t>
            </a:r>
            <a:endParaRPr lang="en-US" sz="2000">
              <a:solidFill>
                <a:srgbClr val="D2B38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-153">
            <a:extLst>
              <a:ext uri="{FF2B5EF4-FFF2-40B4-BE49-F238E27FC236}">
                <a16:creationId xmlns:a16="http://schemas.microsoft.com/office/drawing/2014/main" id="{577FBA0F-5BA2-8555-552B-9A2C646BD1A0}"/>
              </a:ext>
            </a:extLst>
          </p:cNvPr>
          <p:cNvSpPr txBox="1"/>
          <p:nvPr/>
        </p:nvSpPr>
        <p:spPr>
          <a:xfrm>
            <a:off x="584200" y="5219699"/>
            <a:ext cx="3175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以小球移动、边缘碰撞和声音为练习，逐步完善游戏。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154">
            <a:extLst>
              <a:ext uri="{FF2B5EF4-FFF2-40B4-BE49-F238E27FC236}">
                <a16:creationId xmlns:a16="http://schemas.microsoft.com/office/drawing/2014/main" id="{96CDB141-B410-2F9B-C4AA-6541654D03A5}"/>
              </a:ext>
            </a:extLst>
          </p:cNvPr>
          <p:cNvSpPr txBox="1"/>
          <p:nvPr/>
        </p:nvSpPr>
        <p:spPr>
          <a:xfrm>
            <a:off x="584200" y="6210300"/>
            <a:ext cx="3365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助教与其他分享者也参与支持。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-155">
            <a:extLst>
              <a:ext uri="{FF2B5EF4-FFF2-40B4-BE49-F238E27FC236}">
                <a16:creationId xmlns:a16="http://schemas.microsoft.com/office/drawing/2014/main" id="{3B72623B-2DC5-D902-6F91-1464D9A8A0CF}"/>
              </a:ext>
            </a:extLst>
          </p:cNvPr>
          <p:cNvSpPr txBox="1"/>
          <p:nvPr/>
        </p:nvSpPr>
        <p:spPr>
          <a:xfrm>
            <a:off x="4191000" y="1955799"/>
            <a:ext cx="73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Intro</a:t>
            </a:r>
          </a:p>
        </p:txBody>
      </p:sp>
      <p:sp>
        <p:nvSpPr>
          <p:cNvPr id="16" name="Text-156">
            <a:extLst>
              <a:ext uri="{FF2B5EF4-FFF2-40B4-BE49-F238E27FC236}">
                <a16:creationId xmlns:a16="http://schemas.microsoft.com/office/drawing/2014/main" id="{9A464CF4-D0CB-529F-32E6-89B0FE17D3C1}"/>
              </a:ext>
            </a:extLst>
          </p:cNvPr>
          <p:cNvSpPr txBox="1"/>
          <p:nvPr/>
        </p:nvSpPr>
        <p:spPr>
          <a:xfrm>
            <a:off x="5054600" y="1955799"/>
            <a:ext cx="5054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9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认识工具与制作流程</a:t>
            </a:r>
            <a:endParaRPr lang="en-US" sz="19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-157">
            <a:extLst>
              <a:ext uri="{FF2B5EF4-FFF2-40B4-BE49-F238E27FC236}">
                <a16:creationId xmlns:a16="http://schemas.microsoft.com/office/drawing/2014/main" id="{4E5D3789-14DD-48E4-CA63-71B4782D6FDD}"/>
              </a:ext>
            </a:extLst>
          </p:cNvPr>
          <p:cNvSpPr txBox="1"/>
          <p:nvPr/>
        </p:nvSpPr>
        <p:spPr>
          <a:xfrm>
            <a:off x="5054600" y="2362199"/>
            <a:ext cx="5054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保存、运行项目，了解课程与 </a:t>
            </a:r>
            <a:r>
              <a:rPr 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Gamejam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安排。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593518D-EB59-8991-DAF2-7CD3390EAFE3}"/>
              </a:ext>
            </a:extLst>
          </p:cNvPr>
          <p:cNvCxnSpPr/>
          <p:nvPr/>
        </p:nvCxnSpPr>
        <p:spPr>
          <a:xfrm>
            <a:off x="4191000" y="2895600"/>
            <a:ext cx="59182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-158">
            <a:extLst>
              <a:ext uri="{FF2B5EF4-FFF2-40B4-BE49-F238E27FC236}">
                <a16:creationId xmlns:a16="http://schemas.microsoft.com/office/drawing/2014/main" id="{DB8B88B2-E06C-36D3-9FF3-96AE1496842B}"/>
              </a:ext>
            </a:extLst>
          </p:cNvPr>
          <p:cNvSpPr txBox="1"/>
          <p:nvPr/>
        </p:nvSpPr>
        <p:spPr>
          <a:xfrm>
            <a:off x="4191000" y="3022599"/>
            <a:ext cx="73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L01</a:t>
            </a:r>
          </a:p>
        </p:txBody>
      </p:sp>
      <p:sp>
        <p:nvSpPr>
          <p:cNvPr id="20" name="Text-159">
            <a:extLst>
              <a:ext uri="{FF2B5EF4-FFF2-40B4-BE49-F238E27FC236}">
                <a16:creationId xmlns:a16="http://schemas.microsoft.com/office/drawing/2014/main" id="{750DF5AB-FC4C-2858-D10D-1DEB2C22E67A}"/>
              </a:ext>
            </a:extLst>
          </p:cNvPr>
          <p:cNvSpPr txBox="1"/>
          <p:nvPr/>
        </p:nvSpPr>
        <p:spPr>
          <a:xfrm>
            <a:off x="5054600" y="3022599"/>
            <a:ext cx="5054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9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绘制、输入与角色移动</a:t>
            </a:r>
            <a:endParaRPr lang="en-US" sz="19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-160">
            <a:extLst>
              <a:ext uri="{FF2B5EF4-FFF2-40B4-BE49-F238E27FC236}">
                <a16:creationId xmlns:a16="http://schemas.microsoft.com/office/drawing/2014/main" id="{2843D2A1-CE5A-CCD8-AFD2-1B052382A009}"/>
              </a:ext>
            </a:extLst>
          </p:cNvPr>
          <p:cNvSpPr txBox="1"/>
          <p:nvPr/>
        </p:nvSpPr>
        <p:spPr>
          <a:xfrm>
            <a:off x="5054600" y="3428999"/>
            <a:ext cx="5054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连接变量、按钮输入与角色在画面中的移动。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71D5375-5229-EEC5-0D1A-8DB020D543E0}"/>
              </a:ext>
            </a:extLst>
          </p:cNvPr>
          <p:cNvCxnSpPr/>
          <p:nvPr/>
        </p:nvCxnSpPr>
        <p:spPr>
          <a:xfrm>
            <a:off x="4191000" y="3962400"/>
            <a:ext cx="59182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-161">
            <a:extLst>
              <a:ext uri="{FF2B5EF4-FFF2-40B4-BE49-F238E27FC236}">
                <a16:creationId xmlns:a16="http://schemas.microsoft.com/office/drawing/2014/main" id="{33414C67-7F0B-0226-AE3B-C9274315AD79}"/>
              </a:ext>
            </a:extLst>
          </p:cNvPr>
          <p:cNvSpPr txBox="1"/>
          <p:nvPr/>
        </p:nvSpPr>
        <p:spPr>
          <a:xfrm>
            <a:off x="4191000" y="4089399"/>
            <a:ext cx="73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L02</a:t>
            </a:r>
          </a:p>
        </p:txBody>
      </p:sp>
      <p:sp>
        <p:nvSpPr>
          <p:cNvPr id="24" name="Text-162">
            <a:extLst>
              <a:ext uri="{FF2B5EF4-FFF2-40B4-BE49-F238E27FC236}">
                <a16:creationId xmlns:a16="http://schemas.microsoft.com/office/drawing/2014/main" id="{CB88ACC5-6335-FF74-9E63-FE3D40B08B06}"/>
              </a:ext>
            </a:extLst>
          </p:cNvPr>
          <p:cNvSpPr txBox="1"/>
          <p:nvPr/>
        </p:nvSpPr>
        <p:spPr>
          <a:xfrm>
            <a:off x="5054600" y="4089399"/>
            <a:ext cx="5054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9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调试、移动函数与动画</a:t>
            </a:r>
            <a:endParaRPr lang="en-US" sz="19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163">
            <a:extLst>
              <a:ext uri="{FF2B5EF4-FFF2-40B4-BE49-F238E27FC236}">
                <a16:creationId xmlns:a16="http://schemas.microsoft.com/office/drawing/2014/main" id="{048F4A7A-89F9-FA54-5FD7-7A02940EF665}"/>
              </a:ext>
            </a:extLst>
          </p:cNvPr>
          <p:cNvSpPr txBox="1"/>
          <p:nvPr/>
        </p:nvSpPr>
        <p:spPr>
          <a:xfrm>
            <a:off x="5054600" y="4495799"/>
            <a:ext cx="5054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练习移动函数与动画，通过调试定位问题。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683C10E-D4CD-47A3-0F1A-7C90D5E648B0}"/>
              </a:ext>
            </a:extLst>
          </p:cNvPr>
          <p:cNvCxnSpPr/>
          <p:nvPr/>
        </p:nvCxnSpPr>
        <p:spPr>
          <a:xfrm>
            <a:off x="4191000" y="5029200"/>
            <a:ext cx="59182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-164">
            <a:extLst>
              <a:ext uri="{FF2B5EF4-FFF2-40B4-BE49-F238E27FC236}">
                <a16:creationId xmlns:a16="http://schemas.microsoft.com/office/drawing/2014/main" id="{1C876F43-6B9B-A11C-0ACE-FBE118F14A8A}"/>
              </a:ext>
            </a:extLst>
          </p:cNvPr>
          <p:cNvSpPr txBox="1"/>
          <p:nvPr/>
        </p:nvSpPr>
        <p:spPr>
          <a:xfrm>
            <a:off x="4191000" y="5156199"/>
            <a:ext cx="73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L03</a:t>
            </a:r>
          </a:p>
        </p:txBody>
      </p:sp>
      <p:sp>
        <p:nvSpPr>
          <p:cNvPr id="28" name="Text-165">
            <a:extLst>
              <a:ext uri="{FF2B5EF4-FFF2-40B4-BE49-F238E27FC236}">
                <a16:creationId xmlns:a16="http://schemas.microsoft.com/office/drawing/2014/main" id="{C643E1F7-28E9-E019-9DD1-9861BEB687E6}"/>
              </a:ext>
            </a:extLst>
          </p:cNvPr>
          <p:cNvSpPr txBox="1"/>
          <p:nvPr/>
        </p:nvSpPr>
        <p:spPr>
          <a:xfrm>
            <a:off x="5054600" y="5156199"/>
            <a:ext cx="5054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9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对象、地图与关卡</a:t>
            </a:r>
            <a:endParaRPr lang="en-US" sz="19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Text-166">
            <a:extLst>
              <a:ext uri="{FF2B5EF4-FFF2-40B4-BE49-F238E27FC236}">
                <a16:creationId xmlns:a16="http://schemas.microsoft.com/office/drawing/2014/main" id="{D3808F76-5743-BFF5-D7AA-046867B4A0E4}"/>
              </a:ext>
            </a:extLst>
          </p:cNvPr>
          <p:cNvSpPr txBox="1"/>
          <p:nvPr/>
        </p:nvSpPr>
        <p:spPr>
          <a:xfrm>
            <a:off x="5054600" y="5562599"/>
            <a:ext cx="5054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使用对象与地图组织内容，制作游戏关卡。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BB70A43-5EAB-40D3-08DA-AACA78CBB269}"/>
              </a:ext>
            </a:extLst>
          </p:cNvPr>
          <p:cNvCxnSpPr/>
          <p:nvPr/>
        </p:nvCxnSpPr>
        <p:spPr>
          <a:xfrm>
            <a:off x="4191000" y="6096000"/>
            <a:ext cx="59182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-167">
            <a:hlinkClick r:id="rId3"/>
            <a:extLst>
              <a:ext uri="{FF2B5EF4-FFF2-40B4-BE49-F238E27FC236}">
                <a16:creationId xmlns:a16="http://schemas.microsoft.com/office/drawing/2014/main" id="{37C8FDB2-549B-7EFE-FFAD-B11676149765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培训与录制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zhoushangli.github.io/teaching/pico8-2026/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321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E802E665-E1C8-BBF8-03EE-F594C6150D03}"/>
              </a:ext>
            </a:extLst>
          </p:cNvPr>
          <p:cNvSpPr/>
          <p:nvPr/>
        </p:nvSpPr>
        <p:spPr>
          <a:xfrm>
            <a:off x="8890000" y="-431800"/>
            <a:ext cx="1651000" cy="1651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4EA87121-955F-414F-AF9E-B2E0AA023A56}"/>
              </a:ext>
            </a:extLst>
          </p:cNvPr>
          <p:cNvSpPr/>
          <p:nvPr/>
        </p:nvSpPr>
        <p:spPr>
          <a:xfrm>
            <a:off x="9639300" y="-431800"/>
            <a:ext cx="1651000" cy="1651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168">
            <a:extLst>
              <a:ext uri="{FF2B5EF4-FFF2-40B4-BE49-F238E27FC236}">
                <a16:creationId xmlns:a16="http://schemas.microsoft.com/office/drawing/2014/main" id="{BBEA9762-0B8D-667F-E51F-6F3812F44D65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教学实践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169">
            <a:extLst>
              <a:ext uri="{FF2B5EF4-FFF2-40B4-BE49-F238E27FC236}">
                <a16:creationId xmlns:a16="http://schemas.microsoft.com/office/drawing/2014/main" id="{13F2F735-A75F-1D81-0B17-0352090A857C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zh-CN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PICO-8 </a:t>
            </a: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培训后的学生作品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C6A7379-A242-8E3A-D304-C5BEE8880113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BFC64F-65CB-6349-5AD5-26A9F241D03F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170">
            <a:extLst>
              <a:ext uri="{FF2B5EF4-FFF2-40B4-BE49-F238E27FC236}">
                <a16:creationId xmlns:a16="http://schemas.microsoft.com/office/drawing/2014/main" id="{5BCE2D1A-0438-E069-525C-51194B467475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171">
            <a:extLst>
              <a:ext uri="{FF2B5EF4-FFF2-40B4-BE49-F238E27FC236}">
                <a16:creationId xmlns:a16="http://schemas.microsoft.com/office/drawing/2014/main" id="{B0E759F0-8720-A1BB-AB37-375660D46A68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/ 10</a:t>
            </a:r>
          </a:p>
        </p:txBody>
      </p:sp>
      <p:sp>
        <p:nvSpPr>
          <p:cNvPr id="10" name="Text-172">
            <a:extLst>
              <a:ext uri="{FF2B5EF4-FFF2-40B4-BE49-F238E27FC236}">
                <a16:creationId xmlns:a16="http://schemas.microsoft.com/office/drawing/2014/main" id="{1BAED5F6-C4F7-C330-C483-9FAF39B358D9}"/>
              </a:ext>
            </a:extLst>
          </p:cNvPr>
          <p:cNvSpPr txBox="1"/>
          <p:nvPr/>
        </p:nvSpPr>
        <p:spPr>
          <a:xfrm>
            <a:off x="584200" y="1879599"/>
            <a:ext cx="9525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培训结束后，社团举办了一周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Gamejam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。以下作品归各自创作者。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7" descr="chess.p8.png">
            <a:extLst>
              <a:ext uri="{FF2B5EF4-FFF2-40B4-BE49-F238E27FC236}">
                <a16:creationId xmlns:a16="http://schemas.microsoft.com/office/drawing/2014/main" id="{A62938A9-CF12-98F2-E618-380D85493B1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" y="2235200"/>
            <a:ext cx="812800" cy="1041400"/>
          </a:xfrm>
          <a:prstGeom prst="rect">
            <a:avLst/>
          </a:prstGeom>
        </p:spPr>
      </p:pic>
      <p:sp>
        <p:nvSpPr>
          <p:cNvPr id="13" name="Text-173">
            <a:extLst>
              <a:ext uri="{FF2B5EF4-FFF2-40B4-BE49-F238E27FC236}">
                <a16:creationId xmlns:a16="http://schemas.microsoft.com/office/drawing/2014/main" id="{E0490BA6-242D-70B9-403A-353ADE333EAB}"/>
              </a:ext>
            </a:extLst>
          </p:cNvPr>
          <p:cNvSpPr txBox="1"/>
          <p:nvPr/>
        </p:nvSpPr>
        <p:spPr>
          <a:xfrm>
            <a:off x="647700" y="3352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Chess</a:t>
            </a:r>
          </a:p>
        </p:txBody>
      </p:sp>
      <p:pic>
        <p:nvPicPr>
          <p:cNvPr id="15" name="Image-8" descr="craft-the-possibility.p8.png">
            <a:extLst>
              <a:ext uri="{FF2B5EF4-FFF2-40B4-BE49-F238E27FC236}">
                <a16:creationId xmlns:a16="http://schemas.microsoft.com/office/drawing/2014/main" id="{CE7CA1E3-B2A9-9AEE-1D4E-87D08657C27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00" y="2235200"/>
            <a:ext cx="812800" cy="1041400"/>
          </a:xfrm>
          <a:prstGeom prst="rect">
            <a:avLst/>
          </a:prstGeom>
        </p:spPr>
      </p:pic>
      <p:sp>
        <p:nvSpPr>
          <p:cNvPr id="16" name="Text-174">
            <a:extLst>
              <a:ext uri="{FF2B5EF4-FFF2-40B4-BE49-F238E27FC236}">
                <a16:creationId xmlns:a16="http://schemas.microsoft.com/office/drawing/2014/main" id="{2BDEDBF4-8222-9CBD-86C0-4B62C606F777}"/>
              </a:ext>
            </a:extLst>
          </p:cNvPr>
          <p:cNvSpPr txBox="1"/>
          <p:nvPr/>
        </p:nvSpPr>
        <p:spPr>
          <a:xfrm>
            <a:off x="2552700" y="3352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CraftThePossibility</a:t>
            </a:r>
          </a:p>
        </p:txBody>
      </p:sp>
      <p:pic>
        <p:nvPicPr>
          <p:cNvPr id="18" name="Image-9" descr="flipside.p8.png">
            <a:extLst>
              <a:ext uri="{FF2B5EF4-FFF2-40B4-BE49-F238E27FC236}">
                <a16:creationId xmlns:a16="http://schemas.microsoft.com/office/drawing/2014/main" id="{D3088C7D-77CC-79C3-1DCC-63F3075ED64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0" y="2235200"/>
            <a:ext cx="812800" cy="1041400"/>
          </a:xfrm>
          <a:prstGeom prst="rect">
            <a:avLst/>
          </a:prstGeom>
        </p:spPr>
      </p:pic>
      <p:sp>
        <p:nvSpPr>
          <p:cNvPr id="19" name="Text-175">
            <a:extLst>
              <a:ext uri="{FF2B5EF4-FFF2-40B4-BE49-F238E27FC236}">
                <a16:creationId xmlns:a16="http://schemas.microsoft.com/office/drawing/2014/main" id="{8AE9D66E-F063-BFA0-1F31-19C221675562}"/>
              </a:ext>
            </a:extLst>
          </p:cNvPr>
          <p:cNvSpPr txBox="1"/>
          <p:nvPr/>
        </p:nvSpPr>
        <p:spPr>
          <a:xfrm>
            <a:off x="4457700" y="3352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Flipside</a:t>
            </a:r>
          </a:p>
        </p:txBody>
      </p:sp>
      <p:pic>
        <p:nvPicPr>
          <p:cNvPr id="21" name="Image-10" descr="flip-the-grid.p8.png">
            <a:extLst>
              <a:ext uri="{FF2B5EF4-FFF2-40B4-BE49-F238E27FC236}">
                <a16:creationId xmlns:a16="http://schemas.microsoft.com/office/drawing/2014/main" id="{19CEB8A8-86A4-2EB0-F367-545C1882919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300" y="2235200"/>
            <a:ext cx="812800" cy="1041400"/>
          </a:xfrm>
          <a:prstGeom prst="rect">
            <a:avLst/>
          </a:prstGeom>
        </p:spPr>
      </p:pic>
      <p:sp>
        <p:nvSpPr>
          <p:cNvPr id="22" name="Text-176">
            <a:extLst>
              <a:ext uri="{FF2B5EF4-FFF2-40B4-BE49-F238E27FC236}">
                <a16:creationId xmlns:a16="http://schemas.microsoft.com/office/drawing/2014/main" id="{B3BC07E5-6085-87F0-D683-4806DDFAD721}"/>
              </a:ext>
            </a:extLst>
          </p:cNvPr>
          <p:cNvSpPr txBox="1"/>
          <p:nvPr/>
        </p:nvSpPr>
        <p:spPr>
          <a:xfrm>
            <a:off x="6362700" y="3352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Flip the Grid</a:t>
            </a:r>
          </a:p>
        </p:txBody>
      </p:sp>
      <p:pic>
        <p:nvPicPr>
          <p:cNvPr id="24" name="Image-11" descr="lost.p8.png">
            <a:extLst>
              <a:ext uri="{FF2B5EF4-FFF2-40B4-BE49-F238E27FC236}">
                <a16:creationId xmlns:a16="http://schemas.microsoft.com/office/drawing/2014/main" id="{E7211118-BF47-BA61-E619-3B8C53188EB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300" y="2235200"/>
            <a:ext cx="812800" cy="1041400"/>
          </a:xfrm>
          <a:prstGeom prst="rect">
            <a:avLst/>
          </a:prstGeom>
        </p:spPr>
      </p:pic>
      <p:sp>
        <p:nvSpPr>
          <p:cNvPr id="25" name="Text-177">
            <a:extLst>
              <a:ext uri="{FF2B5EF4-FFF2-40B4-BE49-F238E27FC236}">
                <a16:creationId xmlns:a16="http://schemas.microsoft.com/office/drawing/2014/main" id="{E13B501F-080D-01CE-44BB-7B972D83340C}"/>
              </a:ext>
            </a:extLst>
          </p:cNvPr>
          <p:cNvSpPr txBox="1"/>
          <p:nvPr/>
        </p:nvSpPr>
        <p:spPr>
          <a:xfrm>
            <a:off x="8267700" y="3352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Lost</a:t>
            </a:r>
          </a:p>
        </p:txBody>
      </p:sp>
      <p:pic>
        <p:nvPicPr>
          <p:cNvPr id="27" name="Image-12" descr="mirrip.png">
            <a:extLst>
              <a:ext uri="{FF2B5EF4-FFF2-40B4-BE49-F238E27FC236}">
                <a16:creationId xmlns:a16="http://schemas.microsoft.com/office/drawing/2014/main" id="{DBA18DD8-DFF5-05D5-0219-B9E962E06BF4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" y="3632200"/>
            <a:ext cx="812800" cy="1041400"/>
          </a:xfrm>
          <a:prstGeom prst="rect">
            <a:avLst/>
          </a:prstGeom>
        </p:spPr>
      </p:pic>
      <p:sp>
        <p:nvSpPr>
          <p:cNvPr id="28" name="Text-178">
            <a:extLst>
              <a:ext uri="{FF2B5EF4-FFF2-40B4-BE49-F238E27FC236}">
                <a16:creationId xmlns:a16="http://schemas.microsoft.com/office/drawing/2014/main" id="{DC81A15B-7B58-8B26-4654-C51E039DAFCC}"/>
              </a:ext>
            </a:extLst>
          </p:cNvPr>
          <p:cNvSpPr txBox="1"/>
          <p:nvPr/>
        </p:nvSpPr>
        <p:spPr>
          <a:xfrm>
            <a:off x="647700" y="4749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MIRRIP</a:t>
            </a:r>
          </a:p>
        </p:txBody>
      </p:sp>
      <p:pic>
        <p:nvPicPr>
          <p:cNvPr id="30" name="Image-13" descr="negative.p8.png">
            <a:extLst>
              <a:ext uri="{FF2B5EF4-FFF2-40B4-BE49-F238E27FC236}">
                <a16:creationId xmlns:a16="http://schemas.microsoft.com/office/drawing/2014/main" id="{A44C9F83-ADCB-9659-3806-CE996651F1D1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00" y="3632200"/>
            <a:ext cx="812800" cy="1041400"/>
          </a:xfrm>
          <a:prstGeom prst="rect">
            <a:avLst/>
          </a:prstGeom>
        </p:spPr>
      </p:pic>
      <p:sp>
        <p:nvSpPr>
          <p:cNvPr id="31" name="Text-179">
            <a:extLst>
              <a:ext uri="{FF2B5EF4-FFF2-40B4-BE49-F238E27FC236}">
                <a16:creationId xmlns:a16="http://schemas.microsoft.com/office/drawing/2014/main" id="{91E6DFCC-AE6F-3AD6-C8EA-D895E46F0DD4}"/>
              </a:ext>
            </a:extLst>
          </p:cNvPr>
          <p:cNvSpPr txBox="1"/>
          <p:nvPr/>
        </p:nvSpPr>
        <p:spPr>
          <a:xfrm>
            <a:off x="2552700" y="4749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Negative</a:t>
            </a:r>
          </a:p>
        </p:txBody>
      </p:sp>
      <p:pic>
        <p:nvPicPr>
          <p:cNvPr id="33" name="Image-14" descr="night-shift.p8.png">
            <a:extLst>
              <a:ext uri="{FF2B5EF4-FFF2-40B4-BE49-F238E27FC236}">
                <a16:creationId xmlns:a16="http://schemas.microsoft.com/office/drawing/2014/main" id="{C22041A5-4DF7-31B6-7DF2-09ADFB9BC246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0" y="3632200"/>
            <a:ext cx="812800" cy="1041400"/>
          </a:xfrm>
          <a:prstGeom prst="rect">
            <a:avLst/>
          </a:prstGeom>
        </p:spPr>
      </p:pic>
      <p:sp>
        <p:nvSpPr>
          <p:cNvPr id="34" name="Text-180">
            <a:extLst>
              <a:ext uri="{FF2B5EF4-FFF2-40B4-BE49-F238E27FC236}">
                <a16:creationId xmlns:a16="http://schemas.microsoft.com/office/drawing/2014/main" id="{E8FCCC70-D6D1-EBB2-B2EF-CD7A7A62D235}"/>
              </a:ext>
            </a:extLst>
          </p:cNvPr>
          <p:cNvSpPr txBox="1"/>
          <p:nvPr/>
        </p:nvSpPr>
        <p:spPr>
          <a:xfrm>
            <a:off x="4457700" y="4749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Night Shift</a:t>
            </a:r>
          </a:p>
        </p:txBody>
      </p:sp>
      <p:pic>
        <p:nvPicPr>
          <p:cNvPr id="36" name="Image-15" descr="pixel-workshop.png">
            <a:extLst>
              <a:ext uri="{FF2B5EF4-FFF2-40B4-BE49-F238E27FC236}">
                <a16:creationId xmlns:a16="http://schemas.microsoft.com/office/drawing/2014/main" id="{86B5DD95-F682-1895-7154-D8E481B238A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300" y="3632200"/>
            <a:ext cx="812800" cy="1041400"/>
          </a:xfrm>
          <a:prstGeom prst="rect">
            <a:avLst/>
          </a:prstGeom>
        </p:spPr>
      </p:pic>
      <p:sp>
        <p:nvSpPr>
          <p:cNvPr id="37" name="Text-181">
            <a:extLst>
              <a:ext uri="{FF2B5EF4-FFF2-40B4-BE49-F238E27FC236}">
                <a16:creationId xmlns:a16="http://schemas.microsoft.com/office/drawing/2014/main" id="{3ECA497F-3A7B-88A1-FAED-EBEEED421D3E}"/>
              </a:ext>
            </a:extLst>
          </p:cNvPr>
          <p:cNvSpPr txBox="1"/>
          <p:nvPr/>
        </p:nvSpPr>
        <p:spPr>
          <a:xfrm>
            <a:off x="6362700" y="4749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Pixel Workshop</a:t>
            </a:r>
          </a:p>
        </p:txBody>
      </p:sp>
      <p:pic>
        <p:nvPicPr>
          <p:cNvPr id="39" name="Image-16" descr="reverse-realm.p8.png">
            <a:extLst>
              <a:ext uri="{FF2B5EF4-FFF2-40B4-BE49-F238E27FC236}">
                <a16:creationId xmlns:a16="http://schemas.microsoft.com/office/drawing/2014/main" id="{C274AFD1-C01B-2C29-553F-7485F711DC65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300" y="3632200"/>
            <a:ext cx="812800" cy="1041400"/>
          </a:xfrm>
          <a:prstGeom prst="rect">
            <a:avLst/>
          </a:prstGeom>
        </p:spPr>
      </p:pic>
      <p:sp>
        <p:nvSpPr>
          <p:cNvPr id="40" name="Text-182">
            <a:extLst>
              <a:ext uri="{FF2B5EF4-FFF2-40B4-BE49-F238E27FC236}">
                <a16:creationId xmlns:a16="http://schemas.microsoft.com/office/drawing/2014/main" id="{4252F93C-5A24-ABC8-921F-357AACCAC437}"/>
              </a:ext>
            </a:extLst>
          </p:cNvPr>
          <p:cNvSpPr txBox="1"/>
          <p:nvPr/>
        </p:nvSpPr>
        <p:spPr>
          <a:xfrm>
            <a:off x="8267700" y="4749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Reverse Realm</a:t>
            </a:r>
          </a:p>
        </p:txBody>
      </p:sp>
      <p:pic>
        <p:nvPicPr>
          <p:cNvPr id="42" name="Image-17" descr="tenet.p8.png">
            <a:extLst>
              <a:ext uri="{FF2B5EF4-FFF2-40B4-BE49-F238E27FC236}">
                <a16:creationId xmlns:a16="http://schemas.microsoft.com/office/drawing/2014/main" id="{3DB3CC47-FC37-3C9F-E6ED-C179741B3031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" y="5029200"/>
            <a:ext cx="812800" cy="1041400"/>
          </a:xfrm>
          <a:prstGeom prst="rect">
            <a:avLst/>
          </a:prstGeom>
        </p:spPr>
      </p:pic>
      <p:sp>
        <p:nvSpPr>
          <p:cNvPr id="43" name="Text-183">
            <a:extLst>
              <a:ext uri="{FF2B5EF4-FFF2-40B4-BE49-F238E27FC236}">
                <a16:creationId xmlns:a16="http://schemas.microsoft.com/office/drawing/2014/main" id="{A26C7AB3-5DED-D1E8-7F09-FAE11600971C}"/>
              </a:ext>
            </a:extLst>
          </p:cNvPr>
          <p:cNvSpPr txBox="1"/>
          <p:nvPr/>
        </p:nvSpPr>
        <p:spPr>
          <a:xfrm>
            <a:off x="647700" y="6146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TENET</a:t>
            </a:r>
          </a:p>
        </p:txBody>
      </p:sp>
      <p:pic>
        <p:nvPicPr>
          <p:cNvPr id="45" name="Image-18" descr="the-tide.p8.png">
            <a:extLst>
              <a:ext uri="{FF2B5EF4-FFF2-40B4-BE49-F238E27FC236}">
                <a16:creationId xmlns:a16="http://schemas.microsoft.com/office/drawing/2014/main" id="{41B48557-5ABB-D5D8-A84B-A68616047E2E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00" y="5029200"/>
            <a:ext cx="812800" cy="1041400"/>
          </a:xfrm>
          <a:prstGeom prst="rect">
            <a:avLst/>
          </a:prstGeom>
        </p:spPr>
      </p:pic>
      <p:sp>
        <p:nvSpPr>
          <p:cNvPr id="46" name="Text-184">
            <a:extLst>
              <a:ext uri="{FF2B5EF4-FFF2-40B4-BE49-F238E27FC236}">
                <a16:creationId xmlns:a16="http://schemas.microsoft.com/office/drawing/2014/main" id="{8A4A0A06-7706-5CD3-54C5-C602B5B3695F}"/>
              </a:ext>
            </a:extLst>
          </p:cNvPr>
          <p:cNvSpPr txBox="1"/>
          <p:nvPr/>
        </p:nvSpPr>
        <p:spPr>
          <a:xfrm>
            <a:off x="2552700" y="6146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Tide</a:t>
            </a:r>
          </a:p>
        </p:txBody>
      </p:sp>
      <p:pic>
        <p:nvPicPr>
          <p:cNvPr id="48" name="Image-19" descr="the-cliffside.p8.png">
            <a:extLst>
              <a:ext uri="{FF2B5EF4-FFF2-40B4-BE49-F238E27FC236}">
                <a16:creationId xmlns:a16="http://schemas.microsoft.com/office/drawing/2014/main" id="{E94AE854-7E71-0F50-1C6C-61A5E87FA866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0" y="5029200"/>
            <a:ext cx="812800" cy="1041400"/>
          </a:xfrm>
          <a:prstGeom prst="rect">
            <a:avLst/>
          </a:prstGeom>
        </p:spPr>
      </p:pic>
      <p:sp>
        <p:nvSpPr>
          <p:cNvPr id="49" name="Text-185">
            <a:extLst>
              <a:ext uri="{FF2B5EF4-FFF2-40B4-BE49-F238E27FC236}">
                <a16:creationId xmlns:a16="http://schemas.microsoft.com/office/drawing/2014/main" id="{9354D6B4-8548-9240-FC90-DA8A368C8636}"/>
              </a:ext>
            </a:extLst>
          </p:cNvPr>
          <p:cNvSpPr txBox="1"/>
          <p:nvPr/>
        </p:nvSpPr>
        <p:spPr>
          <a:xfrm>
            <a:off x="4457700" y="6146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Cliffside</a:t>
            </a:r>
          </a:p>
        </p:txBody>
      </p:sp>
      <p:pic>
        <p:nvPicPr>
          <p:cNvPr id="51" name="Image-20" descr="descent.p8.png">
            <a:extLst>
              <a:ext uri="{FF2B5EF4-FFF2-40B4-BE49-F238E27FC236}">
                <a16:creationId xmlns:a16="http://schemas.microsoft.com/office/drawing/2014/main" id="{DFFCF106-275B-892B-100C-1D5FC42DD309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300" y="5029200"/>
            <a:ext cx="812800" cy="1041400"/>
          </a:xfrm>
          <a:prstGeom prst="rect">
            <a:avLst/>
          </a:prstGeom>
        </p:spPr>
      </p:pic>
      <p:sp>
        <p:nvSpPr>
          <p:cNvPr id="52" name="Text-186">
            <a:extLst>
              <a:ext uri="{FF2B5EF4-FFF2-40B4-BE49-F238E27FC236}">
                <a16:creationId xmlns:a16="http://schemas.microsoft.com/office/drawing/2014/main" id="{7631DC57-CF01-41FD-CBFE-8043A85E6E8A}"/>
              </a:ext>
            </a:extLst>
          </p:cNvPr>
          <p:cNvSpPr txBox="1"/>
          <p:nvPr/>
        </p:nvSpPr>
        <p:spPr>
          <a:xfrm>
            <a:off x="6362700" y="6146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Descent</a:t>
            </a:r>
          </a:p>
        </p:txBody>
      </p:sp>
      <p:pic>
        <p:nvPicPr>
          <p:cNvPr id="54" name="Image-21" descr="urfish.p8.png">
            <a:extLst>
              <a:ext uri="{FF2B5EF4-FFF2-40B4-BE49-F238E27FC236}">
                <a16:creationId xmlns:a16="http://schemas.microsoft.com/office/drawing/2014/main" id="{1D4117BD-EF96-5125-DB28-22FF9DF0B710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300" y="5029200"/>
            <a:ext cx="812800" cy="1041400"/>
          </a:xfrm>
          <a:prstGeom prst="rect">
            <a:avLst/>
          </a:prstGeom>
        </p:spPr>
      </p:pic>
      <p:sp>
        <p:nvSpPr>
          <p:cNvPr id="55" name="Text-187">
            <a:extLst>
              <a:ext uri="{FF2B5EF4-FFF2-40B4-BE49-F238E27FC236}">
                <a16:creationId xmlns:a16="http://schemas.microsoft.com/office/drawing/2014/main" id="{E44923A1-29CD-358C-5461-212B57DCAE30}"/>
              </a:ext>
            </a:extLst>
          </p:cNvPr>
          <p:cNvSpPr txBox="1"/>
          <p:nvPr/>
        </p:nvSpPr>
        <p:spPr>
          <a:xfrm>
            <a:off x="8267700" y="61467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urfish</a:t>
            </a:r>
          </a:p>
        </p:txBody>
      </p:sp>
      <p:sp>
        <p:nvSpPr>
          <p:cNvPr id="56" name="Text-188">
            <a:hlinkClick r:id="rId18"/>
            <a:extLst>
              <a:ext uri="{FF2B5EF4-FFF2-40B4-BE49-F238E27FC236}">
                <a16:creationId xmlns:a16="http://schemas.microsoft.com/office/drawing/2014/main" id="{4A9EDE77-24AF-7AB3-0C90-C2C18573AC47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8"/>
              </a:rPr>
              <a:t>完整作品展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8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8"/>
              </a:rPr>
              <a:t>zhoushangli.github.io/teaching/pico8-game-jam/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3392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2B387"/>
      </a:hlink>
      <a:folHlink>
        <a:srgbClr val="D2B38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2572</Words>
  <Application>Microsoft Office PowerPoint</Application>
  <PresentationFormat>自定义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微软雅黑</vt:lpstr>
      <vt:lpstr>宋体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Shangli</dc:creator>
  <cp:lastModifiedBy>Zhou, Shangli</cp:lastModifiedBy>
  <cp:revision>1</cp:revision>
  <dcterms:created xsi:type="dcterms:W3CDTF">2026-10-28T00:26:30Z</dcterms:created>
  <dcterms:modified xsi:type="dcterms:W3CDTF">2026-10-28T00:26:30Z</dcterms:modified>
</cp:coreProperties>
</file>